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2" r:id="rId29"/>
    <p:sldId id="284" r:id="rId30"/>
    <p:sldId id="285" r:id="rId31"/>
    <p:sldId id="286" r:id="rId32"/>
    <p:sldId id="287" r:id="rId33"/>
    <p:sldId id="288" r:id="rId34"/>
    <p:sldId id="289" r:id="rId35"/>
    <p:sldId id="290" r:id="rId36"/>
    <p:sldId id="291" r:id="rId37"/>
    <p:sldId id="292" r:id="rId38"/>
    <p:sldId id="293" r:id="rId39"/>
    <p:sldId id="295" r:id="rId40"/>
    <p:sldId id="294"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el Agboike" initials="J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5-09T01:13:01.736" idx="1">
    <p:pos x="10" y="10"/>
    <p:text>To understand it more</p:text>
  </p:cm>
</p:cmLst>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t>7/9/2026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t>7/9/2026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t>7/9/2026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t>7/9/2026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7/9/2026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t>7/9/2026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97304" y="1797978"/>
            <a:ext cx="7702193" cy="482885"/>
          </a:xfrm>
        </p:spPr>
        <p:txBody>
          <a:bodyPr/>
          <a:lstStyle/>
          <a:p>
            <a:r>
              <a:rPr lang="en-US" sz="4000" dirty="0"/>
              <a:t>1.Create a network diagram showing:</a:t>
            </a:r>
          </a:p>
        </p:txBody>
      </p:sp>
      <p:sp>
        <p:nvSpPr>
          <p:cNvPr id="3" name="Subtitle 2"/>
          <p:cNvSpPr>
            <a:spLocks noGrp="1"/>
          </p:cNvSpPr>
          <p:nvPr>
            <p:ph type="subTitle" idx="1"/>
          </p:nvPr>
        </p:nvSpPr>
        <p:spPr>
          <a:xfrm>
            <a:off x="2167847" y="2630184"/>
            <a:ext cx="7702193" cy="2856217"/>
          </a:xfrm>
        </p:spPr>
        <p:txBody>
          <a:bodyPr>
            <a:noAutofit/>
          </a:bodyPr>
          <a:lstStyle/>
          <a:p>
            <a:r>
              <a:rPr lang="en-US" sz="2000" dirty="0"/>
              <a:t>Router</a:t>
            </a:r>
          </a:p>
          <a:p>
            <a:r>
              <a:rPr lang="en-US" sz="2000" dirty="0"/>
              <a:t>Switch</a:t>
            </a:r>
          </a:p>
          <a:p>
            <a:r>
              <a:rPr lang="en-US" sz="2000" dirty="0"/>
              <a:t>Firewall</a:t>
            </a:r>
          </a:p>
          <a:p>
            <a:r>
              <a:rPr lang="en-US" sz="2000" dirty="0"/>
              <a:t>At least 3 client devices</a:t>
            </a:r>
          </a:p>
          <a:p>
            <a:r>
              <a:rPr lang="en-US" sz="2000" dirty="0"/>
              <a:t>Internet connection</a:t>
            </a:r>
          </a:p>
          <a:p>
            <a:r>
              <a:rPr lang="en-US" sz="2000" dirty="0"/>
              <a:t>Wireless access point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774749"/>
            <a:ext cx="9601196" cy="1303867"/>
          </a:xfrm>
        </p:spPr>
        <p:txBody>
          <a:bodyPr/>
          <a:lstStyle/>
          <a:p>
            <a:r>
              <a:rPr lang="en-US" dirty="0"/>
              <a:t>Diagram</a:t>
            </a:r>
          </a:p>
        </p:txBody>
      </p:sp>
      <p:sp>
        <p:nvSpPr>
          <p:cNvPr id="3" name="Content Placeholder 2"/>
          <p:cNvSpPr>
            <a:spLocks noGrp="1"/>
          </p:cNvSpPr>
          <p:nvPr>
            <p:ph idx="1"/>
          </p:nvPr>
        </p:nvSpPr>
        <p:spPr>
          <a:xfrm>
            <a:off x="636905" y="904240"/>
            <a:ext cx="11054715" cy="5352415"/>
          </a:xfrm>
        </p:spPr>
        <p:txBody>
          <a:bodyPr>
            <a:normAutofit/>
          </a:bodyPr>
          <a:lstStyle/>
          <a:p>
            <a:r>
              <a:rPr lang="en-US" sz="1800" dirty="0"/>
              <a:t> ☁️ INTERNET</a:t>
            </a:r>
          </a:p>
          <a:p>
            <a:r>
              <a:rPr lang="en-US" sz="1800" dirty="0"/>
              <a:t>                           |</a:t>
            </a:r>
          </a:p>
          <a:p>
            <a:r>
              <a:rPr lang="en-US" sz="1800" dirty="0"/>
              <a:t>                     🔥 FIREWALL</a:t>
            </a:r>
          </a:p>
          <a:p>
            <a:r>
              <a:rPr lang="en-US" sz="1800" dirty="0"/>
              <a:t>                           |</a:t>
            </a:r>
          </a:p>
          <a:p>
            <a:r>
              <a:rPr lang="en-US" sz="1800" dirty="0"/>
              <a:t>                     📡 ROUTER</a:t>
            </a:r>
          </a:p>
          <a:p>
            <a:r>
              <a:rPr lang="en-US" sz="1800" dirty="0"/>
              <a:t>                       /                   \</a:t>
            </a:r>
          </a:p>
          <a:p>
            <a:r>
              <a:rPr lang="en-US" sz="1800" dirty="0"/>
              <a:t>                    /                        \</a:t>
            </a:r>
          </a:p>
          <a:p>
            <a:r>
              <a:rPr lang="en-US" sz="1800" dirty="0"/>
              <a:t>             🔌 SWITCH      📶 ACCESS POINT</a:t>
            </a:r>
          </a:p>
          <a:p>
            <a:r>
              <a:rPr lang="en-US" sz="1800" dirty="0"/>
              <a:t>              /   |   \                          |</a:t>
            </a:r>
          </a:p>
          <a:p>
            <a:r>
              <a:rPr lang="en-US" sz="1800" dirty="0"/>
              <a:t>             /    |    \                         |</a:t>
            </a:r>
          </a:p>
          <a:p>
            <a:r>
              <a:rPr lang="en-US" sz="1800" dirty="0"/>
              <a:t>     💻 PC  🖨️ Printer    💻 Laptop   📱 Phone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2010" y="1428107"/>
            <a:ext cx="10176416" cy="4628735"/>
          </a:xfrm>
        </p:spPr>
        <p:txBody>
          <a:bodyPr/>
          <a:lstStyle/>
          <a:p>
            <a:pPr marL="0" indent="0">
              <a:buNone/>
            </a:pPr>
            <a:r>
              <a:rPr lang="en-US" b="1" dirty="0"/>
              <a:t>               Quick U</a:t>
            </a:r>
            <a:r>
              <a:rPr lang="en-US" dirty="0"/>
              <a:t>n</a:t>
            </a:r>
            <a:r>
              <a:rPr lang="en-US" b="1" dirty="0"/>
              <a:t>derstanding		</a:t>
            </a:r>
          </a:p>
          <a:p>
            <a:pPr marL="0" indent="0">
              <a:buNone/>
            </a:pPr>
            <a:endParaRPr lang="en-US" b="1" dirty="0"/>
          </a:p>
          <a:p>
            <a:r>
              <a:rPr lang="en-US" dirty="0"/>
              <a:t>☁</a:t>
            </a:r>
            <a:r>
              <a:rPr lang="en-US" b="1" dirty="0"/>
              <a:t>Internet</a:t>
            </a:r>
            <a:r>
              <a:rPr lang="en-US" dirty="0"/>
              <a:t> → The outside world </a:t>
            </a:r>
          </a:p>
          <a:p>
            <a:r>
              <a:rPr lang="en-US" dirty="0"/>
              <a:t>🔥 </a:t>
            </a:r>
            <a:r>
              <a:rPr lang="en-US" b="1" dirty="0"/>
              <a:t>Firewall</a:t>
            </a:r>
            <a:r>
              <a:rPr lang="en-US" dirty="0"/>
              <a:t> → Security guard protecting the network </a:t>
            </a:r>
          </a:p>
          <a:p>
            <a:r>
              <a:rPr lang="en-US" dirty="0"/>
              <a:t>📡 </a:t>
            </a:r>
            <a:r>
              <a:rPr lang="en-US" b="1" dirty="0"/>
              <a:t>Router</a:t>
            </a:r>
            <a:r>
              <a:rPr lang="en-US" dirty="0"/>
              <a:t> → Directs internet traffic </a:t>
            </a:r>
          </a:p>
          <a:p>
            <a:r>
              <a:rPr lang="en-US" dirty="0"/>
              <a:t>🔌 </a:t>
            </a:r>
            <a:r>
              <a:rPr lang="en-US" b="1" dirty="0"/>
              <a:t>Switch</a:t>
            </a:r>
            <a:r>
              <a:rPr lang="en-US" dirty="0"/>
              <a:t> → Connects wired devices </a:t>
            </a:r>
          </a:p>
          <a:p>
            <a:r>
              <a:rPr lang="en-US" dirty="0"/>
              <a:t>📶 </a:t>
            </a:r>
            <a:r>
              <a:rPr lang="en-US" b="1" dirty="0"/>
              <a:t>Access Point</a:t>
            </a:r>
            <a:r>
              <a:rPr lang="en-US" dirty="0"/>
              <a:t> → Provides Wi-Fi </a:t>
            </a:r>
          </a:p>
          <a:p>
            <a:r>
              <a:rPr lang="en-US" dirty="0"/>
              <a:t>💻📱🖨️ </a:t>
            </a:r>
            <a:r>
              <a:rPr lang="en-US" b="1" dirty="0"/>
              <a:t>Clients</a:t>
            </a:r>
            <a:r>
              <a:rPr lang="en-US" dirty="0"/>
              <a:t> → Devices people use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272" y="1582220"/>
            <a:ext cx="10900881" cy="4293648"/>
          </a:xfrm>
        </p:spPr>
        <p:txBody>
          <a:bodyPr>
            <a:normAutofit lnSpcReduction="10000"/>
          </a:bodyPr>
          <a:lstStyle/>
          <a:p>
            <a:r>
              <a:rPr lang="en-US" dirty="0"/>
              <a:t>📱 Phone</a:t>
            </a:r>
          </a:p>
          <a:p>
            <a:r>
              <a:rPr lang="en-US" dirty="0"/>
              <a:t>   ↓</a:t>
            </a:r>
          </a:p>
          <a:p>
            <a:r>
              <a:rPr lang="en-US" dirty="0"/>
              <a:t>📶 Access Point (Wi-Fi)</a:t>
            </a:r>
          </a:p>
          <a:p>
            <a:r>
              <a:rPr lang="en-US" dirty="0"/>
              <a:t>   ↓</a:t>
            </a:r>
          </a:p>
          <a:p>
            <a:r>
              <a:rPr lang="en-US" dirty="0"/>
              <a:t>📡 Router</a:t>
            </a:r>
          </a:p>
          <a:p>
            <a:r>
              <a:rPr lang="en-US" dirty="0"/>
              <a:t>   ↓</a:t>
            </a:r>
          </a:p>
          <a:p>
            <a:r>
              <a:rPr lang="en-US" dirty="0"/>
              <a:t>🔥 Firewall</a:t>
            </a:r>
          </a:p>
          <a:p>
            <a:r>
              <a:rPr lang="en-US" dirty="0"/>
              <a:t>   ↓</a:t>
            </a:r>
          </a:p>
          <a:p>
            <a:r>
              <a:rPr lang="en-US" dirty="0"/>
              <a:t>☁️ Internet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2.Match the following technologies to their correct OSI layer:</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endParaRPr lang="en-US" dirty="0"/>
          </a:p>
          <a:p>
            <a:r>
              <a:rPr lang="en-US" dirty="0"/>
              <a:t>HTTP</a:t>
            </a:r>
          </a:p>
          <a:p>
            <a:r>
              <a:rPr lang="en-US" dirty="0"/>
              <a:t>HTTPS</a:t>
            </a:r>
          </a:p>
          <a:p>
            <a:r>
              <a:rPr lang="en-US" dirty="0"/>
              <a:t>TCP</a:t>
            </a:r>
          </a:p>
          <a:p>
            <a:r>
              <a:rPr lang="en-US" dirty="0"/>
              <a:t>UDP</a:t>
            </a:r>
          </a:p>
          <a:p>
            <a:r>
              <a:rPr lang="en-US" dirty="0"/>
              <a:t>IP</a:t>
            </a:r>
          </a:p>
          <a:p>
            <a:r>
              <a:rPr lang="en-US" dirty="0"/>
              <a:t>ARP</a:t>
            </a:r>
          </a:p>
          <a:p>
            <a:r>
              <a:rPr lang="en-US" dirty="0"/>
              <a:t>DNS</a:t>
            </a:r>
          </a:p>
          <a:p>
            <a:r>
              <a:rPr lang="en-US" dirty="0"/>
              <a:t>SMTP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47272" y="904125"/>
          <a:ext cx="10313622" cy="5219274"/>
        </p:xfrm>
        <a:graphic>
          <a:graphicData uri="http://schemas.openxmlformats.org/drawingml/2006/table">
            <a:tbl>
              <a:tblPr/>
              <a:tblGrid>
                <a:gridCol w="3437874">
                  <a:extLst>
                    <a:ext uri="{9D8B030D-6E8A-4147-A177-3AD203B41FA5}">
                      <a16:colId xmlns:a16="http://schemas.microsoft.com/office/drawing/2014/main" val="20000"/>
                    </a:ext>
                  </a:extLst>
                </a:gridCol>
                <a:gridCol w="3437874">
                  <a:extLst>
                    <a:ext uri="{9D8B030D-6E8A-4147-A177-3AD203B41FA5}">
                      <a16:colId xmlns:a16="http://schemas.microsoft.com/office/drawing/2014/main" val="20001"/>
                    </a:ext>
                  </a:extLst>
                </a:gridCol>
                <a:gridCol w="3437874">
                  <a:extLst>
                    <a:ext uri="{9D8B030D-6E8A-4147-A177-3AD203B41FA5}">
                      <a16:colId xmlns:a16="http://schemas.microsoft.com/office/drawing/2014/main" val="20002"/>
                    </a:ext>
                  </a:extLst>
                </a:gridCol>
              </a:tblGrid>
              <a:tr h="497074">
                <a:tc>
                  <a:txBody>
                    <a:bodyPr/>
                    <a:lstStyle/>
                    <a:p>
                      <a:pPr>
                        <a:buNone/>
                      </a:pPr>
                      <a:r>
                        <a:rPr lang="en-US"/>
                        <a:t>Technology</a:t>
                      </a:r>
                    </a:p>
                  </a:txBody>
                  <a:tcPr anchor="ctr">
                    <a:lnL>
                      <a:noFill/>
                    </a:lnL>
                    <a:lnR>
                      <a:noFill/>
                    </a:lnR>
                    <a:lnT>
                      <a:noFill/>
                    </a:lnT>
                    <a:lnB>
                      <a:noFill/>
                    </a:lnB>
                    <a:noFill/>
                  </a:tcPr>
                </a:tc>
                <a:tc>
                  <a:txBody>
                    <a:bodyPr/>
                    <a:lstStyle/>
                    <a:p>
                      <a:pPr>
                        <a:buNone/>
                      </a:pPr>
                      <a:r>
                        <a:rPr lang="en-US"/>
                        <a:t>OSI Layer</a:t>
                      </a:r>
                    </a:p>
                  </a:txBody>
                  <a:tcPr anchor="ctr">
                    <a:lnL>
                      <a:noFill/>
                    </a:lnL>
                    <a:lnR>
                      <a:noFill/>
                    </a:lnR>
                    <a:lnT>
                      <a:noFill/>
                    </a:lnT>
                    <a:lnB>
                      <a:noFill/>
                    </a:lnB>
                    <a:noFill/>
                  </a:tcPr>
                </a:tc>
                <a:tc>
                  <a:txBody>
                    <a:bodyPr/>
                    <a:lstStyle/>
                    <a:p>
                      <a:pPr>
                        <a:buNone/>
                      </a:pPr>
                      <a:r>
                        <a:rPr lang="en-US"/>
                        <a:t>Function</a:t>
                      </a:r>
                    </a:p>
                  </a:txBody>
                  <a:tcPr anchor="ctr">
                    <a:lnL>
                      <a:noFill/>
                    </a:lnL>
                    <a:lnR>
                      <a:noFill/>
                    </a:lnR>
                    <a:lnT>
                      <a:noFill/>
                    </a:lnT>
                    <a:lnB>
                      <a:noFill/>
                    </a:lnB>
                    <a:noFill/>
                  </a:tcPr>
                </a:tc>
                <a:extLst>
                  <a:ext uri="{0D108BD9-81ED-4DB2-BD59-A6C34878D82A}">
                    <a16:rowId xmlns:a16="http://schemas.microsoft.com/office/drawing/2014/main" val="10000"/>
                  </a:ext>
                </a:extLst>
              </a:tr>
              <a:tr h="497074">
                <a:tc>
                  <a:txBody>
                    <a:bodyPr/>
                    <a:lstStyle/>
                    <a:p>
                      <a:pPr>
                        <a:buNone/>
                      </a:pPr>
                      <a:r>
                        <a:rPr lang="en-US"/>
                        <a:t>HTTP</a:t>
                      </a:r>
                    </a:p>
                  </a:txBody>
                  <a:tcPr anchor="ctr">
                    <a:lnL>
                      <a:noFill/>
                    </a:lnL>
                    <a:lnR>
                      <a:noFill/>
                    </a:lnR>
                    <a:lnT>
                      <a:noFill/>
                    </a:lnT>
                    <a:lnB>
                      <a:noFill/>
                    </a:lnB>
                    <a:noFill/>
                  </a:tcPr>
                </a:tc>
                <a:tc>
                  <a:txBody>
                    <a:bodyPr/>
                    <a:lstStyle/>
                    <a:p>
                      <a:pPr>
                        <a:buNone/>
                      </a:pPr>
                      <a:r>
                        <a:rPr lang="en-US"/>
                        <a:t>Application Layer (Layer 7)</a:t>
                      </a:r>
                    </a:p>
                  </a:txBody>
                  <a:tcPr anchor="ctr">
                    <a:lnL>
                      <a:noFill/>
                    </a:lnL>
                    <a:lnR>
                      <a:noFill/>
                    </a:lnR>
                    <a:lnT>
                      <a:noFill/>
                    </a:lnT>
                    <a:lnB>
                      <a:noFill/>
                    </a:lnB>
                    <a:noFill/>
                  </a:tcPr>
                </a:tc>
                <a:tc>
                  <a:txBody>
                    <a:bodyPr/>
                    <a:lstStyle/>
                    <a:p>
                      <a:pPr>
                        <a:buNone/>
                      </a:pPr>
                      <a:r>
                        <a:rPr lang="en-US"/>
                        <a:t>Used for web browsing</a:t>
                      </a:r>
                    </a:p>
                  </a:txBody>
                  <a:tcPr anchor="ctr">
                    <a:lnL>
                      <a:noFill/>
                    </a:lnL>
                    <a:lnR>
                      <a:noFill/>
                    </a:lnR>
                    <a:lnT>
                      <a:noFill/>
                    </a:lnT>
                    <a:lnB>
                      <a:noFill/>
                    </a:lnB>
                    <a:noFill/>
                  </a:tcPr>
                </a:tc>
                <a:extLst>
                  <a:ext uri="{0D108BD9-81ED-4DB2-BD59-A6C34878D82A}">
                    <a16:rowId xmlns:a16="http://schemas.microsoft.com/office/drawing/2014/main" val="10001"/>
                  </a:ext>
                </a:extLst>
              </a:tr>
              <a:tr h="497074">
                <a:tc>
                  <a:txBody>
                    <a:bodyPr/>
                    <a:lstStyle/>
                    <a:p>
                      <a:pPr>
                        <a:buNone/>
                      </a:pPr>
                      <a:r>
                        <a:rPr lang="en-US" dirty="0"/>
                        <a:t>HTTPS</a:t>
                      </a:r>
                    </a:p>
                  </a:txBody>
                  <a:tcPr anchor="ctr">
                    <a:lnL>
                      <a:noFill/>
                    </a:lnL>
                    <a:lnR>
                      <a:noFill/>
                    </a:lnR>
                    <a:lnT>
                      <a:noFill/>
                    </a:lnT>
                    <a:lnB>
                      <a:noFill/>
                    </a:lnB>
                    <a:noFill/>
                  </a:tcPr>
                </a:tc>
                <a:tc>
                  <a:txBody>
                    <a:bodyPr/>
                    <a:lstStyle/>
                    <a:p>
                      <a:pPr>
                        <a:buNone/>
                      </a:pPr>
                      <a:r>
                        <a:rPr lang="en-US"/>
                        <a:t>Application Layer (Layer 7)</a:t>
                      </a:r>
                    </a:p>
                  </a:txBody>
                  <a:tcPr anchor="ctr">
                    <a:lnL>
                      <a:noFill/>
                    </a:lnL>
                    <a:lnR>
                      <a:noFill/>
                    </a:lnR>
                    <a:lnT>
                      <a:noFill/>
                    </a:lnT>
                    <a:lnB>
                      <a:noFill/>
                    </a:lnB>
                    <a:noFill/>
                  </a:tcPr>
                </a:tc>
                <a:tc>
                  <a:txBody>
                    <a:bodyPr/>
                    <a:lstStyle/>
                    <a:p>
                      <a:pPr>
                        <a:buNone/>
                      </a:pPr>
                      <a:r>
                        <a:rPr lang="en-US"/>
                        <a:t>Secure web browsing</a:t>
                      </a:r>
                    </a:p>
                  </a:txBody>
                  <a:tcPr anchor="ctr">
                    <a:lnL>
                      <a:noFill/>
                    </a:lnL>
                    <a:lnR>
                      <a:noFill/>
                    </a:lnR>
                    <a:lnT>
                      <a:noFill/>
                    </a:lnT>
                    <a:lnB>
                      <a:noFill/>
                    </a:lnB>
                    <a:noFill/>
                  </a:tcPr>
                </a:tc>
                <a:extLst>
                  <a:ext uri="{0D108BD9-81ED-4DB2-BD59-A6C34878D82A}">
                    <a16:rowId xmlns:a16="http://schemas.microsoft.com/office/drawing/2014/main" val="10002"/>
                  </a:ext>
                </a:extLst>
              </a:tr>
              <a:tr h="497074">
                <a:tc>
                  <a:txBody>
                    <a:bodyPr/>
                    <a:lstStyle/>
                    <a:p>
                      <a:pPr>
                        <a:buNone/>
                      </a:pPr>
                      <a:r>
                        <a:rPr lang="en-US"/>
                        <a:t>TCP</a:t>
                      </a:r>
                    </a:p>
                  </a:txBody>
                  <a:tcPr anchor="ctr">
                    <a:lnL>
                      <a:noFill/>
                    </a:lnL>
                    <a:lnR>
                      <a:noFill/>
                    </a:lnR>
                    <a:lnT>
                      <a:noFill/>
                    </a:lnT>
                    <a:lnB>
                      <a:noFill/>
                    </a:lnB>
                    <a:noFill/>
                  </a:tcPr>
                </a:tc>
                <a:tc>
                  <a:txBody>
                    <a:bodyPr/>
                    <a:lstStyle/>
                    <a:p>
                      <a:pPr>
                        <a:buNone/>
                      </a:pPr>
                      <a:r>
                        <a:rPr lang="en-US"/>
                        <a:t>Transport Layer (Layer 4)</a:t>
                      </a:r>
                    </a:p>
                  </a:txBody>
                  <a:tcPr anchor="ctr">
                    <a:lnL>
                      <a:noFill/>
                    </a:lnL>
                    <a:lnR>
                      <a:noFill/>
                    </a:lnR>
                    <a:lnT>
                      <a:noFill/>
                    </a:lnT>
                    <a:lnB>
                      <a:noFill/>
                    </a:lnB>
                    <a:noFill/>
                  </a:tcPr>
                </a:tc>
                <a:tc>
                  <a:txBody>
                    <a:bodyPr/>
                    <a:lstStyle/>
                    <a:p>
                      <a:pPr>
                        <a:buNone/>
                      </a:pPr>
                      <a:r>
                        <a:rPr lang="en-US"/>
                        <a:t>Reliable data delivery</a:t>
                      </a:r>
                    </a:p>
                  </a:txBody>
                  <a:tcPr anchor="ctr">
                    <a:lnL>
                      <a:noFill/>
                    </a:lnL>
                    <a:lnR>
                      <a:noFill/>
                    </a:lnR>
                    <a:lnT>
                      <a:noFill/>
                    </a:lnT>
                    <a:lnB>
                      <a:noFill/>
                    </a:lnB>
                    <a:noFill/>
                  </a:tcPr>
                </a:tc>
                <a:extLst>
                  <a:ext uri="{0D108BD9-81ED-4DB2-BD59-A6C34878D82A}">
                    <a16:rowId xmlns:a16="http://schemas.microsoft.com/office/drawing/2014/main" val="10003"/>
                  </a:ext>
                </a:extLst>
              </a:tr>
              <a:tr h="497074">
                <a:tc>
                  <a:txBody>
                    <a:bodyPr/>
                    <a:lstStyle/>
                    <a:p>
                      <a:pPr>
                        <a:buNone/>
                      </a:pPr>
                      <a:r>
                        <a:rPr lang="en-US"/>
                        <a:t>UDP</a:t>
                      </a:r>
                    </a:p>
                  </a:txBody>
                  <a:tcPr anchor="ctr">
                    <a:lnL>
                      <a:noFill/>
                    </a:lnL>
                    <a:lnR>
                      <a:noFill/>
                    </a:lnR>
                    <a:lnT>
                      <a:noFill/>
                    </a:lnT>
                    <a:lnB>
                      <a:noFill/>
                    </a:lnB>
                    <a:noFill/>
                  </a:tcPr>
                </a:tc>
                <a:tc>
                  <a:txBody>
                    <a:bodyPr/>
                    <a:lstStyle/>
                    <a:p>
                      <a:pPr>
                        <a:buNone/>
                      </a:pPr>
                      <a:r>
                        <a:rPr lang="en-US"/>
                        <a:t>Transport Layer (Layer 4)</a:t>
                      </a:r>
                    </a:p>
                  </a:txBody>
                  <a:tcPr anchor="ctr">
                    <a:lnL>
                      <a:noFill/>
                    </a:lnL>
                    <a:lnR>
                      <a:noFill/>
                    </a:lnR>
                    <a:lnT>
                      <a:noFill/>
                    </a:lnT>
                    <a:lnB>
                      <a:noFill/>
                    </a:lnB>
                    <a:noFill/>
                  </a:tcPr>
                </a:tc>
                <a:tc>
                  <a:txBody>
                    <a:bodyPr/>
                    <a:lstStyle/>
                    <a:p>
                      <a:pPr>
                        <a:buNone/>
                      </a:pPr>
                      <a:r>
                        <a:rPr lang="en-US"/>
                        <a:t>Fast but less reliable delivery</a:t>
                      </a:r>
                    </a:p>
                  </a:txBody>
                  <a:tcPr anchor="ctr">
                    <a:lnL>
                      <a:noFill/>
                    </a:lnL>
                    <a:lnR>
                      <a:noFill/>
                    </a:lnR>
                    <a:lnT>
                      <a:noFill/>
                    </a:lnT>
                    <a:lnB>
                      <a:noFill/>
                    </a:lnB>
                    <a:noFill/>
                  </a:tcPr>
                </a:tc>
                <a:extLst>
                  <a:ext uri="{0D108BD9-81ED-4DB2-BD59-A6C34878D82A}">
                    <a16:rowId xmlns:a16="http://schemas.microsoft.com/office/drawing/2014/main" val="10004"/>
                  </a:ext>
                </a:extLst>
              </a:tr>
              <a:tr h="497074">
                <a:tc>
                  <a:txBody>
                    <a:bodyPr/>
                    <a:lstStyle/>
                    <a:p>
                      <a:pPr>
                        <a:buNone/>
                      </a:pPr>
                      <a:r>
                        <a:rPr lang="en-US"/>
                        <a:t>IP</a:t>
                      </a:r>
                    </a:p>
                  </a:txBody>
                  <a:tcPr anchor="ctr">
                    <a:lnL>
                      <a:noFill/>
                    </a:lnL>
                    <a:lnR>
                      <a:noFill/>
                    </a:lnR>
                    <a:lnT>
                      <a:noFill/>
                    </a:lnT>
                    <a:lnB>
                      <a:noFill/>
                    </a:lnB>
                    <a:noFill/>
                  </a:tcPr>
                </a:tc>
                <a:tc>
                  <a:txBody>
                    <a:bodyPr/>
                    <a:lstStyle/>
                    <a:p>
                      <a:pPr>
                        <a:buNone/>
                      </a:pPr>
                      <a:r>
                        <a:rPr lang="en-US"/>
                        <a:t>Network Layer (Layer 3)</a:t>
                      </a:r>
                    </a:p>
                  </a:txBody>
                  <a:tcPr anchor="ctr">
                    <a:lnL>
                      <a:noFill/>
                    </a:lnL>
                    <a:lnR>
                      <a:noFill/>
                    </a:lnR>
                    <a:lnT>
                      <a:noFill/>
                    </a:lnT>
                    <a:lnB>
                      <a:noFill/>
                    </a:lnB>
                    <a:noFill/>
                  </a:tcPr>
                </a:tc>
                <a:tc>
                  <a:txBody>
                    <a:bodyPr/>
                    <a:lstStyle/>
                    <a:p>
                      <a:pPr>
                        <a:buNone/>
                      </a:pPr>
                      <a:r>
                        <a:rPr lang="en-US"/>
                        <a:t>Handles addressing and routing</a:t>
                      </a:r>
                    </a:p>
                  </a:txBody>
                  <a:tcPr anchor="ctr">
                    <a:lnL>
                      <a:noFill/>
                    </a:lnL>
                    <a:lnR>
                      <a:noFill/>
                    </a:lnR>
                    <a:lnT>
                      <a:noFill/>
                    </a:lnT>
                    <a:lnB>
                      <a:noFill/>
                    </a:lnB>
                    <a:noFill/>
                  </a:tcPr>
                </a:tc>
                <a:extLst>
                  <a:ext uri="{0D108BD9-81ED-4DB2-BD59-A6C34878D82A}">
                    <a16:rowId xmlns:a16="http://schemas.microsoft.com/office/drawing/2014/main" val="10005"/>
                  </a:ext>
                </a:extLst>
              </a:tr>
              <a:tr h="869878">
                <a:tc>
                  <a:txBody>
                    <a:bodyPr/>
                    <a:lstStyle/>
                    <a:p>
                      <a:pPr>
                        <a:buNone/>
                      </a:pPr>
                      <a:r>
                        <a:rPr lang="en-US"/>
                        <a:t>ARP</a:t>
                      </a:r>
                    </a:p>
                  </a:txBody>
                  <a:tcPr anchor="ctr">
                    <a:lnL>
                      <a:noFill/>
                    </a:lnL>
                    <a:lnR>
                      <a:noFill/>
                    </a:lnR>
                    <a:lnT>
                      <a:noFill/>
                    </a:lnT>
                    <a:lnB>
                      <a:noFill/>
                    </a:lnB>
                    <a:noFill/>
                  </a:tcPr>
                </a:tc>
                <a:tc>
                  <a:txBody>
                    <a:bodyPr/>
                    <a:lstStyle/>
                    <a:p>
                      <a:pPr>
                        <a:buNone/>
                      </a:pPr>
                      <a:r>
                        <a:rPr lang="en-US"/>
                        <a:t>Data Link Layer (Layer 2)</a:t>
                      </a:r>
                    </a:p>
                  </a:txBody>
                  <a:tcPr anchor="ctr">
                    <a:lnL>
                      <a:noFill/>
                    </a:lnL>
                    <a:lnR>
                      <a:noFill/>
                    </a:lnR>
                    <a:lnT>
                      <a:noFill/>
                    </a:lnT>
                    <a:lnB>
                      <a:noFill/>
                    </a:lnB>
                    <a:noFill/>
                  </a:tcPr>
                </a:tc>
                <a:tc>
                  <a:txBody>
                    <a:bodyPr/>
                    <a:lstStyle/>
                    <a:p>
                      <a:pPr>
                        <a:buNone/>
                      </a:pPr>
                      <a:r>
                        <a:rPr lang="en-US"/>
                        <a:t>Finds MAC addresses from IP addresses</a:t>
                      </a:r>
                    </a:p>
                  </a:txBody>
                  <a:tcPr anchor="ctr">
                    <a:lnL>
                      <a:noFill/>
                    </a:lnL>
                    <a:lnR>
                      <a:noFill/>
                    </a:lnR>
                    <a:lnT>
                      <a:noFill/>
                    </a:lnT>
                    <a:lnB>
                      <a:noFill/>
                    </a:lnB>
                    <a:noFill/>
                  </a:tcPr>
                </a:tc>
                <a:extLst>
                  <a:ext uri="{0D108BD9-81ED-4DB2-BD59-A6C34878D82A}">
                    <a16:rowId xmlns:a16="http://schemas.microsoft.com/office/drawing/2014/main" val="10006"/>
                  </a:ext>
                </a:extLst>
              </a:tr>
              <a:tr h="869878">
                <a:tc>
                  <a:txBody>
                    <a:bodyPr/>
                    <a:lstStyle/>
                    <a:p>
                      <a:pPr>
                        <a:buNone/>
                      </a:pPr>
                      <a:r>
                        <a:rPr lang="en-US"/>
                        <a:t>DNS</a:t>
                      </a:r>
                    </a:p>
                  </a:txBody>
                  <a:tcPr anchor="ctr">
                    <a:lnL>
                      <a:noFill/>
                    </a:lnL>
                    <a:lnR>
                      <a:noFill/>
                    </a:lnR>
                    <a:lnT>
                      <a:noFill/>
                    </a:lnT>
                    <a:lnB>
                      <a:noFill/>
                    </a:lnB>
                    <a:noFill/>
                  </a:tcPr>
                </a:tc>
                <a:tc>
                  <a:txBody>
                    <a:bodyPr/>
                    <a:lstStyle/>
                    <a:p>
                      <a:pPr>
                        <a:buNone/>
                      </a:pPr>
                      <a:r>
                        <a:rPr lang="en-US"/>
                        <a:t>Application Layer (Layer 7)</a:t>
                      </a:r>
                    </a:p>
                  </a:txBody>
                  <a:tcPr anchor="ctr">
                    <a:lnL>
                      <a:noFill/>
                    </a:lnL>
                    <a:lnR>
                      <a:noFill/>
                    </a:lnR>
                    <a:lnT>
                      <a:noFill/>
                    </a:lnT>
                    <a:lnB>
                      <a:noFill/>
                    </a:lnB>
                    <a:noFill/>
                  </a:tcPr>
                </a:tc>
                <a:tc>
                  <a:txBody>
                    <a:bodyPr/>
                    <a:lstStyle/>
                    <a:p>
                      <a:pPr>
                        <a:buNone/>
                      </a:pPr>
                      <a:r>
                        <a:rPr lang="en-US"/>
                        <a:t>Translates domain names to IP addresses</a:t>
                      </a:r>
                    </a:p>
                  </a:txBody>
                  <a:tcPr anchor="ctr">
                    <a:lnL>
                      <a:noFill/>
                    </a:lnL>
                    <a:lnR>
                      <a:noFill/>
                    </a:lnR>
                    <a:lnT>
                      <a:noFill/>
                    </a:lnT>
                    <a:lnB>
                      <a:noFill/>
                    </a:lnB>
                    <a:noFill/>
                  </a:tcPr>
                </a:tc>
                <a:extLst>
                  <a:ext uri="{0D108BD9-81ED-4DB2-BD59-A6C34878D82A}">
                    <a16:rowId xmlns:a16="http://schemas.microsoft.com/office/drawing/2014/main" val="10007"/>
                  </a:ext>
                </a:extLst>
              </a:tr>
              <a:tr h="497074">
                <a:tc>
                  <a:txBody>
                    <a:bodyPr/>
                    <a:lstStyle/>
                    <a:p>
                      <a:pPr>
                        <a:buNone/>
                      </a:pPr>
                      <a:r>
                        <a:rPr lang="en-US"/>
                        <a:t>SMTP</a:t>
                      </a:r>
                    </a:p>
                  </a:txBody>
                  <a:tcPr anchor="ctr">
                    <a:lnL>
                      <a:noFill/>
                    </a:lnL>
                    <a:lnR>
                      <a:noFill/>
                    </a:lnR>
                    <a:lnT>
                      <a:noFill/>
                    </a:lnT>
                    <a:lnB>
                      <a:noFill/>
                    </a:lnB>
                    <a:noFill/>
                  </a:tcPr>
                </a:tc>
                <a:tc>
                  <a:txBody>
                    <a:bodyPr/>
                    <a:lstStyle/>
                    <a:p>
                      <a:pPr>
                        <a:buNone/>
                      </a:pPr>
                      <a:r>
                        <a:rPr lang="en-US" dirty="0"/>
                        <a:t>Application Layer (Layer 7)</a:t>
                      </a:r>
                    </a:p>
                  </a:txBody>
                  <a:tcPr anchor="ctr">
                    <a:lnL>
                      <a:noFill/>
                    </a:lnL>
                    <a:lnR>
                      <a:noFill/>
                    </a:lnR>
                    <a:lnT>
                      <a:noFill/>
                    </a:lnT>
                    <a:lnB>
                      <a:noFill/>
                    </a:lnB>
                    <a:noFill/>
                  </a:tcPr>
                </a:tc>
                <a:tc>
                  <a:txBody>
                    <a:bodyPr/>
                    <a:lstStyle/>
                    <a:p>
                      <a:pPr>
                        <a:buNone/>
                      </a:pPr>
                      <a:r>
                        <a:rPr lang="en-US" dirty="0"/>
                        <a:t>Sends emails</a:t>
                      </a:r>
                    </a:p>
                  </a:txBody>
                  <a:tcPr anchor="ctr">
                    <a:lnL>
                      <a:noFill/>
                    </a:lnL>
                    <a:lnR>
                      <a:noFill/>
                    </a:lnR>
                    <a:lnT>
                      <a:noFill/>
                    </a:lnT>
                    <a:lnB>
                      <a:no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3"/>
            <a:ext cx="9601197" cy="466524"/>
          </a:xfrm>
        </p:spPr>
        <p:txBody>
          <a:bodyPr>
            <a:normAutofit fontScale="90000"/>
          </a:bodyPr>
          <a:lstStyle/>
          <a:p>
            <a:r>
              <a:rPr lang="en-US" b="1" dirty="0"/>
              <a:t>Simple Way To Understand It</a:t>
            </a:r>
            <a:br>
              <a:rPr lang="en-US" b="1" dirty="0"/>
            </a:br>
            <a:endParaRPr lang="en-US" dirty="0"/>
          </a:p>
        </p:txBody>
      </p:sp>
      <p:sp>
        <p:nvSpPr>
          <p:cNvPr id="3" name="Content Placeholder 2"/>
          <p:cNvSpPr>
            <a:spLocks noGrp="1"/>
          </p:cNvSpPr>
          <p:nvPr>
            <p:ph idx="1"/>
          </p:nvPr>
        </p:nvSpPr>
        <p:spPr>
          <a:xfrm>
            <a:off x="2034283" y="1962364"/>
            <a:ext cx="8862314" cy="3913504"/>
          </a:xfrm>
        </p:spPr>
        <p:txBody>
          <a:bodyPr>
            <a:normAutofit lnSpcReduction="10000"/>
          </a:bodyPr>
          <a:lstStyle/>
          <a:p>
            <a:r>
              <a:rPr lang="en-US" dirty="0"/>
              <a:t>Think of the OSI model like delivering a package in Enugu.</a:t>
            </a:r>
          </a:p>
          <a:p>
            <a:r>
              <a:rPr lang="en-US" b="1" dirty="0"/>
              <a:t>Application Layer</a:t>
            </a:r>
            <a:r>
              <a:rPr lang="en-US" dirty="0"/>
              <a:t> → Where users interact</a:t>
            </a:r>
            <a:br>
              <a:rPr lang="en-US" dirty="0"/>
            </a:br>
            <a:r>
              <a:rPr lang="en-US" dirty="0"/>
              <a:t>(Browser, email, websites) </a:t>
            </a:r>
          </a:p>
          <a:p>
            <a:r>
              <a:rPr lang="en-US" b="1" dirty="0"/>
              <a:t>Transport Layer</a:t>
            </a:r>
            <a:r>
              <a:rPr lang="en-US" dirty="0"/>
              <a:t> → Ensures delivery</a:t>
            </a:r>
            <a:br>
              <a:rPr lang="en-US" dirty="0"/>
            </a:br>
            <a:r>
              <a:rPr lang="en-US" dirty="0"/>
              <a:t>(Like a delivery company checking parcels) </a:t>
            </a:r>
          </a:p>
          <a:p>
            <a:r>
              <a:rPr lang="en-US" b="1" dirty="0"/>
              <a:t>Network Layer</a:t>
            </a:r>
            <a:r>
              <a:rPr lang="en-US" dirty="0"/>
              <a:t> → Finds the destination</a:t>
            </a:r>
            <a:br>
              <a:rPr lang="en-US" dirty="0"/>
            </a:br>
            <a:r>
              <a:rPr lang="en-US" dirty="0"/>
              <a:t>(Road directions and addresses) </a:t>
            </a:r>
          </a:p>
          <a:p>
            <a:r>
              <a:rPr lang="en-US" b="1" dirty="0"/>
              <a:t>Data Link Layer</a:t>
            </a:r>
            <a:r>
              <a:rPr lang="en-US" dirty="0"/>
              <a:t> → Connects devices locally</a:t>
            </a:r>
            <a:br>
              <a:rPr lang="en-US" dirty="0"/>
            </a:br>
            <a:r>
              <a:rPr lang="en-US" dirty="0"/>
              <a:t>(House-to-house connection inside the same street)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174715" y="3900405"/>
            <a:ext cx="772188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HTTP, HTTPS, DNS, SMTP</a:t>
            </a:r>
            <a:r>
              <a:rPr kumimoji="0" lang="en-US" altLang="en-US" sz="1800" b="0" i="0" u="none" strike="noStrike" cap="none" normalizeH="0" baseline="0" dirty="0">
                <a:ln>
                  <a:noFill/>
                </a:ln>
                <a:solidFill>
                  <a:schemeClr val="tx1"/>
                </a:solidFill>
                <a:effectLst/>
                <a:latin typeface="Arial" panose="020B0604020202020204" pitchFamily="34" charset="0"/>
              </a:rPr>
              <a:t> → Users and applications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TCP, UDP</a:t>
            </a:r>
            <a:r>
              <a:rPr kumimoji="0" lang="en-US" altLang="en-US" sz="1800" b="0" i="0" u="none" strike="noStrike" cap="none" normalizeH="0" baseline="0" dirty="0">
                <a:ln>
                  <a:noFill/>
                </a:ln>
                <a:solidFill>
                  <a:schemeClr val="tx1"/>
                </a:solidFill>
                <a:effectLst/>
                <a:latin typeface="Arial" panose="020B0604020202020204" pitchFamily="34" charset="0"/>
              </a:rPr>
              <a:t> → Delivery methods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IP</a:t>
            </a:r>
            <a:r>
              <a:rPr kumimoji="0" lang="en-US" altLang="en-US" sz="1800" b="0" i="0" u="none" strike="noStrike" cap="none" normalizeH="0" baseline="0" dirty="0">
                <a:ln>
                  <a:noFill/>
                </a:ln>
                <a:solidFill>
                  <a:schemeClr val="tx1"/>
                </a:solidFill>
                <a:effectLst/>
                <a:latin typeface="Arial" panose="020B0604020202020204" pitchFamily="34" charset="0"/>
              </a:rPr>
              <a:t> → Addressing and routing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ARP</a:t>
            </a:r>
            <a:r>
              <a:rPr kumimoji="0" lang="en-US" altLang="en-US" sz="1800" b="0" i="0" u="none" strike="noStrike" cap="none" normalizeH="0" baseline="0" dirty="0">
                <a:ln>
                  <a:noFill/>
                </a:ln>
                <a:solidFill>
                  <a:schemeClr val="tx1"/>
                </a:solidFill>
                <a:effectLst/>
                <a:latin typeface="Arial" panose="020B0604020202020204" pitchFamily="34" charset="0"/>
              </a:rPr>
              <a:t> → Finds device hardware address (MAC)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3865" y="982133"/>
            <a:ext cx="9092630" cy="178848"/>
          </a:xfrm>
        </p:spPr>
        <p:txBody>
          <a:bodyPr>
            <a:normAutofit fontScale="90000"/>
          </a:bodyPr>
          <a:lstStyle/>
          <a:p>
            <a:r>
              <a:rPr lang="en-US" dirty="0"/>
              <a:t>3.Create a table containing:</a:t>
            </a:r>
            <a:br>
              <a:rPr lang="en-US" dirty="0"/>
            </a:br>
            <a:endParaRPr lang="en-US" dirty="0"/>
          </a:p>
        </p:txBody>
      </p:sp>
      <p:sp>
        <p:nvSpPr>
          <p:cNvPr id="3" name="Content Placeholder 2"/>
          <p:cNvSpPr>
            <a:spLocks noGrp="1"/>
          </p:cNvSpPr>
          <p:nvPr>
            <p:ph idx="1"/>
          </p:nvPr>
        </p:nvSpPr>
        <p:spPr>
          <a:xfrm>
            <a:off x="1140460" y="1045845"/>
            <a:ext cx="10263505" cy="5057140"/>
          </a:xfrm>
        </p:spPr>
        <p:txBody>
          <a:bodyPr>
            <a:normAutofit fontScale="47500" lnSpcReduction="20000"/>
          </a:bodyPr>
          <a:lstStyle/>
          <a:p>
            <a:endParaRPr lang="en-US" dirty="0"/>
          </a:p>
          <a:p>
            <a:r>
              <a:rPr lang="en-US" dirty="0"/>
              <a:t>Protocol name</a:t>
            </a:r>
          </a:p>
          <a:p>
            <a:r>
              <a:rPr lang="en-US" dirty="0"/>
              <a:t>Purpose</a:t>
            </a:r>
          </a:p>
          <a:p>
            <a:r>
              <a:rPr lang="en-US" dirty="0"/>
              <a:t>TCP/UDP</a:t>
            </a:r>
          </a:p>
          <a:p>
            <a:r>
              <a:rPr lang="en-US" dirty="0"/>
              <a:t>Port number</a:t>
            </a:r>
          </a:p>
          <a:p>
            <a:r>
              <a:rPr lang="en-US" dirty="0"/>
              <a:t>Security purpose</a:t>
            </a:r>
          </a:p>
          <a:p>
            <a:endParaRPr lang="en-US" dirty="0"/>
          </a:p>
          <a:p>
            <a:r>
              <a:rPr lang="en-US" dirty="0"/>
              <a:t>for the various technologies below</a:t>
            </a:r>
          </a:p>
          <a:p>
            <a:endParaRPr lang="en-US" dirty="0"/>
          </a:p>
          <a:p>
            <a:r>
              <a:rPr lang="en-US" dirty="0"/>
              <a:t>HTTP</a:t>
            </a:r>
          </a:p>
          <a:p>
            <a:r>
              <a:rPr lang="en-US" dirty="0"/>
              <a:t>HTTPS</a:t>
            </a:r>
          </a:p>
          <a:p>
            <a:r>
              <a:rPr lang="en-US" dirty="0"/>
              <a:t>DNS</a:t>
            </a:r>
          </a:p>
          <a:p>
            <a:r>
              <a:rPr lang="en-US" dirty="0"/>
              <a:t>DHCP</a:t>
            </a:r>
          </a:p>
          <a:p>
            <a:r>
              <a:rPr lang="en-US" dirty="0"/>
              <a:t>ARP</a:t>
            </a:r>
          </a:p>
          <a:p>
            <a:r>
              <a:rPr lang="en-US" dirty="0"/>
              <a:t>ICMP</a:t>
            </a:r>
          </a:p>
          <a:p>
            <a:r>
              <a:rPr lang="en-US" dirty="0"/>
              <a:t>SSH</a:t>
            </a:r>
          </a:p>
          <a:p>
            <a:r>
              <a:rPr lang="en-US" dirty="0"/>
              <a:t>SMTP</a:t>
            </a:r>
          </a:p>
          <a:p>
            <a:r>
              <a:rPr lang="en-US" dirty="0"/>
              <a:t>IMAP</a:t>
            </a:r>
          </a:p>
          <a:p>
            <a:r>
              <a:rPr lang="en-US" dirty="0"/>
              <a:t>POP3</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73303" y="1160980"/>
          <a:ext cx="10560123" cy="5437002"/>
        </p:xfrm>
        <a:graphic>
          <a:graphicData uri="http://schemas.openxmlformats.org/drawingml/2006/table">
            <a:tbl>
              <a:tblPr/>
              <a:tblGrid>
                <a:gridCol w="1890971">
                  <a:extLst>
                    <a:ext uri="{9D8B030D-6E8A-4147-A177-3AD203B41FA5}">
                      <a16:colId xmlns:a16="http://schemas.microsoft.com/office/drawing/2014/main" val="20000"/>
                    </a:ext>
                  </a:extLst>
                </a:gridCol>
                <a:gridCol w="2167288">
                  <a:extLst>
                    <a:ext uri="{9D8B030D-6E8A-4147-A177-3AD203B41FA5}">
                      <a16:colId xmlns:a16="http://schemas.microsoft.com/office/drawing/2014/main" val="20001"/>
                    </a:ext>
                  </a:extLst>
                </a:gridCol>
                <a:gridCol w="2167288">
                  <a:extLst>
                    <a:ext uri="{9D8B030D-6E8A-4147-A177-3AD203B41FA5}">
                      <a16:colId xmlns:a16="http://schemas.microsoft.com/office/drawing/2014/main" val="20002"/>
                    </a:ext>
                  </a:extLst>
                </a:gridCol>
                <a:gridCol w="2167288">
                  <a:extLst>
                    <a:ext uri="{9D8B030D-6E8A-4147-A177-3AD203B41FA5}">
                      <a16:colId xmlns:a16="http://schemas.microsoft.com/office/drawing/2014/main" val="20003"/>
                    </a:ext>
                  </a:extLst>
                </a:gridCol>
                <a:gridCol w="2167288">
                  <a:extLst>
                    <a:ext uri="{9D8B030D-6E8A-4147-A177-3AD203B41FA5}">
                      <a16:colId xmlns:a16="http://schemas.microsoft.com/office/drawing/2014/main" val="20004"/>
                    </a:ext>
                  </a:extLst>
                </a:gridCol>
              </a:tblGrid>
              <a:tr h="344326">
                <a:tc>
                  <a:txBody>
                    <a:bodyPr/>
                    <a:lstStyle/>
                    <a:p>
                      <a:pPr>
                        <a:buNone/>
                      </a:pPr>
                      <a:r>
                        <a:rPr lang="en-US" dirty="0"/>
                        <a:t>Protocol</a:t>
                      </a:r>
                    </a:p>
                  </a:txBody>
                  <a:tcPr anchor="ctr">
                    <a:lnL>
                      <a:noFill/>
                    </a:lnL>
                    <a:lnR>
                      <a:noFill/>
                    </a:lnR>
                    <a:lnT>
                      <a:noFill/>
                    </a:lnT>
                    <a:lnB>
                      <a:noFill/>
                    </a:lnB>
                    <a:noFill/>
                  </a:tcPr>
                </a:tc>
                <a:tc>
                  <a:txBody>
                    <a:bodyPr/>
                    <a:lstStyle/>
                    <a:p>
                      <a:pPr>
                        <a:buNone/>
                      </a:pPr>
                      <a:r>
                        <a:rPr lang="en-US"/>
                        <a:t>Purpose</a:t>
                      </a:r>
                    </a:p>
                  </a:txBody>
                  <a:tcPr anchor="ctr">
                    <a:lnL>
                      <a:noFill/>
                    </a:lnL>
                    <a:lnR>
                      <a:noFill/>
                    </a:lnR>
                    <a:lnT>
                      <a:noFill/>
                    </a:lnT>
                    <a:lnB>
                      <a:noFill/>
                    </a:lnB>
                    <a:noFill/>
                  </a:tcPr>
                </a:tc>
                <a:tc>
                  <a:txBody>
                    <a:bodyPr/>
                    <a:lstStyle/>
                    <a:p>
                      <a:pPr>
                        <a:buNone/>
                      </a:pPr>
                      <a:r>
                        <a:rPr lang="en-US"/>
                        <a:t>TCP/UDP</a:t>
                      </a:r>
                    </a:p>
                  </a:txBody>
                  <a:tcPr anchor="ctr">
                    <a:lnL>
                      <a:noFill/>
                    </a:lnL>
                    <a:lnR>
                      <a:noFill/>
                    </a:lnR>
                    <a:lnT>
                      <a:noFill/>
                    </a:lnT>
                    <a:lnB>
                      <a:noFill/>
                    </a:lnB>
                    <a:noFill/>
                  </a:tcPr>
                </a:tc>
                <a:tc>
                  <a:txBody>
                    <a:bodyPr/>
                    <a:lstStyle/>
                    <a:p>
                      <a:pPr>
                        <a:buNone/>
                      </a:pPr>
                      <a:r>
                        <a:rPr lang="en-US"/>
                        <a:t>Port</a:t>
                      </a:r>
                    </a:p>
                  </a:txBody>
                  <a:tcPr anchor="ctr">
                    <a:lnL>
                      <a:noFill/>
                    </a:lnL>
                    <a:lnR>
                      <a:noFill/>
                    </a:lnR>
                    <a:lnT>
                      <a:noFill/>
                    </a:lnT>
                    <a:lnB>
                      <a:noFill/>
                    </a:lnB>
                    <a:noFill/>
                  </a:tcPr>
                </a:tc>
                <a:tc>
                  <a:txBody>
                    <a:bodyPr/>
                    <a:lstStyle/>
                    <a:p>
                      <a:pPr>
                        <a:buNone/>
                      </a:pPr>
                      <a:r>
                        <a:rPr lang="en-US"/>
                        <a:t>Security Purpose</a:t>
                      </a:r>
                    </a:p>
                  </a:txBody>
                  <a:tcPr anchor="ctr">
                    <a:lnL>
                      <a:noFill/>
                    </a:lnL>
                    <a:lnR>
                      <a:noFill/>
                    </a:lnR>
                    <a:lnT>
                      <a:noFill/>
                    </a:lnT>
                    <a:lnB>
                      <a:noFill/>
                    </a:lnB>
                    <a:noFill/>
                  </a:tcPr>
                </a:tc>
                <a:extLst>
                  <a:ext uri="{0D108BD9-81ED-4DB2-BD59-A6C34878D82A}">
                    <a16:rowId xmlns:a16="http://schemas.microsoft.com/office/drawing/2014/main" val="10000"/>
                  </a:ext>
                </a:extLst>
              </a:tr>
              <a:tr h="466229">
                <a:tc>
                  <a:txBody>
                    <a:bodyPr/>
                    <a:lstStyle/>
                    <a:p>
                      <a:pPr>
                        <a:buNone/>
                      </a:pPr>
                      <a:r>
                        <a:rPr lang="en-US"/>
                        <a:t>HTTP</a:t>
                      </a:r>
                    </a:p>
                  </a:txBody>
                  <a:tcPr anchor="ctr">
                    <a:lnL>
                      <a:noFill/>
                    </a:lnL>
                    <a:lnR>
                      <a:noFill/>
                    </a:lnR>
                    <a:lnT>
                      <a:noFill/>
                    </a:lnT>
                    <a:lnB>
                      <a:noFill/>
                    </a:lnB>
                    <a:noFill/>
                  </a:tcPr>
                </a:tc>
                <a:tc>
                  <a:txBody>
                    <a:bodyPr/>
                    <a:lstStyle/>
                    <a:p>
                      <a:pPr>
                        <a:buNone/>
                      </a:pPr>
                      <a:r>
                        <a:rPr lang="en-US"/>
                        <a:t>Web browsing</a:t>
                      </a:r>
                    </a:p>
                  </a:txBody>
                  <a:tcPr anchor="ctr">
                    <a:lnL>
                      <a:noFill/>
                    </a:lnL>
                    <a:lnR>
                      <a:noFill/>
                    </a:lnR>
                    <a:lnT>
                      <a:noFill/>
                    </a:lnT>
                    <a:lnB>
                      <a:noFill/>
                    </a:lnB>
                    <a:noFill/>
                  </a:tcPr>
                </a:tc>
                <a:tc>
                  <a:txBody>
                    <a:bodyPr/>
                    <a:lstStyle/>
                    <a:p>
                      <a:pPr>
                        <a:buNone/>
                      </a:pPr>
                      <a:r>
                        <a:rPr lang="en-US"/>
                        <a:t>TCP</a:t>
                      </a:r>
                    </a:p>
                  </a:txBody>
                  <a:tcPr anchor="ctr">
                    <a:lnL>
                      <a:noFill/>
                    </a:lnL>
                    <a:lnR>
                      <a:noFill/>
                    </a:lnR>
                    <a:lnT>
                      <a:noFill/>
                    </a:lnT>
                    <a:lnB>
                      <a:noFill/>
                    </a:lnB>
                    <a:noFill/>
                  </a:tcPr>
                </a:tc>
                <a:tc>
                  <a:txBody>
                    <a:bodyPr/>
                    <a:lstStyle/>
                    <a:p>
                      <a:pPr>
                        <a:buNone/>
                      </a:pPr>
                      <a:r>
                        <a:rPr lang="en-US"/>
                        <a:t>80</a:t>
                      </a:r>
                    </a:p>
                  </a:txBody>
                  <a:tcPr anchor="ctr">
                    <a:lnL>
                      <a:noFill/>
                    </a:lnL>
                    <a:lnR>
                      <a:noFill/>
                    </a:lnR>
                    <a:lnT>
                      <a:noFill/>
                    </a:lnT>
                    <a:lnB>
                      <a:noFill/>
                    </a:lnB>
                    <a:noFill/>
                  </a:tcPr>
                </a:tc>
                <a:tc>
                  <a:txBody>
                    <a:bodyPr/>
                    <a:lstStyle/>
                    <a:p>
                      <a:pPr>
                        <a:buNone/>
                      </a:pPr>
                      <a:r>
                        <a:rPr lang="en-US"/>
                        <a:t>Basic communication</a:t>
                      </a:r>
                    </a:p>
                  </a:txBody>
                  <a:tcPr anchor="ctr">
                    <a:lnL>
                      <a:noFill/>
                    </a:lnL>
                    <a:lnR>
                      <a:noFill/>
                    </a:lnR>
                    <a:lnT>
                      <a:noFill/>
                    </a:lnT>
                    <a:lnB>
                      <a:noFill/>
                    </a:lnB>
                    <a:noFill/>
                  </a:tcPr>
                </a:tc>
                <a:extLst>
                  <a:ext uri="{0D108BD9-81ED-4DB2-BD59-A6C34878D82A}">
                    <a16:rowId xmlns:a16="http://schemas.microsoft.com/office/drawing/2014/main" val="10001"/>
                  </a:ext>
                </a:extLst>
              </a:tr>
              <a:tr h="344326">
                <a:tc>
                  <a:txBody>
                    <a:bodyPr/>
                    <a:lstStyle/>
                    <a:p>
                      <a:pPr>
                        <a:buNone/>
                      </a:pPr>
                      <a:r>
                        <a:rPr lang="en-US"/>
                        <a:t>HTTPS</a:t>
                      </a:r>
                    </a:p>
                  </a:txBody>
                  <a:tcPr anchor="ctr">
                    <a:lnL>
                      <a:noFill/>
                    </a:lnL>
                    <a:lnR>
                      <a:noFill/>
                    </a:lnR>
                    <a:lnT>
                      <a:noFill/>
                    </a:lnT>
                    <a:lnB>
                      <a:noFill/>
                    </a:lnB>
                    <a:noFill/>
                  </a:tcPr>
                </a:tc>
                <a:tc>
                  <a:txBody>
                    <a:bodyPr/>
                    <a:lstStyle/>
                    <a:p>
                      <a:pPr>
                        <a:buNone/>
                      </a:pPr>
                      <a:r>
                        <a:rPr lang="en-US"/>
                        <a:t>Secure web browsing</a:t>
                      </a:r>
                    </a:p>
                  </a:txBody>
                  <a:tcPr anchor="ctr">
                    <a:lnL>
                      <a:noFill/>
                    </a:lnL>
                    <a:lnR>
                      <a:noFill/>
                    </a:lnR>
                    <a:lnT>
                      <a:noFill/>
                    </a:lnT>
                    <a:lnB>
                      <a:noFill/>
                    </a:lnB>
                    <a:noFill/>
                  </a:tcPr>
                </a:tc>
                <a:tc>
                  <a:txBody>
                    <a:bodyPr/>
                    <a:lstStyle/>
                    <a:p>
                      <a:pPr>
                        <a:buNone/>
                      </a:pPr>
                      <a:r>
                        <a:rPr lang="en-US" dirty="0"/>
                        <a:t>TCP</a:t>
                      </a:r>
                    </a:p>
                  </a:txBody>
                  <a:tcPr anchor="ctr">
                    <a:lnL>
                      <a:noFill/>
                    </a:lnL>
                    <a:lnR>
                      <a:noFill/>
                    </a:lnR>
                    <a:lnT>
                      <a:noFill/>
                    </a:lnT>
                    <a:lnB>
                      <a:noFill/>
                    </a:lnB>
                    <a:noFill/>
                  </a:tcPr>
                </a:tc>
                <a:tc>
                  <a:txBody>
                    <a:bodyPr/>
                    <a:lstStyle/>
                    <a:p>
                      <a:pPr>
                        <a:buNone/>
                      </a:pPr>
                      <a:r>
                        <a:rPr lang="en-US"/>
                        <a:t>443</a:t>
                      </a:r>
                    </a:p>
                  </a:txBody>
                  <a:tcPr anchor="ctr">
                    <a:lnL>
                      <a:noFill/>
                    </a:lnL>
                    <a:lnR>
                      <a:noFill/>
                    </a:lnR>
                    <a:lnT>
                      <a:noFill/>
                    </a:lnT>
                    <a:lnB>
                      <a:noFill/>
                    </a:lnB>
                    <a:noFill/>
                  </a:tcPr>
                </a:tc>
                <a:tc>
                  <a:txBody>
                    <a:bodyPr/>
                    <a:lstStyle/>
                    <a:p>
                      <a:pPr>
                        <a:buNone/>
                      </a:pPr>
                      <a:r>
                        <a:rPr lang="en-US"/>
                        <a:t>Encrypts data</a:t>
                      </a:r>
                    </a:p>
                  </a:txBody>
                  <a:tcPr anchor="ctr">
                    <a:lnL>
                      <a:noFill/>
                    </a:lnL>
                    <a:lnR>
                      <a:noFill/>
                    </a:lnR>
                    <a:lnT>
                      <a:noFill/>
                    </a:lnT>
                    <a:lnB>
                      <a:noFill/>
                    </a:lnB>
                    <a:noFill/>
                  </a:tcPr>
                </a:tc>
                <a:extLst>
                  <a:ext uri="{0D108BD9-81ED-4DB2-BD59-A6C34878D82A}">
                    <a16:rowId xmlns:a16="http://schemas.microsoft.com/office/drawing/2014/main" val="10002"/>
                  </a:ext>
                </a:extLst>
              </a:tr>
              <a:tr h="602571">
                <a:tc>
                  <a:txBody>
                    <a:bodyPr/>
                    <a:lstStyle/>
                    <a:p>
                      <a:pPr>
                        <a:buNone/>
                      </a:pPr>
                      <a:r>
                        <a:rPr lang="en-US"/>
                        <a:t>DNS</a:t>
                      </a:r>
                    </a:p>
                  </a:txBody>
                  <a:tcPr anchor="ctr">
                    <a:lnL>
                      <a:noFill/>
                    </a:lnL>
                    <a:lnR>
                      <a:noFill/>
                    </a:lnR>
                    <a:lnT>
                      <a:noFill/>
                    </a:lnT>
                    <a:lnB>
                      <a:noFill/>
                    </a:lnB>
                    <a:noFill/>
                  </a:tcPr>
                </a:tc>
                <a:tc>
                  <a:txBody>
                    <a:bodyPr/>
                    <a:lstStyle/>
                    <a:p>
                      <a:pPr>
                        <a:buNone/>
                      </a:pPr>
                      <a:r>
                        <a:rPr lang="en-US"/>
                        <a:t>Name to IP translation</a:t>
                      </a:r>
                    </a:p>
                  </a:txBody>
                  <a:tcPr anchor="ctr">
                    <a:lnL>
                      <a:noFill/>
                    </a:lnL>
                    <a:lnR>
                      <a:noFill/>
                    </a:lnR>
                    <a:lnT>
                      <a:noFill/>
                    </a:lnT>
                    <a:lnB>
                      <a:noFill/>
                    </a:lnB>
                    <a:noFill/>
                  </a:tcPr>
                </a:tc>
                <a:tc>
                  <a:txBody>
                    <a:bodyPr/>
                    <a:lstStyle/>
                    <a:p>
                      <a:pPr>
                        <a:buNone/>
                      </a:pPr>
                      <a:r>
                        <a:rPr lang="en-US"/>
                        <a:t>UDP/TCP</a:t>
                      </a:r>
                    </a:p>
                  </a:txBody>
                  <a:tcPr anchor="ctr">
                    <a:lnL>
                      <a:noFill/>
                    </a:lnL>
                    <a:lnR>
                      <a:noFill/>
                    </a:lnR>
                    <a:lnT>
                      <a:noFill/>
                    </a:lnT>
                    <a:lnB>
                      <a:noFill/>
                    </a:lnB>
                    <a:noFill/>
                  </a:tcPr>
                </a:tc>
                <a:tc>
                  <a:txBody>
                    <a:bodyPr/>
                    <a:lstStyle/>
                    <a:p>
                      <a:pPr>
                        <a:buNone/>
                      </a:pPr>
                      <a:r>
                        <a:rPr lang="en-US"/>
                        <a:t>53</a:t>
                      </a:r>
                    </a:p>
                  </a:txBody>
                  <a:tcPr anchor="ctr">
                    <a:lnL>
                      <a:noFill/>
                    </a:lnL>
                    <a:lnR>
                      <a:noFill/>
                    </a:lnR>
                    <a:lnT>
                      <a:noFill/>
                    </a:lnT>
                    <a:lnB>
                      <a:noFill/>
                    </a:lnB>
                    <a:noFill/>
                  </a:tcPr>
                </a:tc>
                <a:tc>
                  <a:txBody>
                    <a:bodyPr/>
                    <a:lstStyle/>
                    <a:p>
                      <a:pPr>
                        <a:buNone/>
                      </a:pPr>
                      <a:r>
                        <a:rPr lang="en-US"/>
                        <a:t>Finds correct servers</a:t>
                      </a:r>
                    </a:p>
                  </a:txBody>
                  <a:tcPr anchor="ctr">
                    <a:lnL>
                      <a:noFill/>
                    </a:lnL>
                    <a:lnR>
                      <a:noFill/>
                    </a:lnR>
                    <a:lnT>
                      <a:noFill/>
                    </a:lnT>
                    <a:lnB>
                      <a:noFill/>
                    </a:lnB>
                    <a:noFill/>
                  </a:tcPr>
                </a:tc>
                <a:extLst>
                  <a:ext uri="{0D108BD9-81ED-4DB2-BD59-A6C34878D82A}">
                    <a16:rowId xmlns:a16="http://schemas.microsoft.com/office/drawing/2014/main" val="10003"/>
                  </a:ext>
                </a:extLst>
              </a:tr>
              <a:tr h="602571">
                <a:tc>
                  <a:txBody>
                    <a:bodyPr/>
                    <a:lstStyle/>
                    <a:p>
                      <a:pPr>
                        <a:buNone/>
                      </a:pPr>
                      <a:r>
                        <a:rPr lang="en-US"/>
                        <a:t>DHCP</a:t>
                      </a:r>
                    </a:p>
                  </a:txBody>
                  <a:tcPr anchor="ctr">
                    <a:lnL>
                      <a:noFill/>
                    </a:lnL>
                    <a:lnR>
                      <a:noFill/>
                    </a:lnR>
                    <a:lnT>
                      <a:noFill/>
                    </a:lnT>
                    <a:lnB>
                      <a:noFill/>
                    </a:lnB>
                    <a:noFill/>
                  </a:tcPr>
                </a:tc>
                <a:tc>
                  <a:txBody>
                    <a:bodyPr/>
                    <a:lstStyle/>
                    <a:p>
                      <a:pPr>
                        <a:buNone/>
                      </a:pPr>
                      <a:r>
                        <a:rPr lang="en-US"/>
                        <a:t>Assigns IP addresses</a:t>
                      </a:r>
                    </a:p>
                  </a:txBody>
                  <a:tcPr anchor="ctr">
                    <a:lnL>
                      <a:noFill/>
                    </a:lnL>
                    <a:lnR>
                      <a:noFill/>
                    </a:lnR>
                    <a:lnT>
                      <a:noFill/>
                    </a:lnT>
                    <a:lnB>
                      <a:noFill/>
                    </a:lnB>
                    <a:noFill/>
                  </a:tcPr>
                </a:tc>
                <a:tc>
                  <a:txBody>
                    <a:bodyPr/>
                    <a:lstStyle/>
                    <a:p>
                      <a:pPr>
                        <a:buNone/>
                      </a:pPr>
                      <a:r>
                        <a:rPr lang="en-US"/>
                        <a:t>UDP</a:t>
                      </a:r>
                    </a:p>
                  </a:txBody>
                  <a:tcPr anchor="ctr">
                    <a:lnL>
                      <a:noFill/>
                    </a:lnL>
                    <a:lnR>
                      <a:noFill/>
                    </a:lnR>
                    <a:lnT>
                      <a:noFill/>
                    </a:lnT>
                    <a:lnB>
                      <a:noFill/>
                    </a:lnB>
                    <a:noFill/>
                  </a:tcPr>
                </a:tc>
                <a:tc>
                  <a:txBody>
                    <a:bodyPr/>
                    <a:lstStyle/>
                    <a:p>
                      <a:pPr>
                        <a:buNone/>
                      </a:pPr>
                      <a:r>
                        <a:rPr lang="en-US"/>
                        <a:t>67/68</a:t>
                      </a:r>
                    </a:p>
                  </a:txBody>
                  <a:tcPr anchor="ctr">
                    <a:lnL>
                      <a:noFill/>
                    </a:lnL>
                    <a:lnR>
                      <a:noFill/>
                    </a:lnR>
                    <a:lnT>
                      <a:noFill/>
                    </a:lnT>
                    <a:lnB>
                      <a:noFill/>
                    </a:lnB>
                    <a:noFill/>
                  </a:tcPr>
                </a:tc>
                <a:tc>
                  <a:txBody>
                    <a:bodyPr/>
                    <a:lstStyle/>
                    <a:p>
                      <a:pPr>
                        <a:buNone/>
                      </a:pPr>
                      <a:r>
                        <a:rPr lang="en-US"/>
                        <a:t>Reduces configuration errors</a:t>
                      </a:r>
                    </a:p>
                  </a:txBody>
                  <a:tcPr anchor="ctr">
                    <a:lnL>
                      <a:noFill/>
                    </a:lnL>
                    <a:lnR>
                      <a:noFill/>
                    </a:lnR>
                    <a:lnT>
                      <a:noFill/>
                    </a:lnT>
                    <a:lnB>
                      <a:noFill/>
                    </a:lnB>
                    <a:noFill/>
                  </a:tcPr>
                </a:tc>
                <a:extLst>
                  <a:ext uri="{0D108BD9-81ED-4DB2-BD59-A6C34878D82A}">
                    <a16:rowId xmlns:a16="http://schemas.microsoft.com/office/drawing/2014/main" val="10004"/>
                  </a:ext>
                </a:extLst>
              </a:tr>
              <a:tr h="602571">
                <a:tc>
                  <a:txBody>
                    <a:bodyPr/>
                    <a:lstStyle/>
                    <a:p>
                      <a:pPr>
                        <a:buNone/>
                      </a:pPr>
                      <a:r>
                        <a:rPr lang="en-US"/>
                        <a:t>ARP</a:t>
                      </a:r>
                    </a:p>
                  </a:txBody>
                  <a:tcPr anchor="ctr">
                    <a:lnL>
                      <a:noFill/>
                    </a:lnL>
                    <a:lnR>
                      <a:noFill/>
                    </a:lnR>
                    <a:lnT>
                      <a:noFill/>
                    </a:lnT>
                    <a:lnB>
                      <a:noFill/>
                    </a:lnB>
                    <a:noFill/>
                  </a:tcPr>
                </a:tc>
                <a:tc>
                  <a:txBody>
                    <a:bodyPr/>
                    <a:lstStyle/>
                    <a:p>
                      <a:pPr>
                        <a:buNone/>
                      </a:pPr>
                      <a:r>
                        <a:rPr lang="en-US"/>
                        <a:t>Finds MAC address</a:t>
                      </a:r>
                    </a:p>
                  </a:txBody>
                  <a:tcPr anchor="ctr">
                    <a:lnL>
                      <a:noFill/>
                    </a:lnL>
                    <a:lnR>
                      <a:noFill/>
                    </a:lnR>
                    <a:lnT>
                      <a:noFill/>
                    </a:lnT>
                    <a:lnB>
                      <a:noFill/>
                    </a:lnB>
                    <a:noFill/>
                  </a:tcPr>
                </a:tc>
                <a:tc>
                  <a:txBody>
                    <a:bodyPr/>
                    <a:lstStyle/>
                    <a:p>
                      <a:pPr>
                        <a:buNone/>
                      </a:pPr>
                      <a:r>
                        <a:rPr lang="en-US" dirty="0"/>
                        <a:t>Neither</a:t>
                      </a:r>
                    </a:p>
                  </a:txBody>
                  <a:tcPr anchor="ctr">
                    <a:lnL>
                      <a:noFill/>
                    </a:lnL>
                    <a:lnR>
                      <a:noFill/>
                    </a:lnR>
                    <a:lnT>
                      <a:noFill/>
                    </a:lnT>
                    <a:lnB>
                      <a:noFill/>
                    </a:lnB>
                    <a:noFill/>
                  </a:tcPr>
                </a:tc>
                <a:tc>
                  <a:txBody>
                    <a:bodyPr/>
                    <a:lstStyle/>
                    <a:p>
                      <a:pPr>
                        <a:buNone/>
                      </a:pPr>
                      <a:r>
                        <a:rPr lang="en-US"/>
                        <a:t>N/A</a:t>
                      </a:r>
                    </a:p>
                  </a:txBody>
                  <a:tcPr anchor="ctr">
                    <a:lnL>
                      <a:noFill/>
                    </a:lnL>
                    <a:lnR>
                      <a:noFill/>
                    </a:lnR>
                    <a:lnT>
                      <a:noFill/>
                    </a:lnT>
                    <a:lnB>
                      <a:noFill/>
                    </a:lnB>
                    <a:noFill/>
                  </a:tcPr>
                </a:tc>
                <a:tc>
                  <a:txBody>
                    <a:bodyPr/>
                    <a:lstStyle/>
                    <a:p>
                      <a:pPr>
                        <a:buNone/>
                      </a:pPr>
                      <a:r>
                        <a:rPr lang="en-US" dirty="0"/>
                        <a:t>Local device identification</a:t>
                      </a:r>
                    </a:p>
                  </a:txBody>
                  <a:tcPr anchor="ctr">
                    <a:lnL>
                      <a:noFill/>
                    </a:lnL>
                    <a:lnR>
                      <a:noFill/>
                    </a:lnR>
                    <a:lnT>
                      <a:noFill/>
                    </a:lnT>
                    <a:lnB>
                      <a:noFill/>
                    </a:lnB>
                    <a:noFill/>
                  </a:tcPr>
                </a:tc>
                <a:extLst>
                  <a:ext uri="{0D108BD9-81ED-4DB2-BD59-A6C34878D82A}">
                    <a16:rowId xmlns:a16="http://schemas.microsoft.com/office/drawing/2014/main" val="10005"/>
                  </a:ext>
                </a:extLst>
              </a:tr>
              <a:tr h="460163">
                <a:tc>
                  <a:txBody>
                    <a:bodyPr/>
                    <a:lstStyle/>
                    <a:p>
                      <a:pPr>
                        <a:buNone/>
                      </a:pPr>
                      <a:endParaRPr lang="en-US" sz="700" dirty="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dirty="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extLst>
                  <a:ext uri="{0D108BD9-81ED-4DB2-BD59-A6C34878D82A}">
                    <a16:rowId xmlns:a16="http://schemas.microsoft.com/office/drawing/2014/main" val="10006"/>
                  </a:ext>
                </a:extLst>
              </a:tr>
              <a:tr h="466229">
                <a:tc>
                  <a:txBody>
                    <a:bodyPr/>
                    <a:lstStyle/>
                    <a:p>
                      <a:pPr>
                        <a:buNone/>
                      </a:pPr>
                      <a:endParaRPr lang="en-US" sz="700" dirty="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extLst>
                  <a:ext uri="{0D108BD9-81ED-4DB2-BD59-A6C34878D82A}">
                    <a16:rowId xmlns:a16="http://schemas.microsoft.com/office/drawing/2014/main" val="10007"/>
                  </a:ext>
                </a:extLst>
              </a:tr>
              <a:tr h="466229">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extLst>
                  <a:ext uri="{0D108BD9-81ED-4DB2-BD59-A6C34878D82A}">
                    <a16:rowId xmlns:a16="http://schemas.microsoft.com/office/drawing/2014/main" val="10008"/>
                  </a:ext>
                </a:extLst>
              </a:tr>
              <a:tr h="466229">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extLst>
                  <a:ext uri="{0D108BD9-81ED-4DB2-BD59-A6C34878D82A}">
                    <a16:rowId xmlns:a16="http://schemas.microsoft.com/office/drawing/2014/main" val="10009"/>
                  </a:ext>
                </a:extLst>
              </a:tr>
              <a:tr h="460163">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a:p>
                  </a:txBody>
                  <a:tcPr marL="34925" marR="34925" marT="17463" marB="17463" anchor="ctr">
                    <a:lnL>
                      <a:noFill/>
                    </a:lnL>
                    <a:lnR>
                      <a:noFill/>
                    </a:lnR>
                    <a:lnT>
                      <a:noFill/>
                    </a:lnT>
                    <a:lnB>
                      <a:noFill/>
                    </a:lnB>
                    <a:noFill/>
                  </a:tcPr>
                </a:tc>
                <a:tc>
                  <a:txBody>
                    <a:bodyPr/>
                    <a:lstStyle/>
                    <a:p>
                      <a:pPr>
                        <a:buNone/>
                      </a:pPr>
                      <a:endParaRPr lang="en-US" sz="700" dirty="0"/>
                    </a:p>
                  </a:txBody>
                  <a:tcPr marL="34925" marR="34925" marT="17463" marB="17463" anchor="ctr">
                    <a:lnL>
                      <a:noFill/>
                    </a:lnL>
                    <a:lnR>
                      <a:noFill/>
                    </a:lnR>
                    <a:lnT>
                      <a:noFill/>
                    </a:lnT>
                    <a:lnB>
                      <a:noFill/>
                    </a:lnB>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353344" y="1500026"/>
          <a:ext cx="9601200" cy="3750068"/>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16674">
                <a:tc>
                  <a:txBody>
                    <a:bodyPr/>
                    <a:lstStyle/>
                    <a:p>
                      <a:pPr>
                        <a:buNone/>
                      </a:pPr>
                      <a:r>
                        <a:rPr lang="en-US"/>
                        <a:t>Protocol</a:t>
                      </a:r>
                    </a:p>
                  </a:txBody>
                  <a:tcPr anchor="ctr">
                    <a:lnL>
                      <a:noFill/>
                    </a:lnL>
                    <a:lnR>
                      <a:noFill/>
                    </a:lnR>
                    <a:lnT>
                      <a:noFill/>
                    </a:lnT>
                    <a:lnB>
                      <a:noFill/>
                    </a:lnB>
                    <a:noFill/>
                  </a:tcPr>
                </a:tc>
                <a:tc>
                  <a:txBody>
                    <a:bodyPr/>
                    <a:lstStyle/>
                    <a:p>
                      <a:pPr>
                        <a:buNone/>
                      </a:pPr>
                      <a:r>
                        <a:rPr lang="en-US"/>
                        <a:t>Purpose</a:t>
                      </a:r>
                    </a:p>
                  </a:txBody>
                  <a:tcPr anchor="ctr">
                    <a:lnL>
                      <a:noFill/>
                    </a:lnL>
                    <a:lnR>
                      <a:noFill/>
                    </a:lnR>
                    <a:lnT>
                      <a:noFill/>
                    </a:lnT>
                    <a:lnB>
                      <a:noFill/>
                    </a:lnB>
                    <a:noFill/>
                  </a:tcPr>
                </a:tc>
                <a:tc>
                  <a:txBody>
                    <a:bodyPr/>
                    <a:lstStyle/>
                    <a:p>
                      <a:pPr>
                        <a:buNone/>
                      </a:pPr>
                      <a:r>
                        <a:rPr lang="en-US"/>
                        <a:t>TCP/UDP</a:t>
                      </a:r>
                    </a:p>
                  </a:txBody>
                  <a:tcPr anchor="ctr">
                    <a:lnL>
                      <a:noFill/>
                    </a:lnL>
                    <a:lnR>
                      <a:noFill/>
                    </a:lnR>
                    <a:lnT>
                      <a:noFill/>
                    </a:lnT>
                    <a:lnB>
                      <a:noFill/>
                    </a:lnB>
                    <a:noFill/>
                  </a:tcPr>
                </a:tc>
                <a:tc>
                  <a:txBody>
                    <a:bodyPr/>
                    <a:lstStyle/>
                    <a:p>
                      <a:pPr>
                        <a:buNone/>
                      </a:pPr>
                      <a:r>
                        <a:rPr lang="en-US"/>
                        <a:t>Port</a:t>
                      </a:r>
                    </a:p>
                  </a:txBody>
                  <a:tcPr anchor="ctr">
                    <a:lnL>
                      <a:noFill/>
                    </a:lnL>
                    <a:lnR>
                      <a:noFill/>
                    </a:lnR>
                    <a:lnT>
                      <a:noFill/>
                    </a:lnT>
                    <a:lnB>
                      <a:noFill/>
                    </a:lnB>
                    <a:noFill/>
                  </a:tcPr>
                </a:tc>
                <a:tc>
                  <a:txBody>
                    <a:bodyPr/>
                    <a:lstStyle/>
                    <a:p>
                      <a:pPr>
                        <a:buNone/>
                      </a:pPr>
                      <a:r>
                        <a:rPr lang="en-US"/>
                        <a:t>Security Purpose</a:t>
                      </a:r>
                    </a:p>
                  </a:txBody>
                  <a:tcPr anchor="ctr">
                    <a:lnL>
                      <a:noFill/>
                    </a:lnL>
                    <a:lnR>
                      <a:noFill/>
                    </a:lnR>
                    <a:lnT>
                      <a:noFill/>
                    </a:lnT>
                    <a:lnB>
                      <a:noFill/>
                    </a:lnB>
                    <a:noFill/>
                  </a:tcPr>
                </a:tc>
                <a:extLst>
                  <a:ext uri="{0D108BD9-81ED-4DB2-BD59-A6C34878D82A}">
                    <a16:rowId xmlns:a16="http://schemas.microsoft.com/office/drawing/2014/main" val="10000"/>
                  </a:ext>
                </a:extLst>
              </a:tr>
              <a:tr h="416674">
                <a:tc>
                  <a:txBody>
                    <a:bodyPr/>
                    <a:lstStyle/>
                    <a:p>
                      <a:pPr>
                        <a:buNone/>
                      </a:pPr>
                      <a:r>
                        <a:rPr lang="en-US"/>
                        <a:t>ICMP</a:t>
                      </a:r>
                    </a:p>
                  </a:txBody>
                  <a:tcPr anchor="ctr">
                    <a:lnL>
                      <a:noFill/>
                    </a:lnL>
                    <a:lnR>
                      <a:noFill/>
                    </a:lnR>
                    <a:lnT>
                      <a:noFill/>
                    </a:lnT>
                    <a:lnB>
                      <a:noFill/>
                    </a:lnB>
                    <a:noFill/>
                  </a:tcPr>
                </a:tc>
                <a:tc>
                  <a:txBody>
                    <a:bodyPr/>
                    <a:lstStyle/>
                    <a:p>
                      <a:pPr>
                        <a:buNone/>
                      </a:pPr>
                      <a:r>
                        <a:rPr lang="en-US"/>
                        <a:t>Network testing</a:t>
                      </a:r>
                    </a:p>
                  </a:txBody>
                  <a:tcPr anchor="ctr">
                    <a:lnL>
                      <a:noFill/>
                    </a:lnL>
                    <a:lnR>
                      <a:noFill/>
                    </a:lnR>
                    <a:lnT>
                      <a:noFill/>
                    </a:lnT>
                    <a:lnB>
                      <a:noFill/>
                    </a:lnB>
                    <a:noFill/>
                  </a:tcPr>
                </a:tc>
                <a:tc>
                  <a:txBody>
                    <a:bodyPr/>
                    <a:lstStyle/>
                    <a:p>
                      <a:pPr>
                        <a:buNone/>
                      </a:pPr>
                      <a:r>
                        <a:rPr lang="en-US"/>
                        <a:t>Neither</a:t>
                      </a:r>
                    </a:p>
                  </a:txBody>
                  <a:tcPr anchor="ctr">
                    <a:lnL>
                      <a:noFill/>
                    </a:lnL>
                    <a:lnR>
                      <a:noFill/>
                    </a:lnR>
                    <a:lnT>
                      <a:noFill/>
                    </a:lnT>
                    <a:lnB>
                      <a:noFill/>
                    </a:lnB>
                    <a:noFill/>
                  </a:tcPr>
                </a:tc>
                <a:tc>
                  <a:txBody>
                    <a:bodyPr/>
                    <a:lstStyle/>
                    <a:p>
                      <a:pPr>
                        <a:buNone/>
                      </a:pPr>
                      <a:r>
                        <a:rPr lang="en-US"/>
                        <a:t>N/A</a:t>
                      </a:r>
                    </a:p>
                  </a:txBody>
                  <a:tcPr anchor="ctr">
                    <a:lnL>
                      <a:noFill/>
                    </a:lnL>
                    <a:lnR>
                      <a:noFill/>
                    </a:lnR>
                    <a:lnT>
                      <a:noFill/>
                    </a:lnT>
                    <a:lnB>
                      <a:noFill/>
                    </a:lnB>
                    <a:noFill/>
                  </a:tcPr>
                </a:tc>
                <a:tc>
                  <a:txBody>
                    <a:bodyPr/>
                    <a:lstStyle/>
                    <a:p>
                      <a:pPr>
                        <a:buNone/>
                      </a:pPr>
                      <a:r>
                        <a:rPr lang="en-US"/>
                        <a:t>Troubleshooting</a:t>
                      </a:r>
                    </a:p>
                  </a:txBody>
                  <a:tcPr anchor="ctr">
                    <a:lnL>
                      <a:noFill/>
                    </a:lnL>
                    <a:lnR>
                      <a:noFill/>
                    </a:lnR>
                    <a:lnT>
                      <a:noFill/>
                    </a:lnT>
                    <a:lnB>
                      <a:noFill/>
                    </a:lnB>
                    <a:noFill/>
                  </a:tcPr>
                </a:tc>
                <a:extLst>
                  <a:ext uri="{0D108BD9-81ED-4DB2-BD59-A6C34878D82A}">
                    <a16:rowId xmlns:a16="http://schemas.microsoft.com/office/drawing/2014/main" val="10001"/>
                  </a:ext>
                </a:extLst>
              </a:tr>
              <a:tr h="729180">
                <a:tc>
                  <a:txBody>
                    <a:bodyPr/>
                    <a:lstStyle/>
                    <a:p>
                      <a:pPr>
                        <a:buNone/>
                      </a:pPr>
                      <a:r>
                        <a:rPr lang="en-US"/>
                        <a:t>SSH</a:t>
                      </a:r>
                    </a:p>
                  </a:txBody>
                  <a:tcPr anchor="ctr">
                    <a:lnL>
                      <a:noFill/>
                    </a:lnL>
                    <a:lnR>
                      <a:noFill/>
                    </a:lnR>
                    <a:lnT>
                      <a:noFill/>
                    </a:lnT>
                    <a:lnB>
                      <a:noFill/>
                    </a:lnB>
                    <a:noFill/>
                  </a:tcPr>
                </a:tc>
                <a:tc>
                  <a:txBody>
                    <a:bodyPr/>
                    <a:lstStyle/>
                    <a:p>
                      <a:pPr>
                        <a:buNone/>
                      </a:pPr>
                      <a:r>
                        <a:rPr lang="en-US"/>
                        <a:t>Secure remote login</a:t>
                      </a:r>
                    </a:p>
                  </a:txBody>
                  <a:tcPr anchor="ctr">
                    <a:lnL>
                      <a:noFill/>
                    </a:lnL>
                    <a:lnR>
                      <a:noFill/>
                    </a:lnR>
                    <a:lnT>
                      <a:noFill/>
                    </a:lnT>
                    <a:lnB>
                      <a:noFill/>
                    </a:lnB>
                    <a:noFill/>
                  </a:tcPr>
                </a:tc>
                <a:tc>
                  <a:txBody>
                    <a:bodyPr/>
                    <a:lstStyle/>
                    <a:p>
                      <a:pPr>
                        <a:buNone/>
                      </a:pPr>
                      <a:r>
                        <a:rPr lang="en-US"/>
                        <a:t>TCP</a:t>
                      </a:r>
                    </a:p>
                  </a:txBody>
                  <a:tcPr anchor="ctr">
                    <a:lnL>
                      <a:noFill/>
                    </a:lnL>
                    <a:lnR>
                      <a:noFill/>
                    </a:lnR>
                    <a:lnT>
                      <a:noFill/>
                    </a:lnT>
                    <a:lnB>
                      <a:noFill/>
                    </a:lnB>
                    <a:noFill/>
                  </a:tcPr>
                </a:tc>
                <a:tc>
                  <a:txBody>
                    <a:bodyPr/>
                    <a:lstStyle/>
                    <a:p>
                      <a:pPr>
                        <a:buNone/>
                      </a:pPr>
                      <a:r>
                        <a:rPr lang="en-US"/>
                        <a:t>22</a:t>
                      </a:r>
                    </a:p>
                  </a:txBody>
                  <a:tcPr anchor="ctr">
                    <a:lnL>
                      <a:noFill/>
                    </a:lnL>
                    <a:lnR>
                      <a:noFill/>
                    </a:lnR>
                    <a:lnT>
                      <a:noFill/>
                    </a:lnT>
                    <a:lnB>
                      <a:noFill/>
                    </a:lnB>
                    <a:noFill/>
                  </a:tcPr>
                </a:tc>
                <a:tc>
                  <a:txBody>
                    <a:bodyPr/>
                    <a:lstStyle/>
                    <a:p>
                      <a:pPr>
                        <a:buNone/>
                      </a:pPr>
                      <a:r>
                        <a:rPr lang="en-US"/>
                        <a:t>Encrypted access</a:t>
                      </a:r>
                    </a:p>
                  </a:txBody>
                  <a:tcPr anchor="ctr">
                    <a:lnL>
                      <a:noFill/>
                    </a:lnL>
                    <a:lnR>
                      <a:noFill/>
                    </a:lnR>
                    <a:lnT>
                      <a:noFill/>
                    </a:lnT>
                    <a:lnB>
                      <a:noFill/>
                    </a:lnB>
                    <a:noFill/>
                  </a:tcPr>
                </a:tc>
                <a:extLst>
                  <a:ext uri="{0D108BD9-81ED-4DB2-BD59-A6C34878D82A}">
                    <a16:rowId xmlns:a16="http://schemas.microsoft.com/office/drawing/2014/main" val="10002"/>
                  </a:ext>
                </a:extLst>
              </a:tr>
              <a:tr h="729180">
                <a:tc>
                  <a:txBody>
                    <a:bodyPr/>
                    <a:lstStyle/>
                    <a:p>
                      <a:pPr>
                        <a:buNone/>
                      </a:pPr>
                      <a:r>
                        <a:rPr lang="en-US"/>
                        <a:t>SMTP</a:t>
                      </a:r>
                    </a:p>
                  </a:txBody>
                  <a:tcPr anchor="ctr">
                    <a:lnL>
                      <a:noFill/>
                    </a:lnL>
                    <a:lnR>
                      <a:noFill/>
                    </a:lnR>
                    <a:lnT>
                      <a:noFill/>
                    </a:lnT>
                    <a:lnB>
                      <a:noFill/>
                    </a:lnB>
                    <a:noFill/>
                  </a:tcPr>
                </a:tc>
                <a:tc>
                  <a:txBody>
                    <a:bodyPr/>
                    <a:lstStyle/>
                    <a:p>
                      <a:pPr>
                        <a:buNone/>
                      </a:pPr>
                      <a:r>
                        <a:rPr lang="en-US"/>
                        <a:t>Sends emails</a:t>
                      </a:r>
                    </a:p>
                  </a:txBody>
                  <a:tcPr anchor="ctr">
                    <a:lnL>
                      <a:noFill/>
                    </a:lnL>
                    <a:lnR>
                      <a:noFill/>
                    </a:lnR>
                    <a:lnT>
                      <a:noFill/>
                    </a:lnT>
                    <a:lnB>
                      <a:noFill/>
                    </a:lnB>
                    <a:noFill/>
                  </a:tcPr>
                </a:tc>
                <a:tc>
                  <a:txBody>
                    <a:bodyPr/>
                    <a:lstStyle/>
                    <a:p>
                      <a:pPr>
                        <a:buNone/>
                      </a:pPr>
                      <a:r>
                        <a:rPr lang="en-US"/>
                        <a:t>TCP</a:t>
                      </a:r>
                    </a:p>
                  </a:txBody>
                  <a:tcPr anchor="ctr">
                    <a:lnL>
                      <a:noFill/>
                    </a:lnL>
                    <a:lnR>
                      <a:noFill/>
                    </a:lnR>
                    <a:lnT>
                      <a:noFill/>
                    </a:lnT>
                    <a:lnB>
                      <a:noFill/>
                    </a:lnB>
                    <a:noFill/>
                  </a:tcPr>
                </a:tc>
                <a:tc>
                  <a:txBody>
                    <a:bodyPr/>
                    <a:lstStyle/>
                    <a:p>
                      <a:pPr>
                        <a:buNone/>
                      </a:pPr>
                      <a:r>
                        <a:rPr lang="en-US"/>
                        <a:t>25</a:t>
                      </a:r>
                    </a:p>
                  </a:txBody>
                  <a:tcPr anchor="ctr">
                    <a:lnL>
                      <a:noFill/>
                    </a:lnL>
                    <a:lnR>
                      <a:noFill/>
                    </a:lnR>
                    <a:lnT>
                      <a:noFill/>
                    </a:lnT>
                    <a:lnB>
                      <a:noFill/>
                    </a:lnB>
                    <a:noFill/>
                  </a:tcPr>
                </a:tc>
                <a:tc>
                  <a:txBody>
                    <a:bodyPr/>
                    <a:lstStyle/>
                    <a:p>
                      <a:pPr>
                        <a:buNone/>
                      </a:pPr>
                      <a:r>
                        <a:rPr lang="en-US"/>
                        <a:t>Secure mail transfer</a:t>
                      </a:r>
                    </a:p>
                  </a:txBody>
                  <a:tcPr anchor="ctr">
                    <a:lnL>
                      <a:noFill/>
                    </a:lnL>
                    <a:lnR>
                      <a:noFill/>
                    </a:lnR>
                    <a:lnT>
                      <a:noFill/>
                    </a:lnT>
                    <a:lnB>
                      <a:noFill/>
                    </a:lnB>
                    <a:noFill/>
                  </a:tcPr>
                </a:tc>
                <a:extLst>
                  <a:ext uri="{0D108BD9-81ED-4DB2-BD59-A6C34878D82A}">
                    <a16:rowId xmlns:a16="http://schemas.microsoft.com/office/drawing/2014/main" val="10003"/>
                  </a:ext>
                </a:extLst>
              </a:tr>
              <a:tr h="729180">
                <a:tc>
                  <a:txBody>
                    <a:bodyPr/>
                    <a:lstStyle/>
                    <a:p>
                      <a:pPr>
                        <a:buNone/>
                      </a:pPr>
                      <a:r>
                        <a:rPr lang="en-US"/>
                        <a:t>IMAP</a:t>
                      </a:r>
                    </a:p>
                  </a:txBody>
                  <a:tcPr anchor="ctr">
                    <a:lnL>
                      <a:noFill/>
                    </a:lnL>
                    <a:lnR>
                      <a:noFill/>
                    </a:lnR>
                    <a:lnT>
                      <a:noFill/>
                    </a:lnT>
                    <a:lnB>
                      <a:noFill/>
                    </a:lnB>
                    <a:noFill/>
                  </a:tcPr>
                </a:tc>
                <a:tc>
                  <a:txBody>
                    <a:bodyPr/>
                    <a:lstStyle/>
                    <a:p>
                      <a:pPr>
                        <a:buNone/>
                      </a:pPr>
                      <a:r>
                        <a:rPr lang="en-US"/>
                        <a:t>Access emails on server</a:t>
                      </a:r>
                    </a:p>
                  </a:txBody>
                  <a:tcPr anchor="ctr">
                    <a:lnL>
                      <a:noFill/>
                    </a:lnL>
                    <a:lnR>
                      <a:noFill/>
                    </a:lnR>
                    <a:lnT>
                      <a:noFill/>
                    </a:lnT>
                    <a:lnB>
                      <a:noFill/>
                    </a:lnB>
                    <a:noFill/>
                  </a:tcPr>
                </a:tc>
                <a:tc>
                  <a:txBody>
                    <a:bodyPr/>
                    <a:lstStyle/>
                    <a:p>
                      <a:pPr>
                        <a:buNone/>
                      </a:pPr>
                      <a:r>
                        <a:rPr lang="en-US"/>
                        <a:t>TCP</a:t>
                      </a:r>
                    </a:p>
                  </a:txBody>
                  <a:tcPr anchor="ctr">
                    <a:lnL>
                      <a:noFill/>
                    </a:lnL>
                    <a:lnR>
                      <a:noFill/>
                    </a:lnR>
                    <a:lnT>
                      <a:noFill/>
                    </a:lnT>
                    <a:lnB>
                      <a:noFill/>
                    </a:lnB>
                    <a:noFill/>
                  </a:tcPr>
                </a:tc>
                <a:tc>
                  <a:txBody>
                    <a:bodyPr/>
                    <a:lstStyle/>
                    <a:p>
                      <a:pPr>
                        <a:buNone/>
                      </a:pPr>
                      <a:r>
                        <a:rPr lang="en-US"/>
                        <a:t>143</a:t>
                      </a:r>
                    </a:p>
                  </a:txBody>
                  <a:tcPr anchor="ctr">
                    <a:lnL>
                      <a:noFill/>
                    </a:lnL>
                    <a:lnR>
                      <a:noFill/>
                    </a:lnR>
                    <a:lnT>
                      <a:noFill/>
                    </a:lnT>
                    <a:lnB>
                      <a:noFill/>
                    </a:lnB>
                    <a:noFill/>
                  </a:tcPr>
                </a:tc>
                <a:tc>
                  <a:txBody>
                    <a:bodyPr/>
                    <a:lstStyle/>
                    <a:p>
                      <a:pPr>
                        <a:buNone/>
                      </a:pPr>
                      <a:r>
                        <a:rPr lang="en-US"/>
                        <a:t>Secure synchronization</a:t>
                      </a:r>
                    </a:p>
                  </a:txBody>
                  <a:tcPr anchor="ctr">
                    <a:lnL>
                      <a:noFill/>
                    </a:lnL>
                    <a:lnR>
                      <a:noFill/>
                    </a:lnR>
                    <a:lnT>
                      <a:noFill/>
                    </a:lnT>
                    <a:lnB>
                      <a:noFill/>
                    </a:lnB>
                    <a:noFill/>
                  </a:tcPr>
                </a:tc>
                <a:extLst>
                  <a:ext uri="{0D108BD9-81ED-4DB2-BD59-A6C34878D82A}">
                    <a16:rowId xmlns:a16="http://schemas.microsoft.com/office/drawing/2014/main" val="10004"/>
                  </a:ext>
                </a:extLst>
              </a:tr>
              <a:tr h="729180">
                <a:tc>
                  <a:txBody>
                    <a:bodyPr/>
                    <a:lstStyle/>
                    <a:p>
                      <a:pPr>
                        <a:buNone/>
                      </a:pPr>
                      <a:r>
                        <a:rPr lang="en-US"/>
                        <a:t>POP3</a:t>
                      </a:r>
                    </a:p>
                  </a:txBody>
                  <a:tcPr anchor="ctr">
                    <a:lnL>
                      <a:noFill/>
                    </a:lnL>
                    <a:lnR>
                      <a:noFill/>
                    </a:lnR>
                    <a:lnT>
                      <a:noFill/>
                    </a:lnT>
                    <a:lnB>
                      <a:noFill/>
                    </a:lnB>
                    <a:noFill/>
                  </a:tcPr>
                </a:tc>
                <a:tc>
                  <a:txBody>
                    <a:bodyPr/>
                    <a:lstStyle/>
                    <a:p>
                      <a:pPr>
                        <a:buNone/>
                      </a:pPr>
                      <a:r>
                        <a:rPr lang="en-US"/>
                        <a:t>Downloads emails</a:t>
                      </a:r>
                    </a:p>
                  </a:txBody>
                  <a:tcPr anchor="ctr">
                    <a:lnL>
                      <a:noFill/>
                    </a:lnL>
                    <a:lnR>
                      <a:noFill/>
                    </a:lnR>
                    <a:lnT>
                      <a:noFill/>
                    </a:lnT>
                    <a:lnB>
                      <a:noFill/>
                    </a:lnB>
                    <a:noFill/>
                  </a:tcPr>
                </a:tc>
                <a:tc>
                  <a:txBody>
                    <a:bodyPr/>
                    <a:lstStyle/>
                    <a:p>
                      <a:pPr>
                        <a:buNone/>
                      </a:pPr>
                      <a:r>
                        <a:rPr lang="en-US"/>
                        <a:t>TCP</a:t>
                      </a:r>
                    </a:p>
                  </a:txBody>
                  <a:tcPr anchor="ctr">
                    <a:lnL>
                      <a:noFill/>
                    </a:lnL>
                    <a:lnR>
                      <a:noFill/>
                    </a:lnR>
                    <a:lnT>
                      <a:noFill/>
                    </a:lnT>
                    <a:lnB>
                      <a:noFill/>
                    </a:lnB>
                    <a:noFill/>
                  </a:tcPr>
                </a:tc>
                <a:tc>
                  <a:txBody>
                    <a:bodyPr/>
                    <a:lstStyle/>
                    <a:p>
                      <a:pPr>
                        <a:buNone/>
                      </a:pPr>
                      <a:r>
                        <a:rPr lang="en-US"/>
                        <a:t>110</a:t>
                      </a:r>
                    </a:p>
                  </a:txBody>
                  <a:tcPr anchor="ctr">
                    <a:lnL>
                      <a:noFill/>
                    </a:lnL>
                    <a:lnR>
                      <a:noFill/>
                    </a:lnR>
                    <a:lnT>
                      <a:noFill/>
                    </a:lnT>
                    <a:lnB>
                      <a:noFill/>
                    </a:lnB>
                    <a:noFill/>
                  </a:tcPr>
                </a:tc>
                <a:tc>
                  <a:txBody>
                    <a:bodyPr/>
                    <a:lstStyle/>
                    <a:p>
                      <a:pPr>
                        <a:buNone/>
                      </a:pPr>
                      <a:r>
                        <a:rPr lang="en-US" dirty="0"/>
                        <a:t>Secure email retrieval</a:t>
                      </a:r>
                    </a:p>
                  </a:txBody>
                  <a:tcPr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3"/>
            <a:ext cx="8721901" cy="178848"/>
          </a:xfrm>
        </p:spPr>
        <p:txBody>
          <a:bodyPr>
            <a:normAutofit fontScale="90000"/>
          </a:bodyPr>
          <a:lstStyle/>
          <a:p>
            <a:r>
              <a:rPr lang="en-US" b="1" dirty="0"/>
              <a:t>Simple Understanding</a:t>
            </a:r>
            <a:br>
              <a:rPr lang="en-US" b="1" dirty="0"/>
            </a:br>
            <a:endParaRPr lang="en-US" dirty="0"/>
          </a:p>
        </p:txBody>
      </p:sp>
      <p:sp>
        <p:nvSpPr>
          <p:cNvPr id="3" name="Content Placeholder 2"/>
          <p:cNvSpPr>
            <a:spLocks noGrp="1"/>
          </p:cNvSpPr>
          <p:nvPr>
            <p:ph idx="1"/>
          </p:nvPr>
        </p:nvSpPr>
        <p:spPr>
          <a:xfrm>
            <a:off x="1613043" y="1485565"/>
            <a:ext cx="9283554" cy="4211455"/>
          </a:xfrm>
        </p:spPr>
        <p:txBody>
          <a:bodyPr>
            <a:normAutofit/>
          </a:bodyPr>
          <a:lstStyle/>
          <a:p>
            <a:r>
              <a:rPr lang="en-US" dirty="0"/>
              <a:t>Think of these protocols like workers inside a company in Enugu:</a:t>
            </a:r>
          </a:p>
          <a:p>
            <a:r>
              <a:rPr lang="en-US" b="1" dirty="0"/>
              <a:t>HTTP/HTTPS</a:t>
            </a:r>
            <a:r>
              <a:rPr lang="en-US" dirty="0"/>
              <a:t> → Website delivery workers </a:t>
            </a:r>
          </a:p>
          <a:p>
            <a:r>
              <a:rPr lang="en-US" b="1" dirty="0"/>
              <a:t>DNS</a:t>
            </a:r>
            <a:r>
              <a:rPr lang="en-US" dirty="0"/>
              <a:t> → Phonebook directory </a:t>
            </a:r>
          </a:p>
          <a:p>
            <a:r>
              <a:rPr lang="en-US" b="1" dirty="0"/>
              <a:t>DHCP</a:t>
            </a:r>
            <a:r>
              <a:rPr lang="en-US" dirty="0"/>
              <a:t> → Office admin assigning addresses </a:t>
            </a:r>
          </a:p>
          <a:p>
            <a:r>
              <a:rPr lang="en-US" b="1" dirty="0"/>
              <a:t>ARP</a:t>
            </a:r>
            <a:r>
              <a:rPr lang="en-US" dirty="0"/>
              <a:t> → Person finding exact house location </a:t>
            </a:r>
          </a:p>
          <a:p>
            <a:r>
              <a:rPr lang="en-US" b="1" dirty="0"/>
              <a:t>ICMP</a:t>
            </a:r>
            <a:r>
              <a:rPr lang="en-US" dirty="0"/>
              <a:t> → Inspector testing the network </a:t>
            </a:r>
          </a:p>
          <a:p>
            <a:r>
              <a:rPr lang="en-US" b="1" dirty="0"/>
              <a:t>SSH</a:t>
            </a:r>
            <a:r>
              <a:rPr lang="en-US" dirty="0"/>
              <a:t> → Secure office entrance </a:t>
            </a:r>
          </a:p>
          <a:p>
            <a:r>
              <a:rPr lang="en-US" b="1" dirty="0"/>
              <a:t>SMTP/IMAP/POP3</a:t>
            </a:r>
            <a:r>
              <a:rPr lang="en-US" dirty="0"/>
              <a:t> → Post office handling emails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5784" y="982132"/>
            <a:ext cx="9180814" cy="45719"/>
          </a:xfrm>
        </p:spPr>
        <p:txBody>
          <a:bodyPr>
            <a:normAutofit fontScale="90000"/>
          </a:bodyPr>
          <a:lstStyle/>
          <a:p>
            <a:r>
              <a:rPr lang="en-US" dirty="0"/>
              <a:t>To understand it more</a:t>
            </a:r>
          </a:p>
        </p:txBody>
      </p:sp>
      <p:sp>
        <p:nvSpPr>
          <p:cNvPr id="3" name="Content Placeholder 2"/>
          <p:cNvSpPr>
            <a:spLocks noGrp="1"/>
          </p:cNvSpPr>
          <p:nvPr>
            <p:ph idx="1"/>
          </p:nvPr>
        </p:nvSpPr>
        <p:spPr>
          <a:xfrm>
            <a:off x="1295401" y="1920238"/>
            <a:ext cx="9601196" cy="3955630"/>
          </a:xfrm>
        </p:spPr>
        <p:txBody>
          <a:bodyPr/>
          <a:lstStyle/>
          <a:p>
            <a:r>
              <a:rPr lang="en-US" b="1" dirty="0"/>
              <a:t>HTTPS &amp; SSH</a:t>
            </a:r>
            <a:r>
              <a:rPr lang="en-US" dirty="0"/>
              <a:t> = Secure communication </a:t>
            </a:r>
          </a:p>
          <a:p>
            <a:r>
              <a:rPr lang="en-US" b="1" dirty="0"/>
              <a:t>DNS &amp; DHCP</a:t>
            </a:r>
            <a:r>
              <a:rPr lang="en-US" dirty="0"/>
              <a:t> = Network setup helpers </a:t>
            </a:r>
          </a:p>
          <a:p>
            <a:r>
              <a:rPr lang="en-US" b="1" dirty="0"/>
              <a:t>SMTP, IMAP, POP3</a:t>
            </a:r>
            <a:r>
              <a:rPr lang="en-US" dirty="0"/>
              <a:t> = Email protocols </a:t>
            </a:r>
          </a:p>
          <a:p>
            <a:r>
              <a:rPr lang="en-US" b="1" dirty="0"/>
              <a:t>ICMP</a:t>
            </a:r>
            <a:r>
              <a:rPr lang="en-US" dirty="0"/>
              <a:t> = Troubleshooting </a:t>
            </a:r>
          </a:p>
          <a:p>
            <a:r>
              <a:rPr lang="en-US" b="1" dirty="0"/>
              <a:t>ARP</a:t>
            </a:r>
            <a:r>
              <a:rPr lang="en-US" dirty="0"/>
              <a:t> = Device identification inside local network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3" y="982132"/>
            <a:ext cx="9601195" cy="980232"/>
          </a:xfrm>
        </p:spPr>
        <p:txBody>
          <a:bodyPr>
            <a:noAutofit/>
          </a:bodyPr>
          <a:lstStyle/>
          <a:p>
            <a:r>
              <a:rPr lang="en-US" sz="2800" dirty="0"/>
              <a:t>4.Identify which protocols are secure and insecure and explain why organizations should avoid insecure protocols.</a:t>
            </a:r>
            <a:br>
              <a:rPr lang="en-US" sz="2800" dirty="0"/>
            </a:br>
            <a:br>
              <a:rPr lang="en-US" sz="2800" dirty="0"/>
            </a:br>
            <a:endParaRPr lang="en-US" sz="2800" dirty="0"/>
          </a:p>
        </p:txBody>
      </p:sp>
      <p:sp>
        <p:nvSpPr>
          <p:cNvPr id="3" name="Content Placeholder 2"/>
          <p:cNvSpPr>
            <a:spLocks noGrp="1"/>
          </p:cNvSpPr>
          <p:nvPr>
            <p:ph idx="1"/>
          </p:nvPr>
        </p:nvSpPr>
        <p:spPr>
          <a:xfrm>
            <a:off x="2712377" y="2691829"/>
            <a:ext cx="8184219" cy="3184039"/>
          </a:xfrm>
        </p:spPr>
        <p:txBody>
          <a:bodyPr>
            <a:normAutofit/>
          </a:bodyPr>
          <a:lstStyle/>
          <a:p>
            <a:r>
              <a:rPr lang="en-US" dirty="0"/>
              <a:t>HTTP vs HTTPS</a:t>
            </a:r>
          </a:p>
          <a:p>
            <a:r>
              <a:rPr lang="en-US" dirty="0"/>
              <a:t>Telnet vs SSH</a:t>
            </a:r>
          </a:p>
          <a:p>
            <a:r>
              <a:rPr lang="en-US" dirty="0"/>
              <a:t>Encryption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295399" y="945223"/>
          <a:ext cx="9841788" cy="2326182"/>
        </p:xfrm>
        <a:graphic>
          <a:graphicData uri="http://schemas.openxmlformats.org/drawingml/2006/table">
            <a:tbl>
              <a:tblPr/>
              <a:tblGrid>
                <a:gridCol w="2460447">
                  <a:extLst>
                    <a:ext uri="{9D8B030D-6E8A-4147-A177-3AD203B41FA5}">
                      <a16:colId xmlns:a16="http://schemas.microsoft.com/office/drawing/2014/main" val="20000"/>
                    </a:ext>
                  </a:extLst>
                </a:gridCol>
                <a:gridCol w="2460447">
                  <a:extLst>
                    <a:ext uri="{9D8B030D-6E8A-4147-A177-3AD203B41FA5}">
                      <a16:colId xmlns:a16="http://schemas.microsoft.com/office/drawing/2014/main" val="20001"/>
                    </a:ext>
                  </a:extLst>
                </a:gridCol>
                <a:gridCol w="2460447">
                  <a:extLst>
                    <a:ext uri="{9D8B030D-6E8A-4147-A177-3AD203B41FA5}">
                      <a16:colId xmlns:a16="http://schemas.microsoft.com/office/drawing/2014/main" val="20002"/>
                    </a:ext>
                  </a:extLst>
                </a:gridCol>
                <a:gridCol w="2460447">
                  <a:extLst>
                    <a:ext uri="{9D8B030D-6E8A-4147-A177-3AD203B41FA5}">
                      <a16:colId xmlns:a16="http://schemas.microsoft.com/office/drawing/2014/main" val="20003"/>
                    </a:ext>
                  </a:extLst>
                </a:gridCol>
              </a:tblGrid>
              <a:tr h="481744">
                <a:tc>
                  <a:txBody>
                    <a:bodyPr/>
                    <a:lstStyle/>
                    <a:p>
                      <a:pPr>
                        <a:buNone/>
                      </a:pPr>
                      <a:r>
                        <a:rPr lang="en-US" dirty="0"/>
                        <a:t>Protocol</a:t>
                      </a:r>
                    </a:p>
                    <a:p>
                      <a:pPr>
                        <a:buNone/>
                      </a:pPr>
                      <a:endParaRPr lang="en-US" dirty="0"/>
                    </a:p>
                  </a:txBody>
                  <a:tcPr anchor="ctr">
                    <a:lnL>
                      <a:noFill/>
                    </a:lnL>
                    <a:lnR>
                      <a:noFill/>
                    </a:lnR>
                    <a:lnT>
                      <a:noFill/>
                    </a:lnT>
                    <a:lnB>
                      <a:noFill/>
                    </a:lnB>
                    <a:noFill/>
                  </a:tcPr>
                </a:tc>
                <a:tc>
                  <a:txBody>
                    <a:bodyPr/>
                    <a:lstStyle/>
                    <a:p>
                      <a:pPr>
                        <a:buNone/>
                      </a:pPr>
                      <a:r>
                        <a:rPr lang="en-US" dirty="0"/>
                        <a:t>Type</a:t>
                      </a:r>
                    </a:p>
                    <a:p>
                      <a:pPr>
                        <a:buNone/>
                      </a:pPr>
                      <a:endParaRPr lang="en-US" dirty="0"/>
                    </a:p>
                  </a:txBody>
                  <a:tcPr anchor="ctr">
                    <a:lnL>
                      <a:noFill/>
                    </a:lnL>
                    <a:lnR>
                      <a:noFill/>
                    </a:lnR>
                    <a:lnT>
                      <a:noFill/>
                    </a:lnT>
                    <a:lnB>
                      <a:noFill/>
                    </a:lnB>
                    <a:noFill/>
                  </a:tcPr>
                </a:tc>
                <a:tc>
                  <a:txBody>
                    <a:bodyPr/>
                    <a:lstStyle/>
                    <a:p>
                      <a:pPr>
                        <a:buNone/>
                      </a:pPr>
                      <a:r>
                        <a:rPr lang="en-US" dirty="0"/>
                        <a:t>Security Level</a:t>
                      </a:r>
                    </a:p>
                    <a:p>
                      <a:pPr>
                        <a:buNone/>
                      </a:pPr>
                      <a:endParaRPr lang="en-US" dirty="0"/>
                    </a:p>
                  </a:txBody>
                  <a:tcPr anchor="ctr">
                    <a:lnL>
                      <a:noFill/>
                    </a:lnL>
                    <a:lnR>
                      <a:noFill/>
                    </a:lnR>
                    <a:lnT>
                      <a:noFill/>
                    </a:lnT>
                    <a:lnB>
                      <a:noFill/>
                    </a:lnB>
                    <a:noFill/>
                  </a:tcPr>
                </a:tc>
                <a:tc>
                  <a:txBody>
                    <a:bodyPr/>
                    <a:lstStyle/>
                    <a:p>
                      <a:pPr>
                        <a:buNone/>
                      </a:pPr>
                      <a:r>
                        <a:rPr lang="en-US" dirty="0"/>
                        <a:t>Why</a:t>
                      </a:r>
                    </a:p>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0000"/>
                  </a:ext>
                </a:extLst>
              </a:tr>
              <a:tr h="843051">
                <a:tc>
                  <a:txBody>
                    <a:bodyPr/>
                    <a:lstStyle/>
                    <a:p>
                      <a:pPr>
                        <a:buNone/>
                      </a:pPr>
                      <a:r>
                        <a:rPr lang="en-US"/>
                        <a:t>HTTP</a:t>
                      </a:r>
                    </a:p>
                  </a:txBody>
                  <a:tcPr anchor="ctr">
                    <a:lnL>
                      <a:noFill/>
                    </a:lnL>
                    <a:lnR>
                      <a:noFill/>
                    </a:lnR>
                    <a:lnT>
                      <a:noFill/>
                    </a:lnT>
                    <a:lnB>
                      <a:noFill/>
                    </a:lnB>
                    <a:noFill/>
                  </a:tcPr>
                </a:tc>
                <a:tc>
                  <a:txBody>
                    <a:bodyPr/>
                    <a:lstStyle/>
                    <a:p>
                      <a:pPr>
                        <a:buNone/>
                      </a:pPr>
                      <a:r>
                        <a:rPr lang="en-US"/>
                        <a:t>Insecure</a:t>
                      </a:r>
                    </a:p>
                  </a:txBody>
                  <a:tcPr anchor="ctr">
                    <a:lnL>
                      <a:noFill/>
                    </a:lnL>
                    <a:lnR>
                      <a:noFill/>
                    </a:lnR>
                    <a:lnT>
                      <a:noFill/>
                    </a:lnT>
                    <a:lnB>
                      <a:noFill/>
                    </a:lnB>
                    <a:noFill/>
                  </a:tcPr>
                </a:tc>
                <a:tc>
                  <a:txBody>
                    <a:bodyPr/>
                    <a:lstStyle/>
                    <a:p>
                      <a:pPr>
                        <a:buNone/>
                      </a:pPr>
                      <a:r>
                        <a:rPr lang="en-US" dirty="0"/>
                        <a:t>❌ Not safe</a:t>
                      </a:r>
                    </a:p>
                  </a:txBody>
                  <a:tcPr anchor="ctr">
                    <a:lnL>
                      <a:noFill/>
                    </a:lnL>
                    <a:lnR>
                      <a:noFill/>
                    </a:lnR>
                    <a:lnT>
                      <a:noFill/>
                    </a:lnT>
                    <a:lnB>
                      <a:noFill/>
                    </a:lnB>
                    <a:noFill/>
                  </a:tcPr>
                </a:tc>
                <a:tc>
                  <a:txBody>
                    <a:bodyPr/>
                    <a:lstStyle/>
                    <a:p>
                      <a:pPr>
                        <a:buNone/>
                      </a:pPr>
                      <a:r>
                        <a:rPr lang="en-US"/>
                        <a:t>Data is sent in plain text (can be intercepted)</a:t>
                      </a:r>
                    </a:p>
                  </a:txBody>
                  <a:tcPr anchor="ctr">
                    <a:lnL>
                      <a:noFill/>
                    </a:lnL>
                    <a:lnR>
                      <a:noFill/>
                    </a:lnR>
                    <a:lnT>
                      <a:noFill/>
                    </a:lnT>
                    <a:lnB>
                      <a:noFill/>
                    </a:lnB>
                    <a:noFill/>
                  </a:tcPr>
                </a:tc>
                <a:extLst>
                  <a:ext uri="{0D108BD9-81ED-4DB2-BD59-A6C34878D82A}">
                    <a16:rowId xmlns:a16="http://schemas.microsoft.com/office/drawing/2014/main" val="10001"/>
                  </a:ext>
                </a:extLst>
              </a:tr>
              <a:tr h="843051">
                <a:tc>
                  <a:txBody>
                    <a:bodyPr/>
                    <a:lstStyle/>
                    <a:p>
                      <a:pPr>
                        <a:buNone/>
                      </a:pPr>
                      <a:r>
                        <a:rPr lang="en-US"/>
                        <a:t>HTTPS</a:t>
                      </a:r>
                    </a:p>
                  </a:txBody>
                  <a:tcPr anchor="ctr">
                    <a:lnL>
                      <a:noFill/>
                    </a:lnL>
                    <a:lnR>
                      <a:noFill/>
                    </a:lnR>
                    <a:lnT>
                      <a:noFill/>
                    </a:lnT>
                    <a:lnB>
                      <a:noFill/>
                    </a:lnB>
                    <a:noFill/>
                  </a:tcPr>
                </a:tc>
                <a:tc>
                  <a:txBody>
                    <a:bodyPr/>
                    <a:lstStyle/>
                    <a:p>
                      <a:pPr>
                        <a:buNone/>
                      </a:pPr>
                      <a:r>
                        <a:rPr lang="en-US"/>
                        <a:t>Secure</a:t>
                      </a:r>
                    </a:p>
                  </a:txBody>
                  <a:tcPr anchor="ctr">
                    <a:lnL>
                      <a:noFill/>
                    </a:lnL>
                    <a:lnR>
                      <a:noFill/>
                    </a:lnR>
                    <a:lnT>
                      <a:noFill/>
                    </a:lnT>
                    <a:lnB>
                      <a:noFill/>
                    </a:lnB>
                    <a:noFill/>
                  </a:tcPr>
                </a:tc>
                <a:tc>
                  <a:txBody>
                    <a:bodyPr/>
                    <a:lstStyle/>
                    <a:p>
                      <a:pPr>
                        <a:buNone/>
                      </a:pPr>
                      <a:r>
                        <a:rPr lang="en-US" dirty="0"/>
                        <a:t>✅ Safe</a:t>
                      </a:r>
                    </a:p>
                  </a:txBody>
                  <a:tcPr anchor="ctr">
                    <a:lnL>
                      <a:noFill/>
                    </a:lnL>
                    <a:lnR>
                      <a:noFill/>
                    </a:lnR>
                    <a:lnT>
                      <a:noFill/>
                    </a:lnT>
                    <a:lnB>
                      <a:noFill/>
                    </a:lnB>
                    <a:noFill/>
                  </a:tcPr>
                </a:tc>
                <a:tc>
                  <a:txBody>
                    <a:bodyPr/>
                    <a:lstStyle/>
                    <a:p>
                      <a:pPr>
                        <a:buNone/>
                      </a:pPr>
                      <a:r>
                        <a:rPr lang="en-US" dirty="0"/>
                        <a:t>Data is encrypted using SSL/TLS</a:t>
                      </a:r>
                    </a:p>
                  </a:txBody>
                  <a:tcPr anchor="ctr">
                    <a:lnL>
                      <a:noFill/>
                    </a:lnL>
                    <a:lnR>
                      <a:noFill/>
                    </a:lnR>
                    <a:lnT>
                      <a:noFill/>
                    </a:lnT>
                    <a:lnB>
                      <a:noFill/>
                    </a:lnB>
                    <a:no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1295399" y="3113070"/>
          <a:ext cx="10026724" cy="2095931"/>
        </p:xfrm>
        <a:graphic>
          <a:graphicData uri="http://schemas.openxmlformats.org/drawingml/2006/table">
            <a:tbl>
              <a:tblPr/>
              <a:tblGrid>
                <a:gridCol w="2506681">
                  <a:extLst>
                    <a:ext uri="{9D8B030D-6E8A-4147-A177-3AD203B41FA5}">
                      <a16:colId xmlns:a16="http://schemas.microsoft.com/office/drawing/2014/main" val="20000"/>
                    </a:ext>
                  </a:extLst>
                </a:gridCol>
                <a:gridCol w="2506681">
                  <a:extLst>
                    <a:ext uri="{9D8B030D-6E8A-4147-A177-3AD203B41FA5}">
                      <a16:colId xmlns:a16="http://schemas.microsoft.com/office/drawing/2014/main" val="20001"/>
                    </a:ext>
                  </a:extLst>
                </a:gridCol>
                <a:gridCol w="2506681">
                  <a:extLst>
                    <a:ext uri="{9D8B030D-6E8A-4147-A177-3AD203B41FA5}">
                      <a16:colId xmlns:a16="http://schemas.microsoft.com/office/drawing/2014/main" val="20002"/>
                    </a:ext>
                  </a:extLst>
                </a:gridCol>
                <a:gridCol w="2506681">
                  <a:extLst>
                    <a:ext uri="{9D8B030D-6E8A-4147-A177-3AD203B41FA5}">
                      <a16:colId xmlns:a16="http://schemas.microsoft.com/office/drawing/2014/main" val="20003"/>
                    </a:ext>
                  </a:extLst>
                </a:gridCol>
              </a:tblGrid>
              <a:tr h="465763">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0000"/>
                  </a:ext>
                </a:extLst>
              </a:tr>
              <a:tr h="815084">
                <a:tc>
                  <a:txBody>
                    <a:bodyPr/>
                    <a:lstStyle/>
                    <a:p>
                      <a:pPr>
                        <a:buNone/>
                      </a:pPr>
                      <a:r>
                        <a:rPr lang="en-US"/>
                        <a:t>Telnet</a:t>
                      </a:r>
                    </a:p>
                  </a:txBody>
                  <a:tcPr anchor="ctr">
                    <a:lnL>
                      <a:noFill/>
                    </a:lnL>
                    <a:lnR>
                      <a:noFill/>
                    </a:lnR>
                    <a:lnT>
                      <a:noFill/>
                    </a:lnT>
                    <a:lnB>
                      <a:noFill/>
                    </a:lnB>
                    <a:noFill/>
                  </a:tcPr>
                </a:tc>
                <a:tc>
                  <a:txBody>
                    <a:bodyPr/>
                    <a:lstStyle/>
                    <a:p>
                      <a:pPr>
                        <a:buNone/>
                      </a:pPr>
                      <a:r>
                        <a:rPr lang="en-US" dirty="0"/>
                        <a:t>Insecure</a:t>
                      </a:r>
                    </a:p>
                  </a:txBody>
                  <a:tcPr anchor="ctr">
                    <a:lnL>
                      <a:noFill/>
                    </a:lnL>
                    <a:lnR>
                      <a:noFill/>
                    </a:lnR>
                    <a:lnT>
                      <a:noFill/>
                    </a:lnT>
                    <a:lnB>
                      <a:noFill/>
                    </a:lnB>
                    <a:noFill/>
                  </a:tcPr>
                </a:tc>
                <a:tc>
                  <a:txBody>
                    <a:bodyPr/>
                    <a:lstStyle/>
                    <a:p>
                      <a:pPr>
                        <a:buNone/>
                      </a:pPr>
                      <a:r>
                        <a:rPr lang="en-US"/>
                        <a:t>❌ Not safe</a:t>
                      </a:r>
                    </a:p>
                  </a:txBody>
                  <a:tcPr anchor="ctr">
                    <a:lnL>
                      <a:noFill/>
                    </a:lnL>
                    <a:lnR>
                      <a:noFill/>
                    </a:lnR>
                    <a:lnT>
                      <a:noFill/>
                    </a:lnT>
                    <a:lnB>
                      <a:noFill/>
                    </a:lnB>
                    <a:noFill/>
                  </a:tcPr>
                </a:tc>
                <a:tc>
                  <a:txBody>
                    <a:bodyPr/>
                    <a:lstStyle/>
                    <a:p>
                      <a:pPr>
                        <a:buNone/>
                      </a:pPr>
                      <a:r>
                        <a:rPr lang="en-US"/>
                        <a:t>Sends login details in plain text</a:t>
                      </a:r>
                    </a:p>
                  </a:txBody>
                  <a:tcPr anchor="ctr">
                    <a:lnL>
                      <a:noFill/>
                    </a:lnL>
                    <a:lnR>
                      <a:noFill/>
                    </a:lnR>
                    <a:lnT>
                      <a:noFill/>
                    </a:lnT>
                    <a:lnB>
                      <a:noFill/>
                    </a:lnB>
                    <a:noFill/>
                  </a:tcPr>
                </a:tc>
                <a:extLst>
                  <a:ext uri="{0D108BD9-81ED-4DB2-BD59-A6C34878D82A}">
                    <a16:rowId xmlns:a16="http://schemas.microsoft.com/office/drawing/2014/main" val="10001"/>
                  </a:ext>
                </a:extLst>
              </a:tr>
              <a:tr h="815084">
                <a:tc>
                  <a:txBody>
                    <a:bodyPr/>
                    <a:lstStyle/>
                    <a:p>
                      <a:pPr>
                        <a:buNone/>
                      </a:pPr>
                      <a:r>
                        <a:rPr lang="en-US"/>
                        <a:t>SSH</a:t>
                      </a:r>
                    </a:p>
                  </a:txBody>
                  <a:tcPr anchor="ctr">
                    <a:lnL>
                      <a:noFill/>
                    </a:lnL>
                    <a:lnR>
                      <a:noFill/>
                    </a:lnR>
                    <a:lnT>
                      <a:noFill/>
                    </a:lnT>
                    <a:lnB>
                      <a:noFill/>
                    </a:lnB>
                    <a:noFill/>
                  </a:tcPr>
                </a:tc>
                <a:tc>
                  <a:txBody>
                    <a:bodyPr/>
                    <a:lstStyle/>
                    <a:p>
                      <a:pPr>
                        <a:buNone/>
                      </a:pPr>
                      <a:r>
                        <a:rPr lang="en-US"/>
                        <a:t>Secure</a:t>
                      </a:r>
                    </a:p>
                  </a:txBody>
                  <a:tcPr anchor="ctr">
                    <a:lnL>
                      <a:noFill/>
                    </a:lnL>
                    <a:lnR>
                      <a:noFill/>
                    </a:lnR>
                    <a:lnT>
                      <a:noFill/>
                    </a:lnT>
                    <a:lnB>
                      <a:noFill/>
                    </a:lnB>
                    <a:noFill/>
                  </a:tcPr>
                </a:tc>
                <a:tc>
                  <a:txBody>
                    <a:bodyPr/>
                    <a:lstStyle/>
                    <a:p>
                      <a:pPr>
                        <a:buNone/>
                      </a:pPr>
                      <a:r>
                        <a:rPr lang="en-US"/>
                        <a:t>✅ Safe</a:t>
                      </a:r>
                    </a:p>
                  </a:txBody>
                  <a:tcPr anchor="ctr">
                    <a:lnL>
                      <a:noFill/>
                    </a:lnL>
                    <a:lnR>
                      <a:noFill/>
                    </a:lnR>
                    <a:lnT>
                      <a:noFill/>
                    </a:lnT>
                    <a:lnB>
                      <a:noFill/>
                    </a:lnB>
                    <a:noFill/>
                  </a:tcPr>
                </a:tc>
                <a:tc>
                  <a:txBody>
                    <a:bodyPr/>
                    <a:lstStyle/>
                    <a:p>
                      <a:pPr>
                        <a:buNone/>
                      </a:pPr>
                      <a:r>
                        <a:rPr lang="en-US" dirty="0"/>
                        <a:t>Encrypts all remote login communication</a:t>
                      </a:r>
                    </a:p>
                  </a:txBody>
                  <a:tcPr anchor="ctr">
                    <a:lnL>
                      <a:noFill/>
                    </a:lnL>
                    <a:lnR>
                      <a:noFill/>
                    </a:lnR>
                    <a:lnT>
                      <a:noFill/>
                    </a:lnT>
                    <a:lnB>
                      <a:noFill/>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102045" cy="517895"/>
          </a:xfrm>
        </p:spPr>
        <p:txBody>
          <a:bodyPr>
            <a:normAutofit fontScale="90000"/>
          </a:bodyPr>
          <a:lstStyle/>
          <a:p>
            <a:r>
              <a:rPr lang="en-US" b="1" dirty="0"/>
              <a:t>Simple Explanation</a:t>
            </a:r>
            <a:br>
              <a:rPr lang="en-US" b="1" dirty="0"/>
            </a:br>
            <a:endParaRPr lang="en-US" dirty="0"/>
          </a:p>
        </p:txBody>
      </p:sp>
      <p:sp>
        <p:nvSpPr>
          <p:cNvPr id="3" name="Content Placeholder 2"/>
          <p:cNvSpPr>
            <a:spLocks noGrp="1"/>
          </p:cNvSpPr>
          <p:nvPr>
            <p:ph idx="1"/>
          </p:nvPr>
        </p:nvSpPr>
        <p:spPr>
          <a:xfrm>
            <a:off x="1295401" y="1633591"/>
            <a:ext cx="9601196" cy="4242277"/>
          </a:xfrm>
        </p:spPr>
        <p:txBody>
          <a:bodyPr/>
          <a:lstStyle/>
          <a:p>
            <a:r>
              <a:rPr lang="en-US" b="1" dirty="0"/>
              <a:t>HTTP</a:t>
            </a:r>
            <a:r>
              <a:rPr lang="en-US" dirty="0"/>
              <a:t> = shouting your message in the open market at Enugu</a:t>
            </a:r>
            <a:br>
              <a:rPr lang="en-US" dirty="0"/>
            </a:br>
            <a:r>
              <a:rPr lang="en-US" dirty="0"/>
              <a:t>👉 Anyone nearby can hear it </a:t>
            </a:r>
          </a:p>
          <a:p>
            <a:r>
              <a:rPr lang="en-US" b="1" dirty="0"/>
              <a:t>HTTPS</a:t>
            </a:r>
            <a:r>
              <a:rPr lang="en-US" dirty="0"/>
              <a:t> = whispering inside a locked room</a:t>
            </a:r>
            <a:br>
              <a:rPr lang="en-US" dirty="0"/>
            </a:br>
            <a:r>
              <a:rPr lang="en-US" dirty="0"/>
              <a:t>👉 Only the intended website understands it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6" name="Rectangle 3"/>
          <p:cNvSpPr>
            <a:spLocks noChangeArrowheads="1"/>
          </p:cNvSpPr>
          <p:nvPr/>
        </p:nvSpPr>
        <p:spPr bwMode="auto">
          <a:xfrm>
            <a:off x="1407559" y="3678957"/>
            <a:ext cx="948903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Telnet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entering a building with no gate or security</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Anyone can see your password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SSH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 entering with fingerprint + locked door</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Everything is hidden and protected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141" y="1701323"/>
            <a:ext cx="9509587" cy="384331"/>
          </a:xfrm>
        </p:spPr>
        <p:txBody>
          <a:bodyPr>
            <a:normAutofit fontScale="90000"/>
          </a:bodyPr>
          <a:lstStyle/>
          <a:p>
            <a:r>
              <a:rPr lang="en-US" b="1" dirty="0"/>
              <a:t>What is Encryption?</a:t>
            </a:r>
            <a:br>
              <a:rPr lang="en-US" b="1" dirty="0"/>
            </a:br>
            <a:endParaRPr lang="en-US" dirty="0"/>
          </a:p>
        </p:txBody>
      </p:sp>
      <p:sp>
        <p:nvSpPr>
          <p:cNvPr id="3" name="Content Placeholder 2"/>
          <p:cNvSpPr>
            <a:spLocks noGrp="1"/>
          </p:cNvSpPr>
          <p:nvPr>
            <p:ph idx="1"/>
          </p:nvPr>
        </p:nvSpPr>
        <p:spPr>
          <a:xfrm>
            <a:off x="2044557" y="2517168"/>
            <a:ext cx="8852040" cy="3606229"/>
          </a:xfrm>
        </p:spPr>
        <p:txBody>
          <a:bodyPr>
            <a:normAutofit/>
          </a:bodyPr>
          <a:lstStyle/>
          <a:p>
            <a:r>
              <a:rPr lang="en-US" dirty="0"/>
              <a:t>Encryption is the </a:t>
            </a:r>
            <a:r>
              <a:rPr lang="en-US" b="1" dirty="0"/>
              <a:t>foundation of security</a:t>
            </a:r>
            <a:r>
              <a:rPr lang="en-US" dirty="0"/>
              <a:t>.</a:t>
            </a:r>
          </a:p>
          <a:p>
            <a:r>
              <a:rPr lang="en-US" dirty="0"/>
              <a:t>👉 It means converting readable data into unreadable code.</a:t>
            </a:r>
          </a:p>
          <a:p>
            <a:r>
              <a:rPr lang="en-US" b="1" dirty="0"/>
              <a:t>     Example:</a:t>
            </a:r>
          </a:p>
          <a:p>
            <a:r>
              <a:rPr lang="en-US" dirty="0"/>
              <a:t>Normal message: “Send ₦5000” </a:t>
            </a:r>
          </a:p>
          <a:p>
            <a:r>
              <a:rPr lang="en-US" dirty="0"/>
              <a:t>Encrypted message: “X9#kL2@pQ!” </a:t>
            </a:r>
          </a:p>
          <a:p>
            <a:r>
              <a:rPr lang="en-US" dirty="0"/>
              <a:t>Only the receiver with the correct “key” can decode it.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1254" y="982133"/>
            <a:ext cx="9725344" cy="877490"/>
          </a:xfrm>
        </p:spPr>
        <p:txBody>
          <a:bodyPr>
            <a:normAutofit fontScale="90000"/>
          </a:bodyPr>
          <a:lstStyle/>
          <a:p>
            <a:r>
              <a:rPr lang="en-US" dirty="0"/>
              <a:t>5A Create a comparison table for IPv4 , IPv6 showing:</a:t>
            </a:r>
            <a:br>
              <a:rPr lang="en-US" dirty="0"/>
            </a:br>
            <a:endParaRPr lang="en-US" dirty="0"/>
          </a:p>
        </p:txBody>
      </p:sp>
      <p:sp>
        <p:nvSpPr>
          <p:cNvPr id="3" name="Content Placeholder 2"/>
          <p:cNvSpPr>
            <a:spLocks noGrp="1"/>
          </p:cNvSpPr>
          <p:nvPr>
            <p:ph idx="1"/>
          </p:nvPr>
        </p:nvSpPr>
        <p:spPr>
          <a:xfrm>
            <a:off x="4130211" y="2556932"/>
            <a:ext cx="3082247" cy="3318936"/>
          </a:xfrm>
        </p:spPr>
        <p:txBody>
          <a:bodyPr>
            <a:normAutofit/>
          </a:bodyPr>
          <a:lstStyle/>
          <a:p>
            <a:endParaRPr lang="en-US" dirty="0"/>
          </a:p>
          <a:p>
            <a:r>
              <a:rPr lang="en-US" dirty="0"/>
              <a:t>Address format</a:t>
            </a:r>
          </a:p>
          <a:p>
            <a:r>
              <a:rPr lang="en-US" dirty="0"/>
              <a:t>Length</a:t>
            </a:r>
          </a:p>
          <a:p>
            <a:r>
              <a:rPr lang="en-US" dirty="0"/>
              <a:t>Example</a:t>
            </a:r>
          </a:p>
          <a:p>
            <a:r>
              <a:rPr lang="en-US" dirty="0"/>
              <a:t>Advantages</a:t>
            </a:r>
          </a:p>
          <a:p>
            <a:r>
              <a:rPr lang="en-US" dirty="0"/>
              <a:t>Limitations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295400" y="801384"/>
          <a:ext cx="9601200" cy="5062799"/>
        </p:xfrm>
        <a:graphic>
          <a:graphicData uri="http://schemas.openxmlformats.org/drawingml/2006/table">
            <a:tbl>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638215">
                <a:tc>
                  <a:txBody>
                    <a:bodyPr/>
                    <a:lstStyle/>
                    <a:p>
                      <a:pPr>
                        <a:buNone/>
                      </a:pPr>
                      <a:r>
                        <a:rPr lang="en-US" dirty="0"/>
                        <a:t>Feature</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IPv4</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IPv6</a:t>
                      </a:r>
                    </a:p>
                    <a:p>
                      <a:pPr>
                        <a:buNone/>
                      </a:pPr>
                      <a:endParaRPr lang="en-US" dirty="0"/>
                    </a:p>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0000"/>
                  </a:ext>
                </a:extLst>
              </a:tr>
              <a:tr h="638215">
                <a:tc>
                  <a:txBody>
                    <a:bodyPr/>
                    <a:lstStyle/>
                    <a:p>
                      <a:pPr>
                        <a:buNone/>
                      </a:pPr>
                      <a:r>
                        <a:rPr lang="en-US"/>
                        <a:t>Address Format</a:t>
                      </a:r>
                    </a:p>
                  </a:txBody>
                  <a:tcPr anchor="ctr">
                    <a:lnL>
                      <a:noFill/>
                    </a:lnL>
                    <a:lnR>
                      <a:noFill/>
                    </a:lnR>
                    <a:lnT>
                      <a:noFill/>
                    </a:lnT>
                    <a:lnB>
                      <a:noFill/>
                    </a:lnB>
                    <a:noFill/>
                  </a:tcPr>
                </a:tc>
                <a:tc>
                  <a:txBody>
                    <a:bodyPr/>
                    <a:lstStyle/>
                    <a:p>
                      <a:pPr>
                        <a:buNone/>
                      </a:pPr>
                      <a:r>
                        <a:rPr lang="en-US"/>
                        <a:t>Numeric dotted decimal</a:t>
                      </a:r>
                    </a:p>
                  </a:txBody>
                  <a:tcPr anchor="ctr">
                    <a:lnL>
                      <a:noFill/>
                    </a:lnL>
                    <a:lnR>
                      <a:noFill/>
                    </a:lnR>
                    <a:lnT>
                      <a:noFill/>
                    </a:lnT>
                    <a:lnB>
                      <a:noFill/>
                    </a:lnB>
                    <a:noFill/>
                  </a:tcPr>
                </a:tc>
                <a:tc>
                  <a:txBody>
                    <a:bodyPr/>
                    <a:lstStyle/>
                    <a:p>
                      <a:pPr>
                        <a:buNone/>
                      </a:pPr>
                      <a:r>
                        <a:rPr lang="en-US"/>
                        <a:t>Hexadecimal separated by colons</a:t>
                      </a:r>
                    </a:p>
                  </a:txBody>
                  <a:tcPr anchor="ctr">
                    <a:lnL>
                      <a:noFill/>
                    </a:lnL>
                    <a:lnR>
                      <a:noFill/>
                    </a:lnR>
                    <a:lnT>
                      <a:noFill/>
                    </a:lnT>
                    <a:lnB>
                      <a:noFill/>
                    </a:lnB>
                    <a:noFill/>
                  </a:tcPr>
                </a:tc>
                <a:extLst>
                  <a:ext uri="{0D108BD9-81ED-4DB2-BD59-A6C34878D82A}">
                    <a16:rowId xmlns:a16="http://schemas.microsoft.com/office/drawing/2014/main" val="10001"/>
                  </a:ext>
                </a:extLst>
              </a:tr>
              <a:tr h="638215">
                <a:tc>
                  <a:txBody>
                    <a:bodyPr/>
                    <a:lstStyle/>
                    <a:p>
                      <a:pPr>
                        <a:buNone/>
                      </a:pPr>
                      <a:r>
                        <a:rPr lang="en-US"/>
                        <a:t>Length</a:t>
                      </a:r>
                    </a:p>
                  </a:txBody>
                  <a:tcPr anchor="ctr">
                    <a:lnL>
                      <a:noFill/>
                    </a:lnL>
                    <a:lnR>
                      <a:noFill/>
                    </a:lnR>
                    <a:lnT>
                      <a:noFill/>
                    </a:lnT>
                    <a:lnB>
                      <a:noFill/>
                    </a:lnB>
                    <a:noFill/>
                  </a:tcPr>
                </a:tc>
                <a:tc>
                  <a:txBody>
                    <a:bodyPr/>
                    <a:lstStyle/>
                    <a:p>
                      <a:pPr>
                        <a:buNone/>
                      </a:pPr>
                      <a:r>
                        <a:rPr lang="en-US"/>
                        <a:t>32-bit</a:t>
                      </a:r>
                    </a:p>
                  </a:txBody>
                  <a:tcPr anchor="ctr">
                    <a:lnL>
                      <a:noFill/>
                    </a:lnL>
                    <a:lnR>
                      <a:noFill/>
                    </a:lnR>
                    <a:lnT>
                      <a:noFill/>
                    </a:lnT>
                    <a:lnB>
                      <a:noFill/>
                    </a:lnB>
                    <a:noFill/>
                  </a:tcPr>
                </a:tc>
                <a:tc>
                  <a:txBody>
                    <a:bodyPr/>
                    <a:lstStyle/>
                    <a:p>
                      <a:pPr>
                        <a:buNone/>
                      </a:pPr>
                      <a:r>
                        <a:rPr lang="en-US"/>
                        <a:t>128-bit</a:t>
                      </a:r>
                    </a:p>
                  </a:txBody>
                  <a:tcPr anchor="ctr">
                    <a:lnL>
                      <a:noFill/>
                    </a:lnL>
                    <a:lnR>
                      <a:noFill/>
                    </a:lnR>
                    <a:lnT>
                      <a:noFill/>
                    </a:lnT>
                    <a:lnB>
                      <a:noFill/>
                    </a:lnB>
                    <a:noFill/>
                  </a:tcPr>
                </a:tc>
                <a:extLst>
                  <a:ext uri="{0D108BD9-81ED-4DB2-BD59-A6C34878D82A}">
                    <a16:rowId xmlns:a16="http://schemas.microsoft.com/office/drawing/2014/main" val="10002"/>
                  </a:ext>
                </a:extLst>
              </a:tr>
              <a:tr h="638215">
                <a:tc>
                  <a:txBody>
                    <a:bodyPr/>
                    <a:lstStyle/>
                    <a:p>
                      <a:pPr>
                        <a:buNone/>
                      </a:pPr>
                      <a:r>
                        <a:rPr lang="en-US"/>
                        <a:t>Example</a:t>
                      </a:r>
                    </a:p>
                  </a:txBody>
                  <a:tcPr anchor="ctr">
                    <a:lnL>
                      <a:noFill/>
                    </a:lnL>
                    <a:lnR>
                      <a:noFill/>
                    </a:lnR>
                    <a:lnT>
                      <a:noFill/>
                    </a:lnT>
                    <a:lnB>
                      <a:noFill/>
                    </a:lnB>
                    <a:noFill/>
                  </a:tcPr>
                </a:tc>
                <a:tc>
                  <a:txBody>
                    <a:bodyPr/>
                    <a:lstStyle/>
                    <a:p>
                      <a:pPr>
                        <a:buNone/>
                      </a:pPr>
                      <a:r>
                        <a:rPr lang="en-US"/>
                        <a:t>192.168.1.1</a:t>
                      </a:r>
                    </a:p>
                  </a:txBody>
                  <a:tcPr anchor="ctr">
                    <a:lnL>
                      <a:noFill/>
                    </a:lnL>
                    <a:lnR>
                      <a:noFill/>
                    </a:lnR>
                    <a:lnT>
                      <a:noFill/>
                    </a:lnT>
                    <a:lnB>
                      <a:noFill/>
                    </a:lnB>
                    <a:noFill/>
                  </a:tcPr>
                </a:tc>
                <a:tc>
                  <a:txBody>
                    <a:bodyPr/>
                    <a:lstStyle/>
                    <a:p>
                      <a:pPr>
                        <a:buNone/>
                      </a:pPr>
                      <a:r>
                        <a:rPr lang="en-US"/>
                        <a:t>2001:0db8:85a3::8a2e:0370:7334</a:t>
                      </a:r>
                    </a:p>
                  </a:txBody>
                  <a:tcPr anchor="ctr">
                    <a:lnL>
                      <a:noFill/>
                    </a:lnL>
                    <a:lnR>
                      <a:noFill/>
                    </a:lnR>
                    <a:lnT>
                      <a:noFill/>
                    </a:lnT>
                    <a:lnB>
                      <a:noFill/>
                    </a:lnB>
                    <a:noFill/>
                  </a:tcPr>
                </a:tc>
                <a:extLst>
                  <a:ext uri="{0D108BD9-81ED-4DB2-BD59-A6C34878D82A}">
                    <a16:rowId xmlns:a16="http://schemas.microsoft.com/office/drawing/2014/main" val="10003"/>
                  </a:ext>
                </a:extLst>
              </a:tr>
              <a:tr h="1116877">
                <a:tc>
                  <a:txBody>
                    <a:bodyPr/>
                    <a:lstStyle/>
                    <a:p>
                      <a:pPr>
                        <a:buNone/>
                      </a:pPr>
                      <a:r>
                        <a:rPr lang="en-US"/>
                        <a:t>Advantages</a:t>
                      </a:r>
                    </a:p>
                  </a:txBody>
                  <a:tcPr anchor="ctr">
                    <a:lnL>
                      <a:noFill/>
                    </a:lnL>
                    <a:lnR>
                      <a:noFill/>
                    </a:lnR>
                    <a:lnT>
                      <a:noFill/>
                    </a:lnT>
                    <a:lnB>
                      <a:noFill/>
                    </a:lnB>
                    <a:noFill/>
                  </a:tcPr>
                </a:tc>
                <a:tc>
                  <a:txBody>
                    <a:bodyPr/>
                    <a:lstStyle/>
                    <a:p>
                      <a:pPr>
                        <a:buNone/>
                      </a:pPr>
                      <a:r>
                        <a:rPr lang="en-US"/>
                        <a:t>Simple, widely used, compatible with most systems</a:t>
                      </a:r>
                    </a:p>
                  </a:txBody>
                  <a:tcPr anchor="ctr">
                    <a:lnL>
                      <a:noFill/>
                    </a:lnL>
                    <a:lnR>
                      <a:noFill/>
                    </a:lnR>
                    <a:lnT>
                      <a:noFill/>
                    </a:lnT>
                    <a:lnB>
                      <a:noFill/>
                    </a:lnB>
                    <a:noFill/>
                  </a:tcPr>
                </a:tc>
                <a:tc>
                  <a:txBody>
                    <a:bodyPr/>
                    <a:lstStyle/>
                    <a:p>
                      <a:pPr>
                        <a:buNone/>
                      </a:pPr>
                      <a:r>
                        <a:rPr lang="en-US"/>
                        <a:t>Huge address space, faster routing, better security</a:t>
                      </a:r>
                    </a:p>
                  </a:txBody>
                  <a:tcPr anchor="ctr">
                    <a:lnL>
                      <a:noFill/>
                    </a:lnL>
                    <a:lnR>
                      <a:noFill/>
                    </a:lnR>
                    <a:lnT>
                      <a:noFill/>
                    </a:lnT>
                    <a:lnB>
                      <a:noFill/>
                    </a:lnB>
                    <a:noFill/>
                  </a:tcPr>
                </a:tc>
                <a:extLst>
                  <a:ext uri="{0D108BD9-81ED-4DB2-BD59-A6C34878D82A}">
                    <a16:rowId xmlns:a16="http://schemas.microsoft.com/office/drawing/2014/main" val="10004"/>
                  </a:ext>
                </a:extLst>
              </a:tr>
              <a:tr h="1116877">
                <a:tc>
                  <a:txBody>
                    <a:bodyPr/>
                    <a:lstStyle/>
                    <a:p>
                      <a:pPr>
                        <a:buNone/>
                      </a:pPr>
                      <a:r>
                        <a:rPr lang="en-US"/>
                        <a:t>Limitations</a:t>
                      </a:r>
                    </a:p>
                  </a:txBody>
                  <a:tcPr anchor="ctr">
                    <a:lnL>
                      <a:noFill/>
                    </a:lnL>
                    <a:lnR>
                      <a:noFill/>
                    </a:lnR>
                    <a:lnT>
                      <a:noFill/>
                    </a:lnT>
                    <a:lnB>
                      <a:noFill/>
                    </a:lnB>
                    <a:noFill/>
                  </a:tcPr>
                </a:tc>
                <a:tc>
                  <a:txBody>
                    <a:bodyPr/>
                    <a:lstStyle/>
                    <a:p>
                      <a:pPr>
                        <a:buNone/>
                      </a:pPr>
                      <a:r>
                        <a:rPr lang="en-US"/>
                        <a:t>Limited addresses, NAT required, running out of IPs</a:t>
                      </a:r>
                    </a:p>
                  </a:txBody>
                  <a:tcPr anchor="ctr">
                    <a:lnL>
                      <a:noFill/>
                    </a:lnL>
                    <a:lnR>
                      <a:noFill/>
                    </a:lnR>
                    <a:lnT>
                      <a:noFill/>
                    </a:lnT>
                    <a:lnB>
                      <a:noFill/>
                    </a:lnB>
                    <a:noFill/>
                  </a:tcPr>
                </a:tc>
                <a:tc>
                  <a:txBody>
                    <a:bodyPr/>
                    <a:lstStyle/>
                    <a:p>
                      <a:pPr>
                        <a:buNone/>
                      </a:pPr>
                      <a:r>
                        <a:rPr lang="en-US" dirty="0"/>
                        <a:t>More complex, not fully supported in older systems</a:t>
                      </a:r>
                    </a:p>
                  </a:txBody>
                  <a:tcPr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7010" y="982133"/>
            <a:ext cx="9509587" cy="353508"/>
          </a:xfrm>
        </p:spPr>
        <p:txBody>
          <a:bodyPr>
            <a:normAutofit fontScale="90000"/>
          </a:bodyPr>
          <a:lstStyle/>
          <a:p>
            <a:r>
              <a:rPr lang="en-US" b="1" dirty="0"/>
              <a:t>Simple Understanding</a:t>
            </a:r>
            <a:br>
              <a:rPr lang="en-US" b="1" dirty="0"/>
            </a:br>
            <a:endParaRPr lang="en-US" dirty="0"/>
          </a:p>
        </p:txBody>
      </p:sp>
      <p:sp>
        <p:nvSpPr>
          <p:cNvPr id="3" name="Content Placeholder 2"/>
          <p:cNvSpPr>
            <a:spLocks noGrp="1"/>
          </p:cNvSpPr>
          <p:nvPr>
            <p:ph idx="1"/>
          </p:nvPr>
        </p:nvSpPr>
        <p:spPr>
          <a:xfrm>
            <a:off x="1131013" y="1438382"/>
            <a:ext cx="10324671" cy="4756935"/>
          </a:xfrm>
        </p:spPr>
        <p:txBody>
          <a:bodyPr>
            <a:normAutofit fontScale="70000" lnSpcReduction="20000"/>
          </a:bodyPr>
          <a:lstStyle/>
          <a:p>
            <a:r>
              <a:rPr lang="en-US" dirty="0"/>
              <a:t>Think of IP addresses like house numbers in Enugu:</a:t>
            </a:r>
          </a:p>
          <a:p>
            <a:pPr marL="0" indent="0">
              <a:buNone/>
            </a:pPr>
            <a:r>
              <a:rPr lang="en-US" b="1" dirty="0"/>
              <a:t>🏠 IPv4</a:t>
            </a:r>
          </a:p>
          <a:p>
            <a:r>
              <a:rPr lang="en-US" dirty="0"/>
              <a:t>Like old Enugu streets with </a:t>
            </a:r>
            <a:r>
              <a:rPr lang="en-US" b="1" dirty="0"/>
              <a:t>limited house numbers</a:t>
            </a:r>
            <a:r>
              <a:rPr lang="en-US" dirty="0"/>
              <a:t> </a:t>
            </a:r>
          </a:p>
          <a:p>
            <a:r>
              <a:rPr lang="en-US" dirty="0"/>
              <a:t>Eventually, houses run out of numbers </a:t>
            </a:r>
          </a:p>
          <a:p>
            <a:r>
              <a:rPr lang="en-US" dirty="0"/>
              <a:t>People start sharing addresses (NAT problem) </a:t>
            </a:r>
          </a:p>
          <a:p>
            <a:pPr marL="0" indent="0">
              <a:buNone/>
            </a:pPr>
            <a:r>
              <a:rPr lang="en-US" b="1" dirty="0"/>
              <a:t>🏙️ IPv6</a:t>
            </a:r>
          </a:p>
          <a:p>
            <a:r>
              <a:rPr lang="en-US" dirty="0"/>
              <a:t>Like a modern city expansion plan </a:t>
            </a:r>
          </a:p>
          <a:p>
            <a:r>
              <a:rPr lang="en-US" dirty="0"/>
              <a:t>Unlimited house numbering system </a:t>
            </a:r>
          </a:p>
          <a:p>
            <a:r>
              <a:rPr lang="en-US" dirty="0"/>
              <a:t>Every device gets its own unique address </a:t>
            </a:r>
          </a:p>
          <a:p>
            <a:pPr marL="0" indent="0">
              <a:buNone/>
            </a:pPr>
            <a:br>
              <a:rPr lang="en-US" dirty="0"/>
            </a:br>
            <a:endParaRPr lang="en-US" dirty="0"/>
          </a:p>
          <a:p>
            <a:pPr marL="0" indent="0">
              <a:buNone/>
            </a:pPr>
            <a:r>
              <a:rPr lang="en-US" b="1" dirty="0"/>
              <a:t>In essence</a:t>
            </a:r>
          </a:p>
          <a:p>
            <a:r>
              <a:rPr lang="en-US" dirty="0"/>
              <a:t>IPv4 = “Old system, limited space” </a:t>
            </a:r>
          </a:p>
          <a:p>
            <a:r>
              <a:rPr lang="en-US" dirty="0"/>
              <a:t>IPv6 = “Modern upgrade, massive expansion”</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1124" y="982132"/>
            <a:ext cx="9355474" cy="374057"/>
          </a:xfrm>
        </p:spPr>
        <p:txBody>
          <a:bodyPr>
            <a:normAutofit fontScale="90000"/>
          </a:bodyPr>
          <a:lstStyle/>
          <a:p>
            <a:r>
              <a:rPr lang="en-US" dirty="0"/>
              <a:t>5B.Identify the following;</a:t>
            </a:r>
            <a:br>
              <a:rPr lang="en-US" dirty="0"/>
            </a:br>
            <a:endParaRPr lang="en-US" dirty="0"/>
          </a:p>
        </p:txBody>
      </p:sp>
      <p:sp>
        <p:nvSpPr>
          <p:cNvPr id="3" name="Content Placeholder 2"/>
          <p:cNvSpPr>
            <a:spLocks noGrp="1"/>
          </p:cNvSpPr>
          <p:nvPr>
            <p:ph idx="1"/>
          </p:nvPr>
        </p:nvSpPr>
        <p:spPr>
          <a:xfrm>
            <a:off x="2866489" y="2556932"/>
            <a:ext cx="8030107" cy="3318936"/>
          </a:xfrm>
        </p:spPr>
        <p:txBody>
          <a:bodyPr/>
          <a:lstStyle/>
          <a:p>
            <a:endParaRPr lang="en-US" dirty="0"/>
          </a:p>
          <a:p>
            <a:r>
              <a:rPr lang="en-US" dirty="0"/>
              <a:t>your private IP address.</a:t>
            </a:r>
          </a:p>
          <a:p>
            <a:r>
              <a:rPr lang="en-US" dirty="0"/>
              <a:t>your public IP address and</a:t>
            </a:r>
          </a:p>
          <a:p>
            <a:r>
              <a:rPr lang="en-US" dirty="0"/>
              <a:t>Explain the role of NAT.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3590" y="982132"/>
            <a:ext cx="9263007" cy="230219"/>
          </a:xfrm>
        </p:spPr>
        <p:txBody>
          <a:bodyPr>
            <a:normAutofit fontScale="90000"/>
          </a:bodyPr>
          <a:lstStyle/>
          <a:p>
            <a:r>
              <a:rPr lang="en-US" b="1" dirty="0"/>
              <a:t>1. Your Private IP Address</a:t>
            </a:r>
            <a:br>
              <a:rPr lang="en-US" b="1" dirty="0"/>
            </a:br>
            <a:endParaRPr lang="en-US" dirty="0"/>
          </a:p>
        </p:txBody>
      </p:sp>
      <p:sp>
        <p:nvSpPr>
          <p:cNvPr id="3" name="Content Placeholder 2"/>
          <p:cNvSpPr>
            <a:spLocks noGrp="1"/>
          </p:cNvSpPr>
          <p:nvPr>
            <p:ph idx="1"/>
          </p:nvPr>
        </p:nvSpPr>
        <p:spPr>
          <a:xfrm>
            <a:off x="1295401" y="1417834"/>
            <a:ext cx="9601196" cy="4458034"/>
          </a:xfrm>
        </p:spPr>
        <p:txBody>
          <a:bodyPr>
            <a:normAutofit/>
          </a:bodyPr>
          <a:lstStyle/>
          <a:p>
            <a:r>
              <a:rPr lang="en-US" dirty="0"/>
              <a:t>A </a:t>
            </a:r>
            <a:r>
              <a:rPr lang="en-US" b="1" dirty="0"/>
              <a:t>private IP address</a:t>
            </a:r>
            <a:r>
              <a:rPr lang="en-US" dirty="0"/>
              <a:t> is the address your device gets inside your local network (home Wi-Fi, office network, hotspot).</a:t>
            </a:r>
          </a:p>
          <a:p>
            <a:r>
              <a:rPr lang="en-US" b="1" dirty="0"/>
              <a:t>📌 Example formats:</a:t>
            </a:r>
          </a:p>
          <a:p>
            <a:r>
              <a:rPr lang="en-US" dirty="0"/>
              <a:t>192.168.x.x </a:t>
            </a:r>
          </a:p>
          <a:p>
            <a:r>
              <a:rPr lang="en-US" dirty="0"/>
              <a:t>10.x.x.x </a:t>
            </a:r>
          </a:p>
          <a:p>
            <a:r>
              <a:rPr lang="en-US" dirty="0"/>
              <a:t>172.16.x.x – 172.31.x.x </a:t>
            </a:r>
          </a:p>
          <a:p>
            <a:pPr marL="0" indent="0">
              <a:buNone/>
            </a:pPr>
            <a:r>
              <a:rPr lang="en-US" b="1" dirty="0"/>
              <a:t> Meaning:</a:t>
            </a:r>
          </a:p>
          <a:p>
            <a:r>
              <a:rPr lang="en-US" dirty="0"/>
              <a:t>It is </a:t>
            </a:r>
            <a:r>
              <a:rPr lang="en-US" b="1" dirty="0"/>
              <a:t>only visible inside your network</a:t>
            </a:r>
            <a:r>
              <a:rPr lang="en-US" dirty="0"/>
              <a:t>, not on the internet.</a:t>
            </a:r>
          </a:p>
          <a:p>
            <a:pPr marL="0" indent="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3734" y="982132"/>
            <a:ext cx="8882863" cy="45719"/>
          </a:xfrm>
        </p:spPr>
        <p:txBody>
          <a:bodyPr>
            <a:normAutofit fontScale="90000"/>
          </a:bodyPr>
          <a:lstStyle/>
          <a:p>
            <a:r>
              <a:rPr lang="en-US" b="1" dirty="0"/>
              <a:t>2. Your Public IP Address</a:t>
            </a:r>
            <a:endParaRPr lang="en-US" dirty="0"/>
          </a:p>
        </p:txBody>
      </p:sp>
      <p:sp>
        <p:nvSpPr>
          <p:cNvPr id="3" name="Content Placeholder 2"/>
          <p:cNvSpPr>
            <a:spLocks noGrp="1"/>
          </p:cNvSpPr>
          <p:nvPr>
            <p:ph idx="1"/>
          </p:nvPr>
        </p:nvSpPr>
        <p:spPr>
          <a:xfrm>
            <a:off x="1295401" y="1315092"/>
            <a:ext cx="9601196" cy="4560776"/>
          </a:xfrm>
        </p:spPr>
        <p:txBody>
          <a:bodyPr>
            <a:normAutofit lnSpcReduction="10000"/>
          </a:bodyPr>
          <a:lstStyle/>
          <a:p>
            <a:endParaRPr lang="en-US" b="1" dirty="0"/>
          </a:p>
          <a:p>
            <a:r>
              <a:rPr lang="en-US" dirty="0"/>
              <a:t>A </a:t>
            </a:r>
            <a:r>
              <a:rPr lang="en-US" b="1" dirty="0"/>
              <a:t>public IP address</a:t>
            </a:r>
            <a:r>
              <a:rPr lang="en-US" dirty="0"/>
              <a:t> is the address given to your router by your Internet Service Provider.</a:t>
            </a:r>
          </a:p>
          <a:p>
            <a:r>
              <a:rPr lang="en-US" b="1" dirty="0"/>
              <a:t>📌 Example:</a:t>
            </a:r>
          </a:p>
          <a:p>
            <a:r>
              <a:rPr lang="en-US" dirty="0"/>
              <a:t>102.89.45.12 </a:t>
            </a:r>
          </a:p>
          <a:p>
            <a:r>
              <a:rPr lang="en-US" dirty="0"/>
              <a:t>197.210.123.44 </a:t>
            </a:r>
          </a:p>
          <a:p>
            <a:pPr marL="0" indent="0">
              <a:buNone/>
            </a:pPr>
            <a:r>
              <a:rPr lang="en-US" b="1" dirty="0"/>
              <a:t>Meaning:</a:t>
            </a:r>
          </a:p>
          <a:p>
            <a:r>
              <a:rPr lang="en-US" dirty="0"/>
              <a:t>This is what the </a:t>
            </a:r>
            <a:r>
              <a:rPr lang="en-US" b="1" dirty="0"/>
              <a:t>entire internet sees you as</a:t>
            </a:r>
            <a:r>
              <a:rPr lang="en-US" dirty="0"/>
              <a:t>.</a:t>
            </a:r>
          </a:p>
          <a:p>
            <a:r>
              <a:rPr lang="en-US" dirty="0"/>
              <a:t>👉 So if you open Google in Enugu, Google does NOT see your phone IP</a:t>
            </a:r>
            <a:br>
              <a:rPr lang="en-US" dirty="0"/>
            </a:br>
            <a:r>
              <a:rPr lang="en-US" dirty="0"/>
              <a:t>It sees your </a:t>
            </a:r>
            <a:r>
              <a:rPr lang="en-US" b="1" dirty="0"/>
              <a:t>public IP from MTN/Airtel/</a:t>
            </a:r>
            <a:r>
              <a:rPr lang="en-US" b="1" dirty="0" err="1"/>
              <a:t>Spectranet</a:t>
            </a:r>
            <a:r>
              <a:rPr lang="en-US" b="1" dirty="0"/>
              <a:t>/etc.</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6333" y="982133"/>
            <a:ext cx="9160264" cy="219944"/>
          </a:xfrm>
        </p:spPr>
        <p:txBody>
          <a:bodyPr>
            <a:noAutofit/>
          </a:bodyPr>
          <a:lstStyle/>
          <a:p>
            <a:r>
              <a:rPr lang="en-US" sz="2800" b="1" dirty="0"/>
              <a:t>3. Role of NAT (Network Address Translation)</a:t>
            </a:r>
            <a:br>
              <a:rPr lang="en-US" sz="2800" b="1" dirty="0"/>
            </a:br>
            <a:endParaRPr lang="en-US" sz="2800" dirty="0"/>
          </a:p>
        </p:txBody>
      </p:sp>
      <p:sp>
        <p:nvSpPr>
          <p:cNvPr id="3" name="Content Placeholder 2"/>
          <p:cNvSpPr>
            <a:spLocks noGrp="1"/>
          </p:cNvSpPr>
          <p:nvPr>
            <p:ph idx="1"/>
          </p:nvPr>
        </p:nvSpPr>
        <p:spPr>
          <a:xfrm>
            <a:off x="1633591" y="2609636"/>
            <a:ext cx="9263006" cy="3266232"/>
          </a:xfrm>
        </p:spPr>
        <p:txBody>
          <a:bodyPr/>
          <a:lstStyle/>
          <a:p>
            <a:r>
              <a:rPr lang="en-US" dirty="0"/>
              <a:t>NAT is the </a:t>
            </a:r>
            <a:r>
              <a:rPr lang="en-US" b="1" dirty="0"/>
              <a:t>bridge between private and public IPs</a:t>
            </a:r>
            <a:r>
              <a:rPr lang="en-US" dirty="0"/>
              <a:t>.</a:t>
            </a:r>
          </a:p>
          <a:p>
            <a:pPr marL="0" indent="0">
              <a:buNone/>
            </a:pPr>
            <a:r>
              <a:rPr lang="en-US" b="1" dirty="0"/>
              <a:t> Simple Definition:</a:t>
            </a:r>
          </a:p>
          <a:p>
            <a:r>
              <a:rPr lang="en-US" dirty="0"/>
              <a:t>NAT is the system in your router that </a:t>
            </a:r>
            <a:r>
              <a:rPr lang="en-US" b="1" dirty="0"/>
              <a:t>converts many private IP addresses into one public IP address</a:t>
            </a:r>
            <a:r>
              <a:rPr lang="en-US" dirty="0"/>
              <a:t> for internet access.</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816" y="760288"/>
            <a:ext cx="8763856" cy="1705510"/>
          </a:xfrm>
        </p:spPr>
        <p:txBody>
          <a:bodyPr>
            <a:normAutofit/>
          </a:bodyPr>
          <a:lstStyle/>
          <a:p>
            <a:r>
              <a:rPr lang="en-US" dirty="0"/>
              <a:t>🔄 How NAT Works</a:t>
            </a:r>
          </a:p>
        </p:txBody>
      </p:sp>
      <p:sp>
        <p:nvSpPr>
          <p:cNvPr id="3" name="Content Placeholder 2"/>
          <p:cNvSpPr>
            <a:spLocks noGrp="1"/>
          </p:cNvSpPr>
          <p:nvPr>
            <p:ph idx="1"/>
          </p:nvPr>
        </p:nvSpPr>
        <p:spPr>
          <a:xfrm>
            <a:off x="3503488" y="2465798"/>
            <a:ext cx="7393108" cy="3410070"/>
          </a:xfrm>
        </p:spPr>
        <p:txBody>
          <a:bodyPr>
            <a:normAutofit lnSpcReduction="10000"/>
          </a:bodyPr>
          <a:lstStyle/>
          <a:p>
            <a:r>
              <a:rPr lang="en-US" dirty="0"/>
              <a:t>📱 Phone (192.168.1.5)</a:t>
            </a:r>
          </a:p>
          <a:p>
            <a:r>
              <a:rPr lang="en-US" dirty="0"/>
              <a:t>💻 Laptop (192.168.1.6)</a:t>
            </a:r>
          </a:p>
          <a:p>
            <a:r>
              <a:rPr lang="en-US" dirty="0"/>
              <a:t>🖥️ PC (192.168.1.7)</a:t>
            </a:r>
          </a:p>
          <a:p>
            <a:pPr marL="0" indent="0">
              <a:buNone/>
            </a:pPr>
            <a:r>
              <a:rPr lang="en-US" dirty="0"/>
              <a:t>           ↓</a:t>
            </a:r>
          </a:p>
          <a:p>
            <a:pPr marL="0" indent="0">
              <a:buNone/>
            </a:pPr>
            <a:r>
              <a:rPr lang="en-US" dirty="0"/>
              <a:t>      📡 ROUTER (NAT)</a:t>
            </a:r>
          </a:p>
          <a:p>
            <a:pPr marL="0" indent="0">
              <a:buNone/>
            </a:pPr>
            <a:r>
              <a:rPr lang="en-US" dirty="0"/>
              <a:t>           ↓</a:t>
            </a:r>
          </a:p>
          <a:p>
            <a:r>
              <a:rPr lang="en-US" dirty="0"/>
              <a:t>🌍 Internet uses ONE public IP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Real-Life Analogy</a:t>
            </a:r>
            <a:endParaRPr lang="en-US" dirty="0"/>
          </a:p>
        </p:txBody>
      </p:sp>
      <p:sp>
        <p:nvSpPr>
          <p:cNvPr id="3" name="Content Placeholder 2"/>
          <p:cNvSpPr>
            <a:spLocks noGrp="1"/>
          </p:cNvSpPr>
          <p:nvPr>
            <p:ph idx="1"/>
          </p:nvPr>
        </p:nvSpPr>
        <p:spPr>
          <a:xfrm>
            <a:off x="1859621" y="2630184"/>
            <a:ext cx="9036975" cy="3245684"/>
          </a:xfrm>
        </p:spPr>
        <p:txBody>
          <a:bodyPr>
            <a:normAutofit fontScale="92500" lnSpcReduction="10000"/>
          </a:bodyPr>
          <a:lstStyle/>
          <a:p>
            <a:r>
              <a:rPr lang="en-US" dirty="0"/>
              <a:t>Think of a compound in Abakpa:</a:t>
            </a:r>
          </a:p>
          <a:p>
            <a:r>
              <a:rPr lang="en-US" dirty="0"/>
              <a:t>Every tenant has a room number (private IP) </a:t>
            </a:r>
          </a:p>
          <a:p>
            <a:r>
              <a:rPr lang="en-US" dirty="0"/>
              <a:t>But the outside world only sees the </a:t>
            </a:r>
            <a:r>
              <a:rPr lang="en-US" b="1" dirty="0"/>
              <a:t>compound address (public IP)</a:t>
            </a:r>
            <a:r>
              <a:rPr lang="en-US" dirty="0"/>
              <a:t> </a:t>
            </a:r>
          </a:p>
          <a:p>
            <a:r>
              <a:rPr lang="en-US" dirty="0"/>
              <a:t>👉 The compound gatekeeper (router + NAT):</a:t>
            </a:r>
          </a:p>
          <a:p>
            <a:r>
              <a:rPr lang="en-US" dirty="0"/>
              <a:t>Receives all messages </a:t>
            </a:r>
          </a:p>
          <a:p>
            <a:r>
              <a:rPr lang="en-US" dirty="0"/>
              <a:t>Sends them out using one official address </a:t>
            </a:r>
          </a:p>
          <a:p>
            <a:r>
              <a:rPr lang="en-US" dirty="0"/>
              <a:t>Brings replies back to the correct person</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6.Identify the subnet mask for a given CIDR notation</a:t>
            </a:r>
          </a:p>
        </p:txBody>
      </p:sp>
      <p:sp>
        <p:nvSpPr>
          <p:cNvPr id="3" name="Content Placeholder 2"/>
          <p:cNvSpPr>
            <a:spLocks noGrp="1"/>
          </p:cNvSpPr>
          <p:nvPr>
            <p:ph idx="1"/>
          </p:nvPr>
        </p:nvSpPr>
        <p:spPr>
          <a:xfrm>
            <a:off x="3544583" y="2556932"/>
            <a:ext cx="7352013" cy="3318936"/>
          </a:xfrm>
        </p:spPr>
        <p:txBody>
          <a:bodyPr/>
          <a:lstStyle/>
          <a:p>
            <a:r>
              <a:rPr lang="en-US" dirty="0"/>
              <a:t>Determine:</a:t>
            </a:r>
          </a:p>
          <a:p>
            <a:r>
              <a:rPr lang="en-US" dirty="0"/>
              <a:t>Network address</a:t>
            </a:r>
          </a:p>
          <a:p>
            <a:r>
              <a:rPr lang="en-US" dirty="0"/>
              <a:t>Broadcast address</a:t>
            </a:r>
          </a:p>
          <a:p>
            <a:r>
              <a:rPr lang="en-US" dirty="0"/>
              <a:t>Available hosts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4138" y="982132"/>
            <a:ext cx="9242459" cy="45719"/>
          </a:xfrm>
        </p:spPr>
        <p:txBody>
          <a:bodyPr>
            <a:normAutofit fontScale="90000"/>
          </a:bodyPr>
          <a:lstStyle/>
          <a:p>
            <a:r>
              <a:rPr lang="en-US" b="1" dirty="0"/>
              <a:t>Subnetting (CIDR → Network Details)</a:t>
            </a:r>
            <a:endParaRPr lang="en-US" dirty="0"/>
          </a:p>
        </p:txBody>
      </p:sp>
      <p:sp>
        <p:nvSpPr>
          <p:cNvPr id="3" name="Content Placeholder 2"/>
          <p:cNvSpPr>
            <a:spLocks noGrp="1"/>
          </p:cNvSpPr>
          <p:nvPr>
            <p:ph idx="1"/>
          </p:nvPr>
        </p:nvSpPr>
        <p:spPr/>
        <p:txBody>
          <a:bodyPr/>
          <a:lstStyle/>
          <a:p>
            <a:endParaRPr lang="en-US" b="1" dirty="0"/>
          </a:p>
          <a:p>
            <a:r>
              <a:rPr lang="en-US" dirty="0"/>
              <a:t>To solve this properly, I need a CIDR example. Since you didn’t specify one, 👉 </a:t>
            </a:r>
            <a:r>
              <a:rPr lang="en-US" b="1" dirty="0"/>
              <a:t>Example CIDR: 192.168.10.0/24</a:t>
            </a:r>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5510" y="982133"/>
            <a:ext cx="9191088" cy="302138"/>
          </a:xfrm>
        </p:spPr>
        <p:txBody>
          <a:bodyPr>
            <a:normAutofit fontScale="90000"/>
          </a:bodyPr>
          <a:lstStyle/>
          <a:p>
            <a:r>
              <a:rPr lang="en-US" b="1" dirty="0"/>
              <a:t>What is CIDR and Subnetting?</a:t>
            </a:r>
            <a:br>
              <a:rPr lang="en-US" b="1" dirty="0"/>
            </a:br>
            <a:endParaRPr lang="en-US" dirty="0"/>
          </a:p>
        </p:txBody>
      </p:sp>
      <p:sp>
        <p:nvSpPr>
          <p:cNvPr id="3" name="Content Placeholder 2"/>
          <p:cNvSpPr>
            <a:spLocks noGrp="1"/>
          </p:cNvSpPr>
          <p:nvPr>
            <p:ph idx="1"/>
          </p:nvPr>
        </p:nvSpPr>
        <p:spPr>
          <a:xfrm>
            <a:off x="1212351" y="1448657"/>
            <a:ext cx="9684246" cy="4427212"/>
          </a:xfrm>
        </p:spPr>
        <p:txBody>
          <a:bodyPr>
            <a:normAutofit/>
          </a:bodyPr>
          <a:lstStyle/>
          <a:p>
            <a:r>
              <a:rPr lang="en-US" b="1" dirty="0"/>
              <a:t>What is CIDR and Subnetting?</a:t>
            </a:r>
          </a:p>
          <a:p>
            <a:r>
              <a:rPr lang="en-US" dirty="0"/>
              <a:t>Subnetting is simply:</a:t>
            </a:r>
          </a:p>
          <a:p>
            <a:r>
              <a:rPr lang="en-US" dirty="0"/>
              <a:t>Dividing a network into smaller manageable parts.</a:t>
            </a:r>
          </a:p>
          <a:p>
            <a:r>
              <a:rPr lang="en-US" dirty="0"/>
              <a:t>CIDR notation looks like this: 192.168.10.0/24</a:t>
            </a:r>
          </a:p>
          <a:p>
            <a:r>
              <a:rPr lang="en-US" dirty="0"/>
              <a:t>The /24 is the important part.</a:t>
            </a:r>
          </a:p>
          <a:p>
            <a:r>
              <a:rPr lang="en-US" dirty="0"/>
              <a:t>It tells us:</a:t>
            </a:r>
          </a:p>
          <a:p>
            <a:r>
              <a:rPr lang="en-US" dirty="0"/>
              <a:t>How much belongs to the </a:t>
            </a:r>
            <a:r>
              <a:rPr lang="en-US" b="1" dirty="0"/>
              <a:t>network</a:t>
            </a:r>
            <a:r>
              <a:rPr lang="en-US" dirty="0"/>
              <a:t> </a:t>
            </a:r>
          </a:p>
          <a:p>
            <a:r>
              <a:rPr lang="en-US" dirty="0"/>
              <a:t>How much belongs to the </a:t>
            </a:r>
            <a:r>
              <a:rPr lang="en-US" b="1" dirty="0"/>
              <a:t>devices (hosts)</a:t>
            </a:r>
            <a:r>
              <a:rPr lang="en-US" dirty="0"/>
              <a:t>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295400" y="3301998"/>
          <a:ext cx="9601200" cy="2924140"/>
        </p:xfrm>
        <a:graphic>
          <a:graphicData uri="http://schemas.openxmlformats.org/drawingml/2006/table">
            <a:tbl>
              <a:tblPr/>
              <a:tblGrid>
                <a:gridCol w="48006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584828">
                <a:tc>
                  <a:txBody>
                    <a:bodyPr/>
                    <a:lstStyle/>
                    <a:p>
                      <a:pPr>
                        <a:buNone/>
                      </a:pPr>
                      <a:r>
                        <a:rPr lang="en-US"/>
                        <a:t>Part</a:t>
                      </a:r>
                    </a:p>
                  </a:txBody>
                  <a:tcPr anchor="ctr">
                    <a:lnL>
                      <a:noFill/>
                    </a:lnL>
                    <a:lnR>
                      <a:noFill/>
                    </a:lnR>
                    <a:lnT>
                      <a:noFill/>
                    </a:lnT>
                    <a:lnB>
                      <a:noFill/>
                    </a:lnB>
                    <a:noFill/>
                  </a:tcPr>
                </a:tc>
                <a:tc>
                  <a:txBody>
                    <a:bodyPr/>
                    <a:lstStyle/>
                    <a:p>
                      <a:pPr>
                        <a:buNone/>
                      </a:pPr>
                      <a:r>
                        <a:rPr lang="en-US"/>
                        <a:t>Meaning</a:t>
                      </a:r>
                    </a:p>
                  </a:txBody>
                  <a:tcPr anchor="ctr">
                    <a:lnL>
                      <a:noFill/>
                    </a:lnL>
                    <a:lnR>
                      <a:noFill/>
                    </a:lnR>
                    <a:lnT>
                      <a:noFill/>
                    </a:lnT>
                    <a:lnB>
                      <a:noFill/>
                    </a:lnB>
                    <a:noFill/>
                  </a:tcPr>
                </a:tc>
                <a:extLst>
                  <a:ext uri="{0D108BD9-81ED-4DB2-BD59-A6C34878D82A}">
                    <a16:rowId xmlns:a16="http://schemas.microsoft.com/office/drawing/2014/main" val="10000"/>
                  </a:ext>
                </a:extLst>
              </a:tr>
              <a:tr h="584828">
                <a:tc>
                  <a:txBody>
                    <a:bodyPr/>
                    <a:lstStyle/>
                    <a:p>
                      <a:pPr>
                        <a:buNone/>
                      </a:pPr>
                      <a:r>
                        <a:rPr lang="en-US"/>
                        <a:t>192</a:t>
                      </a:r>
                    </a:p>
                  </a:txBody>
                  <a:tcPr anchor="ctr">
                    <a:lnL>
                      <a:noFill/>
                    </a:lnL>
                    <a:lnR>
                      <a:noFill/>
                    </a:lnR>
                    <a:lnT>
                      <a:noFill/>
                    </a:lnT>
                    <a:lnB>
                      <a:noFill/>
                    </a:lnB>
                    <a:noFill/>
                  </a:tcPr>
                </a:tc>
                <a:tc>
                  <a:txBody>
                    <a:bodyPr/>
                    <a:lstStyle/>
                    <a:p>
                      <a:pPr>
                        <a:buNone/>
                      </a:pPr>
                      <a:r>
                        <a:rPr lang="en-US"/>
                        <a:t>Fixed</a:t>
                      </a:r>
                    </a:p>
                  </a:txBody>
                  <a:tcPr anchor="ctr">
                    <a:lnL>
                      <a:noFill/>
                    </a:lnL>
                    <a:lnR>
                      <a:noFill/>
                    </a:lnR>
                    <a:lnT>
                      <a:noFill/>
                    </a:lnT>
                    <a:lnB>
                      <a:noFill/>
                    </a:lnB>
                    <a:noFill/>
                  </a:tcPr>
                </a:tc>
                <a:extLst>
                  <a:ext uri="{0D108BD9-81ED-4DB2-BD59-A6C34878D82A}">
                    <a16:rowId xmlns:a16="http://schemas.microsoft.com/office/drawing/2014/main" val="10001"/>
                  </a:ext>
                </a:extLst>
              </a:tr>
              <a:tr h="584828">
                <a:tc>
                  <a:txBody>
                    <a:bodyPr/>
                    <a:lstStyle/>
                    <a:p>
                      <a:pPr>
                        <a:buNone/>
                      </a:pPr>
                      <a:r>
                        <a:rPr lang="en-US"/>
                        <a:t>168</a:t>
                      </a:r>
                    </a:p>
                  </a:txBody>
                  <a:tcPr anchor="ctr">
                    <a:lnL>
                      <a:noFill/>
                    </a:lnL>
                    <a:lnR>
                      <a:noFill/>
                    </a:lnR>
                    <a:lnT>
                      <a:noFill/>
                    </a:lnT>
                    <a:lnB>
                      <a:noFill/>
                    </a:lnB>
                    <a:noFill/>
                  </a:tcPr>
                </a:tc>
                <a:tc>
                  <a:txBody>
                    <a:bodyPr/>
                    <a:lstStyle/>
                    <a:p>
                      <a:pPr>
                        <a:buNone/>
                      </a:pPr>
                      <a:r>
                        <a:rPr lang="en-US"/>
                        <a:t>Fixed</a:t>
                      </a:r>
                    </a:p>
                  </a:txBody>
                  <a:tcPr anchor="ctr">
                    <a:lnL>
                      <a:noFill/>
                    </a:lnL>
                    <a:lnR>
                      <a:noFill/>
                    </a:lnR>
                    <a:lnT>
                      <a:noFill/>
                    </a:lnT>
                    <a:lnB>
                      <a:noFill/>
                    </a:lnB>
                    <a:noFill/>
                  </a:tcPr>
                </a:tc>
                <a:extLst>
                  <a:ext uri="{0D108BD9-81ED-4DB2-BD59-A6C34878D82A}">
                    <a16:rowId xmlns:a16="http://schemas.microsoft.com/office/drawing/2014/main" val="10002"/>
                  </a:ext>
                </a:extLst>
              </a:tr>
              <a:tr h="584828">
                <a:tc>
                  <a:txBody>
                    <a:bodyPr/>
                    <a:lstStyle/>
                    <a:p>
                      <a:pPr>
                        <a:buNone/>
                      </a:pPr>
                      <a:r>
                        <a:rPr lang="en-US"/>
                        <a:t>10</a:t>
                      </a:r>
                    </a:p>
                  </a:txBody>
                  <a:tcPr anchor="ctr">
                    <a:lnL>
                      <a:noFill/>
                    </a:lnL>
                    <a:lnR>
                      <a:noFill/>
                    </a:lnR>
                    <a:lnT>
                      <a:noFill/>
                    </a:lnT>
                    <a:lnB>
                      <a:noFill/>
                    </a:lnB>
                    <a:noFill/>
                  </a:tcPr>
                </a:tc>
                <a:tc>
                  <a:txBody>
                    <a:bodyPr/>
                    <a:lstStyle/>
                    <a:p>
                      <a:pPr>
                        <a:buNone/>
                      </a:pPr>
                      <a:r>
                        <a:rPr lang="en-US"/>
                        <a:t>Fixed</a:t>
                      </a:r>
                    </a:p>
                  </a:txBody>
                  <a:tcPr anchor="ctr">
                    <a:lnL>
                      <a:noFill/>
                    </a:lnL>
                    <a:lnR>
                      <a:noFill/>
                    </a:lnR>
                    <a:lnT>
                      <a:noFill/>
                    </a:lnT>
                    <a:lnB>
                      <a:noFill/>
                    </a:lnB>
                    <a:noFill/>
                  </a:tcPr>
                </a:tc>
                <a:extLst>
                  <a:ext uri="{0D108BD9-81ED-4DB2-BD59-A6C34878D82A}">
                    <a16:rowId xmlns:a16="http://schemas.microsoft.com/office/drawing/2014/main" val="10003"/>
                  </a:ext>
                </a:extLst>
              </a:tr>
              <a:tr h="584828">
                <a:tc>
                  <a:txBody>
                    <a:bodyPr/>
                    <a:lstStyle/>
                    <a:p>
                      <a:pPr>
                        <a:buNone/>
                      </a:pPr>
                      <a:r>
                        <a:rPr lang="en-US"/>
                        <a:t>0-255</a:t>
                      </a:r>
                    </a:p>
                  </a:txBody>
                  <a:tcPr anchor="ctr">
                    <a:lnL>
                      <a:noFill/>
                    </a:lnL>
                    <a:lnR>
                      <a:noFill/>
                    </a:lnR>
                    <a:lnT>
                      <a:noFill/>
                    </a:lnT>
                    <a:lnB>
                      <a:noFill/>
                    </a:lnB>
                    <a:noFill/>
                  </a:tcPr>
                </a:tc>
                <a:tc>
                  <a:txBody>
                    <a:bodyPr/>
                    <a:lstStyle/>
                    <a:p>
                      <a:pPr>
                        <a:buNone/>
                      </a:pPr>
                      <a:r>
                        <a:rPr lang="en-US" dirty="0"/>
                        <a:t>Device area</a:t>
                      </a:r>
                    </a:p>
                  </a:txBody>
                  <a:tcPr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5" name="Rectangle 1"/>
          <p:cNvSpPr>
            <a:spLocks noChangeArrowheads="1"/>
          </p:cNvSpPr>
          <p:nvPr/>
        </p:nvSpPr>
        <p:spPr bwMode="auto">
          <a:xfrm>
            <a:off x="1428108" y="719338"/>
            <a:ext cx="867139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chemeClr val="tx1"/>
                </a:solidFill>
                <a:effectLst/>
                <a:latin typeface="Arial" panose="020B0604020202020204" pitchFamily="34" charset="0"/>
              </a:rPr>
              <a:t>Find the Subnet Mask</a:t>
            </a:r>
          </a:p>
          <a:p>
            <a:pPr marL="0" marR="0" lvl="0" indent="0" algn="l" defTabSz="914400" rtl="0" eaLnBrk="0" fontAlgn="base" latinLnBrk="0" hangingPunct="0">
              <a:lnSpc>
                <a:spcPct val="100000"/>
              </a:lnSpc>
              <a:spcBef>
                <a:spcPct val="0"/>
              </a:spcBef>
              <a:spcAft>
                <a:spcPct val="0"/>
              </a:spcAft>
              <a:buClrTx/>
              <a:buSzTx/>
              <a:buFontTx/>
              <a:buNone/>
            </a:pPr>
            <a:r>
              <a:rPr lang="en-US" altLang="en-US" dirty="0">
                <a:latin typeface="Arial Unicode MS"/>
              </a:rPr>
              <a:t>/</a:t>
            </a:r>
            <a:r>
              <a:rPr kumimoji="0" lang="en-US" altLang="en-US" b="0" i="0" u="none" strike="noStrike" cap="none" normalizeH="0" baseline="0" dirty="0">
                <a:ln>
                  <a:noFill/>
                </a:ln>
                <a:solidFill>
                  <a:schemeClr val="tx1"/>
                </a:solidFill>
                <a:effectLst/>
                <a:latin typeface="Arial Unicode MS"/>
              </a:rPr>
              <a:t>24</a:t>
            </a:r>
            <a:r>
              <a:rPr kumimoji="0" lang="en-US" altLang="en-US" b="0" i="0" u="none" strike="noStrike" cap="none" normalizeH="0" baseline="0" dirty="0">
                <a:ln>
                  <a:noFill/>
                </a:ln>
                <a:solidFill>
                  <a:schemeClr val="tx1"/>
                </a:solidFill>
                <a:effectLst/>
              </a:rPr>
              <a:t> means:</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Arial Unicode MS"/>
              </a:rPr>
              <a:t>255.255.255.0</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rPr>
              <a:t>Why?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Because:</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255 means “locked/fixed”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0 means “available for devices”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Arial" panose="020B0604020202020204" pitchFamily="34" charset="0"/>
              </a:rPr>
              <a:t>So:</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9479" y="982132"/>
            <a:ext cx="9417119" cy="774749"/>
          </a:xfrm>
        </p:spPr>
        <p:txBody>
          <a:bodyPr>
            <a:normAutofit fontScale="90000"/>
          </a:bodyPr>
          <a:lstStyle/>
          <a:p>
            <a:r>
              <a:rPr lang="en-US" b="1" dirty="0"/>
              <a:t>Find the Network Address</a:t>
            </a:r>
            <a:br>
              <a:rPr lang="en-US" b="1" dirty="0"/>
            </a:br>
            <a:endParaRPr lang="en-US" dirty="0"/>
          </a:p>
        </p:txBody>
      </p:sp>
      <p:sp>
        <p:nvSpPr>
          <p:cNvPr id="3" name="Content Placeholder 2"/>
          <p:cNvSpPr>
            <a:spLocks noGrp="1"/>
          </p:cNvSpPr>
          <p:nvPr>
            <p:ph idx="1"/>
          </p:nvPr>
        </p:nvSpPr>
        <p:spPr>
          <a:xfrm>
            <a:off x="2876764" y="1551399"/>
            <a:ext cx="8019832" cy="4324470"/>
          </a:xfrm>
        </p:spPr>
        <p:txBody>
          <a:bodyPr>
            <a:normAutofit/>
          </a:bodyPr>
          <a:lstStyle/>
          <a:p>
            <a:r>
              <a:rPr lang="en-US" dirty="0"/>
              <a:t>The network address is:</a:t>
            </a:r>
            <a:br>
              <a:rPr lang="en-US" dirty="0"/>
            </a:br>
            <a:r>
              <a:rPr lang="en-US" dirty="0"/>
              <a:t>👉 the FIRST address in the range.</a:t>
            </a:r>
          </a:p>
          <a:p>
            <a:r>
              <a:rPr lang="en-US" dirty="0"/>
              <a:t>For this network:</a:t>
            </a:r>
          </a:p>
          <a:p>
            <a:r>
              <a:rPr lang="en-US" dirty="0"/>
              <a:t>192.168.10.0</a:t>
            </a:r>
          </a:p>
          <a:p>
            <a:r>
              <a:rPr lang="en-US" dirty="0"/>
              <a:t>This identifies the network itself.</a:t>
            </a:r>
          </a:p>
          <a:p>
            <a:r>
              <a:rPr lang="en-US" dirty="0"/>
              <a:t>⚠️ You cannot give this to a device.</a:t>
            </a:r>
          </a:p>
          <a:p>
            <a:endParaRPr lang="en-US" dirty="0"/>
          </a:p>
          <a:p>
            <a:pPr marL="0" indent="0">
              <a:buNone/>
            </a:pPr>
            <a:r>
              <a:rPr lang="en-US" dirty="0"/>
              <a:t>Think of it like; “</a:t>
            </a:r>
            <a:r>
              <a:rPr lang="en-US" dirty="0" err="1"/>
              <a:t>Ogui</a:t>
            </a:r>
            <a:r>
              <a:rPr lang="en-US" dirty="0"/>
              <a:t> Road” itself, not a particular house.</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1672" y="982133"/>
            <a:ext cx="9334926" cy="332960"/>
          </a:xfrm>
        </p:spPr>
        <p:txBody>
          <a:bodyPr>
            <a:normAutofit fontScale="90000"/>
          </a:bodyPr>
          <a:lstStyle/>
          <a:p>
            <a:r>
              <a:rPr lang="en-US" b="1" dirty="0"/>
              <a:t>Find the Broadcast Address</a:t>
            </a:r>
            <a:br>
              <a:rPr lang="en-US" b="1" dirty="0"/>
            </a:br>
            <a:endParaRPr lang="en-US" dirty="0"/>
          </a:p>
        </p:txBody>
      </p:sp>
      <p:sp>
        <p:nvSpPr>
          <p:cNvPr id="3" name="Content Placeholder 2"/>
          <p:cNvSpPr>
            <a:spLocks noGrp="1"/>
          </p:cNvSpPr>
          <p:nvPr>
            <p:ph idx="1"/>
          </p:nvPr>
        </p:nvSpPr>
        <p:spPr>
          <a:xfrm>
            <a:off x="3010329" y="1582220"/>
            <a:ext cx="7886268" cy="4293648"/>
          </a:xfrm>
        </p:spPr>
        <p:txBody>
          <a:bodyPr>
            <a:normAutofit/>
          </a:bodyPr>
          <a:lstStyle/>
          <a:p>
            <a:r>
              <a:rPr lang="en-US" dirty="0"/>
              <a:t>The broadcast address is:</a:t>
            </a:r>
            <a:br>
              <a:rPr lang="en-US" dirty="0"/>
            </a:br>
            <a:r>
              <a:rPr lang="en-US" dirty="0"/>
              <a:t>👉 the LAST address in the range.</a:t>
            </a:r>
          </a:p>
          <a:p>
            <a:r>
              <a:rPr lang="en-US" dirty="0"/>
              <a:t>For /24:</a:t>
            </a:r>
          </a:p>
          <a:p>
            <a:r>
              <a:rPr lang="en-US" dirty="0"/>
              <a:t>192.168.10.255</a:t>
            </a:r>
          </a:p>
          <a:p>
            <a:r>
              <a:rPr lang="en-US" dirty="0"/>
              <a:t>This sends messages to ALL devices.</a:t>
            </a:r>
          </a:p>
          <a:p>
            <a:r>
              <a:rPr lang="en-US" dirty="0"/>
              <a:t>Think of it like:</a:t>
            </a:r>
            <a:br>
              <a:rPr lang="en-US" dirty="0"/>
            </a:br>
            <a:r>
              <a:rPr lang="en-US" dirty="0"/>
              <a:t>📢 A town crier shouting to the entire street.</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0170" y="982133"/>
            <a:ext cx="9016427" cy="600088"/>
          </a:xfrm>
        </p:spPr>
        <p:txBody>
          <a:bodyPr>
            <a:normAutofit fontScale="90000"/>
          </a:bodyPr>
          <a:lstStyle/>
          <a:p>
            <a:r>
              <a:rPr lang="en-US" b="1" dirty="0"/>
              <a:t>Find Available Hosts</a:t>
            </a:r>
            <a:br>
              <a:rPr lang="en-US" b="1" dirty="0"/>
            </a:br>
            <a:endParaRPr lang="en-US" dirty="0"/>
          </a:p>
        </p:txBody>
      </p:sp>
      <p:sp>
        <p:nvSpPr>
          <p:cNvPr id="3" name="Content Placeholder 2"/>
          <p:cNvSpPr>
            <a:spLocks noGrp="1"/>
          </p:cNvSpPr>
          <p:nvPr>
            <p:ph idx="1"/>
          </p:nvPr>
        </p:nvSpPr>
        <p:spPr>
          <a:xfrm>
            <a:off x="2630184" y="1582221"/>
            <a:ext cx="8266412" cy="4293647"/>
          </a:xfrm>
        </p:spPr>
        <p:txBody>
          <a:bodyPr>
            <a:normAutofit fontScale="92500" lnSpcReduction="10000"/>
          </a:bodyPr>
          <a:lstStyle/>
          <a:p>
            <a:r>
              <a:rPr lang="en-US" dirty="0"/>
              <a:t>The last number ranges from:</a:t>
            </a:r>
          </a:p>
          <a:p>
            <a:r>
              <a:rPr lang="en-US" dirty="0"/>
              <a:t>0 → 255</a:t>
            </a:r>
          </a:p>
          <a:p>
            <a:r>
              <a:rPr lang="en-US" dirty="0"/>
              <a:t>That gives:</a:t>
            </a:r>
          </a:p>
          <a:p>
            <a:r>
              <a:rPr lang="en-US" dirty="0"/>
              <a:t>256 total addresses</a:t>
            </a:r>
          </a:p>
          <a:p>
            <a:r>
              <a:rPr lang="en-US" dirty="0"/>
              <a:t>BUT:</a:t>
            </a:r>
          </a:p>
          <a:p>
            <a:r>
              <a:rPr lang="en-US" dirty="0"/>
              <a:t>1 is reserved for Network Address </a:t>
            </a:r>
          </a:p>
          <a:p>
            <a:r>
              <a:rPr lang="en-US" dirty="0"/>
              <a:t>1 is reserved for Broadcast Address </a:t>
            </a:r>
          </a:p>
          <a:p>
            <a:r>
              <a:rPr lang="en-US" dirty="0"/>
              <a:t>So:</a:t>
            </a:r>
          </a:p>
          <a:p>
            <a:r>
              <a:rPr lang="en-US" dirty="0"/>
              <a:t>256 - 2 = 254 usable hosts</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142" y="791109"/>
            <a:ext cx="9879455" cy="1520576"/>
          </a:xfrm>
        </p:spPr>
        <p:txBody>
          <a:bodyPr>
            <a:normAutofit/>
          </a:bodyPr>
          <a:lstStyle/>
          <a:p>
            <a:r>
              <a:rPr lang="en-US" dirty="0"/>
              <a:t>Breakdown</a:t>
            </a:r>
          </a:p>
        </p:txBody>
      </p:sp>
      <p:graphicFrame>
        <p:nvGraphicFramePr>
          <p:cNvPr id="4" name="Content Placeholder 3"/>
          <p:cNvGraphicFramePr>
            <a:graphicFrameLocks noGrp="1"/>
          </p:cNvGraphicFramePr>
          <p:nvPr>
            <p:ph idx="1"/>
          </p:nvPr>
        </p:nvGraphicFramePr>
        <p:xfrm>
          <a:off x="1295400" y="3119120"/>
          <a:ext cx="9601200" cy="2743200"/>
        </p:xfrm>
        <a:graphic>
          <a:graphicData uri="http://schemas.openxmlformats.org/drawingml/2006/table">
            <a:tbl>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a:buNone/>
                      </a:pPr>
                      <a:r>
                        <a:rPr lang="en-US" dirty="0"/>
                        <a:t>Item</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Meaning</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Value</a:t>
                      </a:r>
                    </a:p>
                    <a:p>
                      <a:pPr>
                        <a:buNone/>
                      </a:pPr>
                      <a:endParaRPr lang="en-US" dirty="0"/>
                    </a:p>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0000"/>
                  </a:ext>
                </a:extLst>
              </a:tr>
              <a:tr h="0">
                <a:tc>
                  <a:txBody>
                    <a:bodyPr/>
                    <a:lstStyle/>
                    <a:p>
                      <a:pPr>
                        <a:buNone/>
                      </a:pPr>
                      <a:r>
                        <a:rPr lang="en-US"/>
                        <a:t>CIDR</a:t>
                      </a:r>
                    </a:p>
                  </a:txBody>
                  <a:tcPr anchor="ctr">
                    <a:lnL>
                      <a:noFill/>
                    </a:lnL>
                    <a:lnR>
                      <a:noFill/>
                    </a:lnR>
                    <a:lnT>
                      <a:noFill/>
                    </a:lnT>
                    <a:lnB>
                      <a:noFill/>
                    </a:lnB>
                    <a:noFill/>
                  </a:tcPr>
                </a:tc>
                <a:tc>
                  <a:txBody>
                    <a:bodyPr/>
                    <a:lstStyle/>
                    <a:p>
                      <a:pPr>
                        <a:buNone/>
                      </a:pPr>
                      <a:r>
                        <a:rPr lang="en-US"/>
                        <a:t>Network size</a:t>
                      </a:r>
                    </a:p>
                  </a:txBody>
                  <a:tcPr anchor="ctr">
                    <a:lnL>
                      <a:noFill/>
                    </a:lnL>
                    <a:lnR>
                      <a:noFill/>
                    </a:lnR>
                    <a:lnT>
                      <a:noFill/>
                    </a:lnT>
                    <a:lnB>
                      <a:noFill/>
                    </a:lnB>
                    <a:noFill/>
                  </a:tcPr>
                </a:tc>
                <a:tc>
                  <a:txBody>
                    <a:bodyPr/>
                    <a:lstStyle/>
                    <a:p>
                      <a:pPr>
                        <a:buNone/>
                      </a:pPr>
                      <a:r>
                        <a:rPr lang="en-US"/>
                        <a:t>/24</a:t>
                      </a:r>
                    </a:p>
                  </a:txBody>
                  <a:tcPr anchor="ctr">
                    <a:lnL>
                      <a:noFill/>
                    </a:lnL>
                    <a:lnR>
                      <a:noFill/>
                    </a:lnR>
                    <a:lnT>
                      <a:noFill/>
                    </a:lnT>
                    <a:lnB>
                      <a:noFill/>
                    </a:lnB>
                    <a:noFill/>
                  </a:tcPr>
                </a:tc>
                <a:extLst>
                  <a:ext uri="{0D108BD9-81ED-4DB2-BD59-A6C34878D82A}">
                    <a16:rowId xmlns:a16="http://schemas.microsoft.com/office/drawing/2014/main" val="10001"/>
                  </a:ext>
                </a:extLst>
              </a:tr>
              <a:tr h="0">
                <a:tc>
                  <a:txBody>
                    <a:bodyPr/>
                    <a:lstStyle/>
                    <a:p>
                      <a:pPr>
                        <a:buNone/>
                      </a:pPr>
                      <a:r>
                        <a:rPr lang="en-US"/>
                        <a:t>Subnet Mask</a:t>
                      </a:r>
                    </a:p>
                  </a:txBody>
                  <a:tcPr anchor="ctr">
                    <a:lnL>
                      <a:noFill/>
                    </a:lnL>
                    <a:lnR>
                      <a:noFill/>
                    </a:lnR>
                    <a:lnT>
                      <a:noFill/>
                    </a:lnT>
                    <a:lnB>
                      <a:noFill/>
                    </a:lnB>
                    <a:noFill/>
                  </a:tcPr>
                </a:tc>
                <a:tc>
                  <a:txBody>
                    <a:bodyPr/>
                    <a:lstStyle/>
                    <a:p>
                      <a:pPr>
                        <a:buNone/>
                      </a:pPr>
                      <a:r>
                        <a:rPr lang="en-US"/>
                        <a:t>Defines network boundary</a:t>
                      </a:r>
                    </a:p>
                  </a:txBody>
                  <a:tcPr anchor="ctr">
                    <a:lnL>
                      <a:noFill/>
                    </a:lnL>
                    <a:lnR>
                      <a:noFill/>
                    </a:lnR>
                    <a:lnT>
                      <a:noFill/>
                    </a:lnT>
                    <a:lnB>
                      <a:noFill/>
                    </a:lnB>
                    <a:noFill/>
                  </a:tcPr>
                </a:tc>
                <a:tc>
                  <a:txBody>
                    <a:bodyPr/>
                    <a:lstStyle/>
                    <a:p>
                      <a:pPr>
                        <a:buNone/>
                      </a:pPr>
                      <a:r>
                        <a:rPr lang="en-US"/>
                        <a:t>255.255.255.0</a:t>
                      </a:r>
                    </a:p>
                  </a:txBody>
                  <a:tcPr anchor="ctr">
                    <a:lnL>
                      <a:noFill/>
                    </a:lnL>
                    <a:lnR>
                      <a:noFill/>
                    </a:lnR>
                    <a:lnT>
                      <a:noFill/>
                    </a:lnT>
                    <a:lnB>
                      <a:noFill/>
                    </a:lnB>
                    <a:noFill/>
                  </a:tcPr>
                </a:tc>
                <a:extLst>
                  <a:ext uri="{0D108BD9-81ED-4DB2-BD59-A6C34878D82A}">
                    <a16:rowId xmlns:a16="http://schemas.microsoft.com/office/drawing/2014/main" val="10002"/>
                  </a:ext>
                </a:extLst>
              </a:tr>
              <a:tr h="0">
                <a:tc>
                  <a:txBody>
                    <a:bodyPr/>
                    <a:lstStyle/>
                    <a:p>
                      <a:pPr>
                        <a:buNone/>
                      </a:pPr>
                      <a:r>
                        <a:rPr lang="en-US"/>
                        <a:t>Network Address</a:t>
                      </a:r>
                    </a:p>
                  </a:txBody>
                  <a:tcPr anchor="ctr">
                    <a:lnL>
                      <a:noFill/>
                    </a:lnL>
                    <a:lnR>
                      <a:noFill/>
                    </a:lnR>
                    <a:lnT>
                      <a:noFill/>
                    </a:lnT>
                    <a:lnB>
                      <a:noFill/>
                    </a:lnB>
                    <a:noFill/>
                  </a:tcPr>
                </a:tc>
                <a:tc>
                  <a:txBody>
                    <a:bodyPr/>
                    <a:lstStyle/>
                    <a:p>
                      <a:pPr>
                        <a:buNone/>
                      </a:pPr>
                      <a:r>
                        <a:rPr lang="en-US"/>
                        <a:t>First address</a:t>
                      </a:r>
                    </a:p>
                  </a:txBody>
                  <a:tcPr anchor="ctr">
                    <a:lnL>
                      <a:noFill/>
                    </a:lnL>
                    <a:lnR>
                      <a:noFill/>
                    </a:lnR>
                    <a:lnT>
                      <a:noFill/>
                    </a:lnT>
                    <a:lnB>
                      <a:noFill/>
                    </a:lnB>
                    <a:noFill/>
                  </a:tcPr>
                </a:tc>
                <a:tc>
                  <a:txBody>
                    <a:bodyPr/>
                    <a:lstStyle/>
                    <a:p>
                      <a:pPr>
                        <a:buNone/>
                      </a:pPr>
                      <a:r>
                        <a:rPr lang="en-US"/>
                        <a:t>192.168.10.0</a:t>
                      </a:r>
                    </a:p>
                  </a:txBody>
                  <a:tcPr anchor="ctr">
                    <a:lnL>
                      <a:noFill/>
                    </a:lnL>
                    <a:lnR>
                      <a:noFill/>
                    </a:lnR>
                    <a:lnT>
                      <a:noFill/>
                    </a:lnT>
                    <a:lnB>
                      <a:noFill/>
                    </a:lnB>
                    <a:noFill/>
                  </a:tcPr>
                </a:tc>
                <a:extLst>
                  <a:ext uri="{0D108BD9-81ED-4DB2-BD59-A6C34878D82A}">
                    <a16:rowId xmlns:a16="http://schemas.microsoft.com/office/drawing/2014/main" val="10003"/>
                  </a:ext>
                </a:extLst>
              </a:tr>
              <a:tr h="0">
                <a:tc>
                  <a:txBody>
                    <a:bodyPr/>
                    <a:lstStyle/>
                    <a:p>
                      <a:pPr>
                        <a:buNone/>
                      </a:pPr>
                      <a:r>
                        <a:rPr lang="en-US"/>
                        <a:t>Broadcast Address</a:t>
                      </a:r>
                    </a:p>
                  </a:txBody>
                  <a:tcPr anchor="ctr">
                    <a:lnL>
                      <a:noFill/>
                    </a:lnL>
                    <a:lnR>
                      <a:noFill/>
                    </a:lnR>
                    <a:lnT>
                      <a:noFill/>
                    </a:lnT>
                    <a:lnB>
                      <a:noFill/>
                    </a:lnB>
                    <a:noFill/>
                  </a:tcPr>
                </a:tc>
                <a:tc>
                  <a:txBody>
                    <a:bodyPr/>
                    <a:lstStyle/>
                    <a:p>
                      <a:pPr>
                        <a:buNone/>
                      </a:pPr>
                      <a:r>
                        <a:rPr lang="en-US"/>
                        <a:t>Last address</a:t>
                      </a:r>
                    </a:p>
                  </a:txBody>
                  <a:tcPr anchor="ctr">
                    <a:lnL>
                      <a:noFill/>
                    </a:lnL>
                    <a:lnR>
                      <a:noFill/>
                    </a:lnR>
                    <a:lnT>
                      <a:noFill/>
                    </a:lnT>
                    <a:lnB>
                      <a:noFill/>
                    </a:lnB>
                    <a:noFill/>
                  </a:tcPr>
                </a:tc>
                <a:tc>
                  <a:txBody>
                    <a:bodyPr/>
                    <a:lstStyle/>
                    <a:p>
                      <a:pPr>
                        <a:buNone/>
                      </a:pPr>
                      <a:r>
                        <a:rPr lang="en-US"/>
                        <a:t>192.168.10.255</a:t>
                      </a:r>
                    </a:p>
                  </a:txBody>
                  <a:tcPr anchor="ctr">
                    <a:lnL>
                      <a:noFill/>
                    </a:lnL>
                    <a:lnR>
                      <a:noFill/>
                    </a:lnR>
                    <a:lnT>
                      <a:noFill/>
                    </a:lnT>
                    <a:lnB>
                      <a:noFill/>
                    </a:lnB>
                    <a:noFill/>
                  </a:tcPr>
                </a:tc>
                <a:extLst>
                  <a:ext uri="{0D108BD9-81ED-4DB2-BD59-A6C34878D82A}">
                    <a16:rowId xmlns:a16="http://schemas.microsoft.com/office/drawing/2014/main" val="10004"/>
                  </a:ext>
                </a:extLst>
              </a:tr>
              <a:tr h="0">
                <a:tc>
                  <a:txBody>
                    <a:bodyPr/>
                    <a:lstStyle/>
                    <a:p>
                      <a:pPr>
                        <a:buNone/>
                      </a:pPr>
                      <a:r>
                        <a:rPr lang="en-US"/>
                        <a:t>Usable Hosts</a:t>
                      </a:r>
                    </a:p>
                  </a:txBody>
                  <a:tcPr anchor="ctr">
                    <a:lnL>
                      <a:noFill/>
                    </a:lnL>
                    <a:lnR>
                      <a:noFill/>
                    </a:lnR>
                    <a:lnT>
                      <a:noFill/>
                    </a:lnT>
                    <a:lnB>
                      <a:noFill/>
                    </a:lnB>
                    <a:noFill/>
                  </a:tcPr>
                </a:tc>
                <a:tc>
                  <a:txBody>
                    <a:bodyPr/>
                    <a:lstStyle/>
                    <a:p>
                      <a:pPr>
                        <a:buNone/>
                      </a:pPr>
                      <a:r>
                        <a:rPr lang="en-US"/>
                        <a:t>Devices allowed</a:t>
                      </a:r>
                    </a:p>
                  </a:txBody>
                  <a:tcPr anchor="ctr">
                    <a:lnL>
                      <a:noFill/>
                    </a:lnL>
                    <a:lnR>
                      <a:noFill/>
                    </a:lnR>
                    <a:lnT>
                      <a:noFill/>
                    </a:lnT>
                    <a:lnB>
                      <a:noFill/>
                    </a:lnB>
                    <a:noFill/>
                  </a:tcPr>
                </a:tc>
                <a:tc>
                  <a:txBody>
                    <a:bodyPr/>
                    <a:lstStyle/>
                    <a:p>
                      <a:pPr>
                        <a:buNone/>
                      </a:pPr>
                      <a:r>
                        <a:rPr lang="en-US" dirty="0"/>
                        <a:t>254</a:t>
                      </a:r>
                    </a:p>
                  </a:txBody>
                  <a:tcPr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way to understand it</a:t>
            </a:r>
          </a:p>
        </p:txBody>
      </p:sp>
      <p:sp>
        <p:nvSpPr>
          <p:cNvPr id="3" name="Content Placeholder 2"/>
          <p:cNvSpPr>
            <a:spLocks noGrp="1"/>
          </p:cNvSpPr>
          <p:nvPr>
            <p:ph idx="1"/>
          </p:nvPr>
        </p:nvSpPr>
        <p:spPr/>
        <p:txBody>
          <a:bodyPr>
            <a:normAutofit lnSpcReduction="10000"/>
          </a:bodyPr>
          <a:lstStyle/>
          <a:p>
            <a:r>
              <a:rPr lang="en-US" dirty="0"/>
              <a:t>192.168.10.0      → Network Address</a:t>
            </a:r>
          </a:p>
          <a:p>
            <a:r>
              <a:rPr lang="en-US" dirty="0"/>
              <a:t>192.168.10.1</a:t>
            </a:r>
          </a:p>
          <a:p>
            <a:r>
              <a:rPr lang="en-US" dirty="0"/>
              <a:t>192.168.10.2</a:t>
            </a:r>
          </a:p>
          <a:p>
            <a:r>
              <a:rPr lang="en-US" dirty="0"/>
              <a:t>192.168.10.3</a:t>
            </a:r>
          </a:p>
          <a:p>
            <a:r>
              <a:rPr lang="en-US" dirty="0"/>
              <a:t>...</a:t>
            </a:r>
          </a:p>
          <a:p>
            <a:r>
              <a:rPr lang="en-US" dirty="0"/>
              <a:t>192.168.10.254    → Last usable host</a:t>
            </a:r>
          </a:p>
          <a:p>
            <a:r>
              <a:rPr lang="en-US" dirty="0"/>
              <a:t>192.168.10.255    → Broadcast Address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 Create a comparison table for: </a:t>
            </a:r>
            <a:br>
              <a:rPr lang="en-US" dirty="0"/>
            </a:br>
            <a:br>
              <a:rPr lang="en-US" dirty="0"/>
            </a:br>
            <a:endParaRPr lang="en-US" dirty="0"/>
          </a:p>
        </p:txBody>
      </p:sp>
      <p:sp>
        <p:nvSpPr>
          <p:cNvPr id="3" name="Content Placeholder 2"/>
          <p:cNvSpPr>
            <a:spLocks noGrp="1"/>
          </p:cNvSpPr>
          <p:nvPr>
            <p:ph idx="1"/>
          </p:nvPr>
        </p:nvSpPr>
        <p:spPr>
          <a:xfrm>
            <a:off x="2928135" y="2285999"/>
            <a:ext cx="7968462" cy="3589869"/>
          </a:xfrm>
        </p:spPr>
        <p:txBody>
          <a:bodyPr>
            <a:normAutofit/>
          </a:bodyPr>
          <a:lstStyle/>
          <a:p>
            <a:pPr marL="0" indent="0">
              <a:buNone/>
            </a:pPr>
            <a:endParaRPr lang="en-US" dirty="0"/>
          </a:p>
          <a:p>
            <a:r>
              <a:rPr lang="en-US" dirty="0"/>
              <a:t>Hardware firewall</a:t>
            </a:r>
          </a:p>
          <a:p>
            <a:r>
              <a:rPr lang="en-US" dirty="0"/>
              <a:t>Software firewall</a:t>
            </a:r>
          </a:p>
          <a:p>
            <a:r>
              <a:rPr lang="en-US" dirty="0"/>
              <a:t>Cloud firewall</a:t>
            </a:r>
          </a:p>
          <a:p>
            <a:r>
              <a:rPr lang="en-US" dirty="0"/>
              <a:t>Stateful firewall</a:t>
            </a:r>
          </a:p>
          <a:p>
            <a:r>
              <a:rPr lang="en-US" dirty="0"/>
              <a:t>Stateless firewall</a:t>
            </a:r>
          </a:p>
          <a:p>
            <a:r>
              <a:rPr lang="en-US" dirty="0"/>
              <a:t>NGFW</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60970" y="616449"/>
          <a:ext cx="10870060" cy="5555749"/>
        </p:xfrm>
        <a:graphic>
          <a:graphicData uri="http://schemas.openxmlformats.org/drawingml/2006/table">
            <a:tbl>
              <a:tblPr/>
              <a:tblGrid>
                <a:gridCol w="2174012">
                  <a:extLst>
                    <a:ext uri="{9D8B030D-6E8A-4147-A177-3AD203B41FA5}">
                      <a16:colId xmlns:a16="http://schemas.microsoft.com/office/drawing/2014/main" val="20000"/>
                    </a:ext>
                  </a:extLst>
                </a:gridCol>
                <a:gridCol w="2174012">
                  <a:extLst>
                    <a:ext uri="{9D8B030D-6E8A-4147-A177-3AD203B41FA5}">
                      <a16:colId xmlns:a16="http://schemas.microsoft.com/office/drawing/2014/main" val="20001"/>
                    </a:ext>
                  </a:extLst>
                </a:gridCol>
                <a:gridCol w="2174012">
                  <a:extLst>
                    <a:ext uri="{9D8B030D-6E8A-4147-A177-3AD203B41FA5}">
                      <a16:colId xmlns:a16="http://schemas.microsoft.com/office/drawing/2014/main" val="20002"/>
                    </a:ext>
                  </a:extLst>
                </a:gridCol>
                <a:gridCol w="2174012">
                  <a:extLst>
                    <a:ext uri="{9D8B030D-6E8A-4147-A177-3AD203B41FA5}">
                      <a16:colId xmlns:a16="http://schemas.microsoft.com/office/drawing/2014/main" val="20003"/>
                    </a:ext>
                  </a:extLst>
                </a:gridCol>
                <a:gridCol w="2174012">
                  <a:extLst>
                    <a:ext uri="{9D8B030D-6E8A-4147-A177-3AD203B41FA5}">
                      <a16:colId xmlns:a16="http://schemas.microsoft.com/office/drawing/2014/main" val="20004"/>
                    </a:ext>
                  </a:extLst>
                </a:gridCol>
              </a:tblGrid>
              <a:tr h="317472">
                <a:tc>
                  <a:txBody>
                    <a:bodyPr/>
                    <a:lstStyle/>
                    <a:p>
                      <a:pPr>
                        <a:buNone/>
                      </a:pPr>
                      <a:r>
                        <a:rPr lang="en-US" sz="1500"/>
                        <a:t>Firewall Type</a:t>
                      </a:r>
                    </a:p>
                  </a:txBody>
                  <a:tcPr marL="78377" marR="78377" marT="39189" marB="39189" anchor="ctr">
                    <a:lnL>
                      <a:noFill/>
                    </a:lnL>
                    <a:lnR>
                      <a:noFill/>
                    </a:lnR>
                    <a:lnT>
                      <a:noFill/>
                    </a:lnT>
                    <a:lnB>
                      <a:noFill/>
                    </a:lnB>
                    <a:noFill/>
                  </a:tcPr>
                </a:tc>
                <a:tc>
                  <a:txBody>
                    <a:bodyPr/>
                    <a:lstStyle/>
                    <a:p>
                      <a:pPr>
                        <a:buNone/>
                      </a:pPr>
                      <a:r>
                        <a:rPr lang="en-US" sz="1500"/>
                        <a:t>Description</a:t>
                      </a:r>
                    </a:p>
                  </a:txBody>
                  <a:tcPr marL="78377" marR="78377" marT="39189" marB="39189" anchor="ctr">
                    <a:lnL>
                      <a:noFill/>
                    </a:lnL>
                    <a:lnR>
                      <a:noFill/>
                    </a:lnR>
                    <a:lnT>
                      <a:noFill/>
                    </a:lnT>
                    <a:lnB>
                      <a:noFill/>
                    </a:lnB>
                    <a:noFill/>
                  </a:tcPr>
                </a:tc>
                <a:tc>
                  <a:txBody>
                    <a:bodyPr/>
                    <a:lstStyle/>
                    <a:p>
                      <a:pPr>
                        <a:buNone/>
                      </a:pPr>
                      <a:r>
                        <a:rPr lang="en-US" sz="1500"/>
                        <a:t>Advantages</a:t>
                      </a:r>
                    </a:p>
                  </a:txBody>
                  <a:tcPr marL="78377" marR="78377" marT="39189" marB="39189" anchor="ctr">
                    <a:lnL>
                      <a:noFill/>
                    </a:lnL>
                    <a:lnR>
                      <a:noFill/>
                    </a:lnR>
                    <a:lnT>
                      <a:noFill/>
                    </a:lnT>
                    <a:lnB>
                      <a:noFill/>
                    </a:lnB>
                    <a:noFill/>
                  </a:tcPr>
                </a:tc>
                <a:tc>
                  <a:txBody>
                    <a:bodyPr/>
                    <a:lstStyle/>
                    <a:p>
                      <a:pPr>
                        <a:buNone/>
                      </a:pPr>
                      <a:r>
                        <a:rPr lang="en-US" sz="1500"/>
                        <a:t>Limitations</a:t>
                      </a:r>
                    </a:p>
                  </a:txBody>
                  <a:tcPr marL="78377" marR="78377" marT="39189" marB="39189" anchor="ctr">
                    <a:lnL>
                      <a:noFill/>
                    </a:lnL>
                    <a:lnR>
                      <a:noFill/>
                    </a:lnR>
                    <a:lnT>
                      <a:noFill/>
                    </a:lnT>
                    <a:lnB>
                      <a:noFill/>
                    </a:lnB>
                    <a:noFill/>
                  </a:tcPr>
                </a:tc>
                <a:tc>
                  <a:txBody>
                    <a:bodyPr/>
                    <a:lstStyle/>
                    <a:p>
                      <a:pPr>
                        <a:buNone/>
                      </a:pPr>
                      <a:r>
                        <a:rPr lang="en-US" sz="1500"/>
                        <a:t>Common Use</a:t>
                      </a:r>
                    </a:p>
                  </a:txBody>
                  <a:tcPr marL="78377" marR="78377" marT="39189" marB="39189" anchor="ctr">
                    <a:lnL>
                      <a:noFill/>
                    </a:lnL>
                    <a:lnR>
                      <a:noFill/>
                    </a:lnR>
                    <a:lnT>
                      <a:noFill/>
                    </a:lnT>
                    <a:lnB>
                      <a:noFill/>
                    </a:lnB>
                    <a:noFill/>
                  </a:tcPr>
                </a:tc>
                <a:extLst>
                  <a:ext uri="{0D108BD9-81ED-4DB2-BD59-A6C34878D82A}">
                    <a16:rowId xmlns:a16="http://schemas.microsoft.com/office/drawing/2014/main" val="10000"/>
                  </a:ext>
                </a:extLst>
              </a:tr>
              <a:tr h="1031782">
                <a:tc>
                  <a:txBody>
                    <a:bodyPr/>
                    <a:lstStyle/>
                    <a:p>
                      <a:pPr>
                        <a:buNone/>
                      </a:pPr>
                      <a:r>
                        <a:rPr lang="en-US" sz="1500"/>
                        <a:t>Hardware Firewall</a:t>
                      </a:r>
                    </a:p>
                  </a:txBody>
                  <a:tcPr marL="78377" marR="78377" marT="39189" marB="39189" anchor="ctr">
                    <a:lnL>
                      <a:noFill/>
                    </a:lnL>
                    <a:lnR>
                      <a:noFill/>
                    </a:lnR>
                    <a:lnT>
                      <a:noFill/>
                    </a:lnT>
                    <a:lnB>
                      <a:noFill/>
                    </a:lnB>
                    <a:noFill/>
                  </a:tcPr>
                </a:tc>
                <a:tc>
                  <a:txBody>
                    <a:bodyPr/>
                    <a:lstStyle/>
                    <a:p>
                      <a:pPr>
                        <a:buNone/>
                      </a:pPr>
                      <a:r>
                        <a:rPr lang="en-US" sz="1500"/>
                        <a:t>Physical device placed between network and internet</a:t>
                      </a:r>
                    </a:p>
                  </a:txBody>
                  <a:tcPr marL="78377" marR="78377" marT="39189" marB="39189" anchor="ctr">
                    <a:lnL>
                      <a:noFill/>
                    </a:lnL>
                    <a:lnR>
                      <a:noFill/>
                    </a:lnR>
                    <a:lnT>
                      <a:noFill/>
                    </a:lnT>
                    <a:lnB>
                      <a:noFill/>
                    </a:lnB>
                    <a:noFill/>
                  </a:tcPr>
                </a:tc>
                <a:tc>
                  <a:txBody>
                    <a:bodyPr/>
                    <a:lstStyle/>
                    <a:p>
                      <a:pPr>
                        <a:buNone/>
                      </a:pPr>
                      <a:r>
                        <a:rPr lang="en-US" sz="1500"/>
                        <a:t>Strong protection for entire network</a:t>
                      </a:r>
                    </a:p>
                  </a:txBody>
                  <a:tcPr marL="78377" marR="78377" marT="39189" marB="39189" anchor="ctr">
                    <a:lnL>
                      <a:noFill/>
                    </a:lnL>
                    <a:lnR>
                      <a:noFill/>
                    </a:lnR>
                    <a:lnT>
                      <a:noFill/>
                    </a:lnT>
                    <a:lnB>
                      <a:noFill/>
                    </a:lnB>
                    <a:noFill/>
                  </a:tcPr>
                </a:tc>
                <a:tc>
                  <a:txBody>
                    <a:bodyPr/>
                    <a:lstStyle/>
                    <a:p>
                      <a:pPr>
                        <a:buNone/>
                      </a:pPr>
                      <a:r>
                        <a:rPr lang="en-US" sz="1500"/>
                        <a:t>Expensive</a:t>
                      </a:r>
                    </a:p>
                  </a:txBody>
                  <a:tcPr marL="78377" marR="78377" marT="39189" marB="39189" anchor="ctr">
                    <a:lnL>
                      <a:noFill/>
                    </a:lnL>
                    <a:lnR>
                      <a:noFill/>
                    </a:lnR>
                    <a:lnT>
                      <a:noFill/>
                    </a:lnT>
                    <a:lnB>
                      <a:noFill/>
                    </a:lnB>
                    <a:noFill/>
                  </a:tcPr>
                </a:tc>
                <a:tc>
                  <a:txBody>
                    <a:bodyPr/>
                    <a:lstStyle/>
                    <a:p>
                      <a:pPr>
                        <a:buNone/>
                      </a:pPr>
                      <a:r>
                        <a:rPr lang="en-US" sz="1500"/>
                        <a:t>Companies and offices</a:t>
                      </a:r>
                    </a:p>
                  </a:txBody>
                  <a:tcPr marL="78377" marR="78377" marT="39189" marB="39189" anchor="ctr">
                    <a:lnL>
                      <a:noFill/>
                    </a:lnL>
                    <a:lnR>
                      <a:noFill/>
                    </a:lnR>
                    <a:lnT>
                      <a:noFill/>
                    </a:lnT>
                    <a:lnB>
                      <a:noFill/>
                    </a:lnB>
                    <a:noFill/>
                  </a:tcPr>
                </a:tc>
                <a:extLst>
                  <a:ext uri="{0D108BD9-81ED-4DB2-BD59-A6C34878D82A}">
                    <a16:rowId xmlns:a16="http://schemas.microsoft.com/office/drawing/2014/main" val="10001"/>
                  </a:ext>
                </a:extLst>
              </a:tr>
              <a:tr h="555575">
                <a:tc>
                  <a:txBody>
                    <a:bodyPr/>
                    <a:lstStyle/>
                    <a:p>
                      <a:pPr>
                        <a:buNone/>
                      </a:pPr>
                      <a:r>
                        <a:rPr lang="en-US" sz="1500"/>
                        <a:t>Software Firewall</a:t>
                      </a:r>
                    </a:p>
                  </a:txBody>
                  <a:tcPr marL="78377" marR="78377" marT="39189" marB="39189" anchor="ctr">
                    <a:lnL>
                      <a:noFill/>
                    </a:lnL>
                    <a:lnR>
                      <a:noFill/>
                    </a:lnR>
                    <a:lnT>
                      <a:noFill/>
                    </a:lnT>
                    <a:lnB>
                      <a:noFill/>
                    </a:lnB>
                    <a:noFill/>
                  </a:tcPr>
                </a:tc>
                <a:tc>
                  <a:txBody>
                    <a:bodyPr/>
                    <a:lstStyle/>
                    <a:p>
                      <a:pPr>
                        <a:buNone/>
                      </a:pPr>
                      <a:r>
                        <a:rPr lang="en-US" sz="1500"/>
                        <a:t>Installed on a computer or server</a:t>
                      </a:r>
                    </a:p>
                  </a:txBody>
                  <a:tcPr marL="78377" marR="78377" marT="39189" marB="39189" anchor="ctr">
                    <a:lnL>
                      <a:noFill/>
                    </a:lnL>
                    <a:lnR>
                      <a:noFill/>
                    </a:lnR>
                    <a:lnT>
                      <a:noFill/>
                    </a:lnT>
                    <a:lnB>
                      <a:noFill/>
                    </a:lnB>
                    <a:noFill/>
                  </a:tcPr>
                </a:tc>
                <a:tc>
                  <a:txBody>
                    <a:bodyPr/>
                    <a:lstStyle/>
                    <a:p>
                      <a:pPr>
                        <a:buNone/>
                      </a:pPr>
                      <a:r>
                        <a:rPr lang="en-US" sz="1500"/>
                        <a:t>Easy to install and manage</a:t>
                      </a:r>
                    </a:p>
                  </a:txBody>
                  <a:tcPr marL="78377" marR="78377" marT="39189" marB="39189" anchor="ctr">
                    <a:lnL>
                      <a:noFill/>
                    </a:lnL>
                    <a:lnR>
                      <a:noFill/>
                    </a:lnR>
                    <a:lnT>
                      <a:noFill/>
                    </a:lnT>
                    <a:lnB>
                      <a:noFill/>
                    </a:lnB>
                    <a:noFill/>
                  </a:tcPr>
                </a:tc>
                <a:tc>
                  <a:txBody>
                    <a:bodyPr/>
                    <a:lstStyle/>
                    <a:p>
                      <a:pPr>
                        <a:buNone/>
                      </a:pPr>
                      <a:r>
                        <a:rPr lang="en-US" sz="1500"/>
                        <a:t>Protects only one device</a:t>
                      </a:r>
                    </a:p>
                  </a:txBody>
                  <a:tcPr marL="78377" marR="78377" marT="39189" marB="39189" anchor="ctr">
                    <a:lnL>
                      <a:noFill/>
                    </a:lnL>
                    <a:lnR>
                      <a:noFill/>
                    </a:lnR>
                    <a:lnT>
                      <a:noFill/>
                    </a:lnT>
                    <a:lnB>
                      <a:noFill/>
                    </a:lnB>
                    <a:noFill/>
                  </a:tcPr>
                </a:tc>
                <a:tc>
                  <a:txBody>
                    <a:bodyPr/>
                    <a:lstStyle/>
                    <a:p>
                      <a:pPr>
                        <a:buNone/>
                      </a:pPr>
                      <a:r>
                        <a:rPr lang="en-US" sz="1500"/>
                        <a:t>Personal computers</a:t>
                      </a:r>
                    </a:p>
                  </a:txBody>
                  <a:tcPr marL="78377" marR="78377" marT="39189" marB="39189" anchor="ctr">
                    <a:lnL>
                      <a:noFill/>
                    </a:lnL>
                    <a:lnR>
                      <a:noFill/>
                    </a:lnR>
                    <a:lnT>
                      <a:noFill/>
                    </a:lnT>
                    <a:lnB>
                      <a:noFill/>
                    </a:lnB>
                    <a:noFill/>
                  </a:tcPr>
                </a:tc>
                <a:extLst>
                  <a:ext uri="{0D108BD9-81ED-4DB2-BD59-A6C34878D82A}">
                    <a16:rowId xmlns:a16="http://schemas.microsoft.com/office/drawing/2014/main" val="10002"/>
                  </a:ext>
                </a:extLst>
              </a:tr>
              <a:tr h="793678">
                <a:tc>
                  <a:txBody>
                    <a:bodyPr/>
                    <a:lstStyle/>
                    <a:p>
                      <a:pPr>
                        <a:buNone/>
                      </a:pPr>
                      <a:r>
                        <a:rPr lang="en-US" sz="1500"/>
                        <a:t>Cloud Firewall</a:t>
                      </a:r>
                    </a:p>
                  </a:txBody>
                  <a:tcPr marL="78377" marR="78377" marT="39189" marB="39189" anchor="ctr">
                    <a:lnL>
                      <a:noFill/>
                    </a:lnL>
                    <a:lnR>
                      <a:noFill/>
                    </a:lnR>
                    <a:lnT>
                      <a:noFill/>
                    </a:lnT>
                    <a:lnB>
                      <a:noFill/>
                    </a:lnB>
                    <a:noFill/>
                  </a:tcPr>
                </a:tc>
                <a:tc>
                  <a:txBody>
                    <a:bodyPr/>
                    <a:lstStyle/>
                    <a:p>
                      <a:pPr>
                        <a:buNone/>
                      </a:pPr>
                      <a:r>
                        <a:rPr lang="en-US" sz="1500"/>
                        <a:t>Firewall hosted on the internet/cloud</a:t>
                      </a:r>
                    </a:p>
                  </a:txBody>
                  <a:tcPr marL="78377" marR="78377" marT="39189" marB="39189" anchor="ctr">
                    <a:lnL>
                      <a:noFill/>
                    </a:lnL>
                    <a:lnR>
                      <a:noFill/>
                    </a:lnR>
                    <a:lnT>
                      <a:noFill/>
                    </a:lnT>
                    <a:lnB>
                      <a:noFill/>
                    </a:lnB>
                    <a:noFill/>
                  </a:tcPr>
                </a:tc>
                <a:tc>
                  <a:txBody>
                    <a:bodyPr/>
                    <a:lstStyle/>
                    <a:p>
                      <a:pPr>
                        <a:buNone/>
                      </a:pPr>
                      <a:r>
                        <a:rPr lang="en-US" sz="1500"/>
                        <a:t>Scalable and remote access protection</a:t>
                      </a:r>
                    </a:p>
                  </a:txBody>
                  <a:tcPr marL="78377" marR="78377" marT="39189" marB="39189" anchor="ctr">
                    <a:lnL>
                      <a:noFill/>
                    </a:lnL>
                    <a:lnR>
                      <a:noFill/>
                    </a:lnR>
                    <a:lnT>
                      <a:noFill/>
                    </a:lnT>
                    <a:lnB>
                      <a:noFill/>
                    </a:lnB>
                    <a:noFill/>
                  </a:tcPr>
                </a:tc>
                <a:tc>
                  <a:txBody>
                    <a:bodyPr/>
                    <a:lstStyle/>
                    <a:p>
                      <a:pPr>
                        <a:buNone/>
                      </a:pPr>
                      <a:r>
                        <a:rPr lang="en-US" sz="1500"/>
                        <a:t>Depends on internet/cloud provider</a:t>
                      </a:r>
                    </a:p>
                  </a:txBody>
                  <a:tcPr marL="78377" marR="78377" marT="39189" marB="39189" anchor="ctr">
                    <a:lnL>
                      <a:noFill/>
                    </a:lnL>
                    <a:lnR>
                      <a:noFill/>
                    </a:lnR>
                    <a:lnT>
                      <a:noFill/>
                    </a:lnT>
                    <a:lnB>
                      <a:noFill/>
                    </a:lnB>
                    <a:noFill/>
                  </a:tcPr>
                </a:tc>
                <a:tc>
                  <a:txBody>
                    <a:bodyPr/>
                    <a:lstStyle/>
                    <a:p>
                      <a:pPr>
                        <a:buNone/>
                      </a:pPr>
                      <a:r>
                        <a:rPr lang="en-US" sz="1500"/>
                        <a:t>Cloud applications and remote work</a:t>
                      </a:r>
                    </a:p>
                  </a:txBody>
                  <a:tcPr marL="78377" marR="78377" marT="39189" marB="39189" anchor="ctr">
                    <a:lnL>
                      <a:noFill/>
                    </a:lnL>
                    <a:lnR>
                      <a:noFill/>
                    </a:lnR>
                    <a:lnT>
                      <a:noFill/>
                    </a:lnT>
                    <a:lnB>
                      <a:noFill/>
                    </a:lnB>
                    <a:noFill/>
                  </a:tcPr>
                </a:tc>
                <a:extLst>
                  <a:ext uri="{0D108BD9-81ED-4DB2-BD59-A6C34878D82A}">
                    <a16:rowId xmlns:a16="http://schemas.microsoft.com/office/drawing/2014/main" val="10003"/>
                  </a:ext>
                </a:extLst>
              </a:tr>
              <a:tr h="793678">
                <a:tc>
                  <a:txBody>
                    <a:bodyPr/>
                    <a:lstStyle/>
                    <a:p>
                      <a:pPr>
                        <a:buNone/>
                      </a:pPr>
                      <a:r>
                        <a:rPr lang="en-US" sz="1500"/>
                        <a:t>Stateful Firewall</a:t>
                      </a:r>
                    </a:p>
                  </a:txBody>
                  <a:tcPr marL="78377" marR="78377" marT="39189" marB="39189" anchor="ctr">
                    <a:lnL>
                      <a:noFill/>
                    </a:lnL>
                    <a:lnR>
                      <a:noFill/>
                    </a:lnR>
                    <a:lnT>
                      <a:noFill/>
                    </a:lnT>
                    <a:lnB>
                      <a:noFill/>
                    </a:lnB>
                    <a:noFill/>
                  </a:tcPr>
                </a:tc>
                <a:tc>
                  <a:txBody>
                    <a:bodyPr/>
                    <a:lstStyle/>
                    <a:p>
                      <a:pPr>
                        <a:buNone/>
                      </a:pPr>
                      <a:r>
                        <a:rPr lang="en-US" sz="1500"/>
                        <a:t>Tracks active connections before allowing traffic</a:t>
                      </a:r>
                    </a:p>
                  </a:txBody>
                  <a:tcPr marL="78377" marR="78377" marT="39189" marB="39189" anchor="ctr">
                    <a:lnL>
                      <a:noFill/>
                    </a:lnL>
                    <a:lnR>
                      <a:noFill/>
                    </a:lnR>
                    <a:lnT>
                      <a:noFill/>
                    </a:lnT>
                    <a:lnB>
                      <a:noFill/>
                    </a:lnB>
                    <a:noFill/>
                  </a:tcPr>
                </a:tc>
                <a:tc>
                  <a:txBody>
                    <a:bodyPr/>
                    <a:lstStyle/>
                    <a:p>
                      <a:pPr>
                        <a:buNone/>
                      </a:pPr>
                      <a:r>
                        <a:rPr lang="en-US" sz="1500"/>
                        <a:t>Better security and traffic monitoring</a:t>
                      </a:r>
                    </a:p>
                  </a:txBody>
                  <a:tcPr marL="78377" marR="78377" marT="39189" marB="39189" anchor="ctr">
                    <a:lnL>
                      <a:noFill/>
                    </a:lnL>
                    <a:lnR>
                      <a:noFill/>
                    </a:lnR>
                    <a:lnT>
                      <a:noFill/>
                    </a:lnT>
                    <a:lnB>
                      <a:noFill/>
                    </a:lnB>
                    <a:noFill/>
                  </a:tcPr>
                </a:tc>
                <a:tc>
                  <a:txBody>
                    <a:bodyPr/>
                    <a:lstStyle/>
                    <a:p>
                      <a:pPr>
                        <a:buNone/>
                      </a:pPr>
                      <a:r>
                        <a:rPr lang="en-US" sz="1500"/>
                        <a:t>Uses more resources</a:t>
                      </a:r>
                    </a:p>
                  </a:txBody>
                  <a:tcPr marL="78377" marR="78377" marT="39189" marB="39189" anchor="ctr">
                    <a:lnL>
                      <a:noFill/>
                    </a:lnL>
                    <a:lnR>
                      <a:noFill/>
                    </a:lnR>
                    <a:lnT>
                      <a:noFill/>
                    </a:lnT>
                    <a:lnB>
                      <a:noFill/>
                    </a:lnB>
                    <a:noFill/>
                  </a:tcPr>
                </a:tc>
                <a:tc>
                  <a:txBody>
                    <a:bodyPr/>
                    <a:lstStyle/>
                    <a:p>
                      <a:pPr>
                        <a:buNone/>
                      </a:pPr>
                      <a:r>
                        <a:rPr lang="en-US" sz="1500"/>
                        <a:t>Enterprise networks</a:t>
                      </a:r>
                    </a:p>
                  </a:txBody>
                  <a:tcPr marL="78377" marR="78377" marT="39189" marB="39189" anchor="ctr">
                    <a:lnL>
                      <a:noFill/>
                    </a:lnL>
                    <a:lnR>
                      <a:noFill/>
                    </a:lnR>
                    <a:lnT>
                      <a:noFill/>
                    </a:lnT>
                    <a:lnB>
                      <a:noFill/>
                    </a:lnB>
                    <a:noFill/>
                  </a:tcPr>
                </a:tc>
                <a:extLst>
                  <a:ext uri="{0D108BD9-81ED-4DB2-BD59-A6C34878D82A}">
                    <a16:rowId xmlns:a16="http://schemas.microsoft.com/office/drawing/2014/main" val="10004"/>
                  </a:ext>
                </a:extLst>
              </a:tr>
              <a:tr h="1031782">
                <a:tc>
                  <a:txBody>
                    <a:bodyPr/>
                    <a:lstStyle/>
                    <a:p>
                      <a:pPr>
                        <a:buNone/>
                      </a:pPr>
                      <a:r>
                        <a:rPr lang="en-US" sz="1500"/>
                        <a:t>Stateless Firewall</a:t>
                      </a:r>
                    </a:p>
                  </a:txBody>
                  <a:tcPr marL="78377" marR="78377" marT="39189" marB="39189" anchor="ctr">
                    <a:lnL>
                      <a:noFill/>
                    </a:lnL>
                    <a:lnR>
                      <a:noFill/>
                    </a:lnR>
                    <a:lnT>
                      <a:noFill/>
                    </a:lnT>
                    <a:lnB>
                      <a:noFill/>
                    </a:lnB>
                    <a:noFill/>
                  </a:tcPr>
                </a:tc>
                <a:tc>
                  <a:txBody>
                    <a:bodyPr/>
                    <a:lstStyle/>
                    <a:p>
                      <a:pPr>
                        <a:buNone/>
                      </a:pPr>
                      <a:r>
                        <a:rPr lang="en-US" sz="1500"/>
                        <a:t>Checks packets individually without tracking sessions</a:t>
                      </a:r>
                    </a:p>
                  </a:txBody>
                  <a:tcPr marL="78377" marR="78377" marT="39189" marB="39189" anchor="ctr">
                    <a:lnL>
                      <a:noFill/>
                    </a:lnL>
                    <a:lnR>
                      <a:noFill/>
                    </a:lnR>
                    <a:lnT>
                      <a:noFill/>
                    </a:lnT>
                    <a:lnB>
                      <a:noFill/>
                    </a:lnB>
                    <a:noFill/>
                  </a:tcPr>
                </a:tc>
                <a:tc>
                  <a:txBody>
                    <a:bodyPr/>
                    <a:lstStyle/>
                    <a:p>
                      <a:pPr>
                        <a:buNone/>
                      </a:pPr>
                      <a:r>
                        <a:rPr lang="en-US" sz="1500"/>
                        <a:t>Faster performance</a:t>
                      </a:r>
                    </a:p>
                  </a:txBody>
                  <a:tcPr marL="78377" marR="78377" marT="39189" marB="39189" anchor="ctr">
                    <a:lnL>
                      <a:noFill/>
                    </a:lnL>
                    <a:lnR>
                      <a:noFill/>
                    </a:lnR>
                    <a:lnT>
                      <a:noFill/>
                    </a:lnT>
                    <a:lnB>
                      <a:noFill/>
                    </a:lnB>
                    <a:noFill/>
                  </a:tcPr>
                </a:tc>
                <a:tc>
                  <a:txBody>
                    <a:bodyPr/>
                    <a:lstStyle/>
                    <a:p>
                      <a:pPr>
                        <a:buNone/>
                      </a:pPr>
                      <a:r>
                        <a:rPr lang="en-US" sz="1500"/>
                        <a:t>Less secure</a:t>
                      </a:r>
                    </a:p>
                  </a:txBody>
                  <a:tcPr marL="78377" marR="78377" marT="39189" marB="39189" anchor="ctr">
                    <a:lnL>
                      <a:noFill/>
                    </a:lnL>
                    <a:lnR>
                      <a:noFill/>
                    </a:lnR>
                    <a:lnT>
                      <a:noFill/>
                    </a:lnT>
                    <a:lnB>
                      <a:noFill/>
                    </a:lnB>
                    <a:noFill/>
                  </a:tcPr>
                </a:tc>
                <a:tc>
                  <a:txBody>
                    <a:bodyPr/>
                    <a:lstStyle/>
                    <a:p>
                      <a:pPr>
                        <a:buNone/>
                      </a:pPr>
                      <a:r>
                        <a:rPr lang="en-US" sz="1500"/>
                        <a:t>Simple or older networks</a:t>
                      </a:r>
                    </a:p>
                  </a:txBody>
                  <a:tcPr marL="78377" marR="78377" marT="39189" marB="39189" anchor="ctr">
                    <a:lnL>
                      <a:noFill/>
                    </a:lnL>
                    <a:lnR>
                      <a:noFill/>
                    </a:lnR>
                    <a:lnT>
                      <a:noFill/>
                    </a:lnT>
                    <a:lnB>
                      <a:noFill/>
                    </a:lnB>
                    <a:noFill/>
                  </a:tcPr>
                </a:tc>
                <a:extLst>
                  <a:ext uri="{0D108BD9-81ED-4DB2-BD59-A6C34878D82A}">
                    <a16:rowId xmlns:a16="http://schemas.microsoft.com/office/drawing/2014/main" val="10005"/>
                  </a:ext>
                </a:extLst>
              </a:tr>
              <a:tr h="1031782">
                <a:tc>
                  <a:txBody>
                    <a:bodyPr/>
                    <a:lstStyle/>
                    <a:p>
                      <a:pPr>
                        <a:buNone/>
                      </a:pPr>
                      <a:r>
                        <a:rPr lang="en-US" sz="1500"/>
                        <a:t>NGFW (Next-Generation Firewall)</a:t>
                      </a:r>
                    </a:p>
                  </a:txBody>
                  <a:tcPr marL="78377" marR="78377" marT="39189" marB="39189" anchor="ctr">
                    <a:lnL>
                      <a:noFill/>
                    </a:lnL>
                    <a:lnR>
                      <a:noFill/>
                    </a:lnR>
                    <a:lnT>
                      <a:noFill/>
                    </a:lnT>
                    <a:lnB>
                      <a:noFill/>
                    </a:lnB>
                    <a:noFill/>
                  </a:tcPr>
                </a:tc>
                <a:tc>
                  <a:txBody>
                    <a:bodyPr/>
                    <a:lstStyle/>
                    <a:p>
                      <a:pPr>
                        <a:buNone/>
                      </a:pPr>
                      <a:r>
                        <a:rPr lang="en-US" sz="1500"/>
                        <a:t>Advanced firewall with deep inspection and threat detection</a:t>
                      </a:r>
                    </a:p>
                  </a:txBody>
                  <a:tcPr marL="78377" marR="78377" marT="39189" marB="39189" anchor="ctr">
                    <a:lnL>
                      <a:noFill/>
                    </a:lnL>
                    <a:lnR>
                      <a:noFill/>
                    </a:lnR>
                    <a:lnT>
                      <a:noFill/>
                    </a:lnT>
                    <a:lnB>
                      <a:noFill/>
                    </a:lnB>
                    <a:noFill/>
                  </a:tcPr>
                </a:tc>
                <a:tc>
                  <a:txBody>
                    <a:bodyPr/>
                    <a:lstStyle/>
                    <a:p>
                      <a:pPr>
                        <a:buNone/>
                      </a:pPr>
                      <a:r>
                        <a:rPr lang="en-US" sz="1500"/>
                        <a:t>Detects malware, attacks, and applications</a:t>
                      </a:r>
                    </a:p>
                  </a:txBody>
                  <a:tcPr marL="78377" marR="78377" marT="39189" marB="39189" anchor="ctr">
                    <a:lnL>
                      <a:noFill/>
                    </a:lnL>
                    <a:lnR>
                      <a:noFill/>
                    </a:lnR>
                    <a:lnT>
                      <a:noFill/>
                    </a:lnT>
                    <a:lnB>
                      <a:noFill/>
                    </a:lnB>
                    <a:noFill/>
                  </a:tcPr>
                </a:tc>
                <a:tc>
                  <a:txBody>
                    <a:bodyPr/>
                    <a:lstStyle/>
                    <a:p>
                      <a:pPr>
                        <a:buNone/>
                      </a:pPr>
                      <a:r>
                        <a:rPr lang="en-US" sz="1500"/>
                        <a:t>Costly and complex</a:t>
                      </a:r>
                    </a:p>
                  </a:txBody>
                  <a:tcPr marL="78377" marR="78377" marT="39189" marB="39189" anchor="ctr">
                    <a:lnL>
                      <a:noFill/>
                    </a:lnL>
                    <a:lnR>
                      <a:noFill/>
                    </a:lnR>
                    <a:lnT>
                      <a:noFill/>
                    </a:lnT>
                    <a:lnB>
                      <a:noFill/>
                    </a:lnB>
                    <a:noFill/>
                  </a:tcPr>
                </a:tc>
                <a:tc>
                  <a:txBody>
                    <a:bodyPr/>
                    <a:lstStyle/>
                    <a:p>
                      <a:pPr>
                        <a:buNone/>
                      </a:pPr>
                      <a:r>
                        <a:rPr lang="en-US" sz="1500" dirty="0"/>
                        <a:t>Modern enterprise security</a:t>
                      </a:r>
                    </a:p>
                  </a:txBody>
                  <a:tcPr marL="78377" marR="78377" marT="39189" marB="39189"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546" y="595901"/>
            <a:ext cx="10931703" cy="5640512"/>
          </a:xfrm>
        </p:spPr>
        <p:txBody>
          <a:bodyPr>
            <a:normAutofit lnSpcReduction="10000"/>
          </a:bodyPr>
          <a:lstStyle/>
          <a:p>
            <a:r>
              <a:rPr lang="en-US" b="1" u="sng" dirty="0">
                <a:effectLst>
                  <a:outerShdw blurRad="38100" dist="38100" dir="2700000" algn="tl">
                    <a:srgbClr val="000000">
                      <a:alpha val="43137"/>
                    </a:srgbClr>
                  </a:outerShdw>
                </a:effectLst>
              </a:rPr>
              <a:t>Easy way to understand</a:t>
            </a:r>
          </a:p>
          <a:p>
            <a:r>
              <a:rPr lang="en-US" b="1" dirty="0"/>
              <a:t>Hardware</a:t>
            </a:r>
            <a:r>
              <a:rPr lang="en-US" dirty="0"/>
              <a:t> = Physical protection </a:t>
            </a:r>
          </a:p>
          <a:p>
            <a:r>
              <a:rPr lang="en-US" b="1" dirty="0"/>
              <a:t>Software</a:t>
            </a:r>
            <a:r>
              <a:rPr lang="en-US" dirty="0"/>
              <a:t> = Device protection </a:t>
            </a:r>
          </a:p>
          <a:p>
            <a:r>
              <a:rPr lang="en-US" b="1" dirty="0"/>
              <a:t>Cloud</a:t>
            </a:r>
            <a:r>
              <a:rPr lang="en-US" dirty="0"/>
              <a:t> = Online protection </a:t>
            </a:r>
          </a:p>
          <a:p>
            <a:r>
              <a:rPr lang="en-US" b="1" dirty="0"/>
              <a:t>Stateful</a:t>
            </a:r>
            <a:r>
              <a:rPr lang="en-US" dirty="0"/>
              <a:t> = Remembers connections </a:t>
            </a:r>
          </a:p>
          <a:p>
            <a:r>
              <a:rPr lang="en-US" b="1" dirty="0"/>
              <a:t>Stateless</a:t>
            </a:r>
            <a:r>
              <a:rPr lang="en-US" dirty="0"/>
              <a:t> = Checks packets only </a:t>
            </a:r>
          </a:p>
          <a:p>
            <a:r>
              <a:rPr lang="en-US" b="1" dirty="0"/>
              <a:t>NGFW</a:t>
            </a:r>
            <a:r>
              <a:rPr lang="en-US" dirty="0"/>
              <a:t> = Advanced intelligent firewall .</a:t>
            </a:r>
            <a:br>
              <a:rPr lang="en-US" dirty="0"/>
            </a:br>
            <a:endParaRPr lang="en-US" dirty="0"/>
          </a:p>
          <a:p>
            <a:r>
              <a:rPr lang="en-US" b="1" dirty="0"/>
              <a:t>In Essence</a:t>
            </a:r>
          </a:p>
          <a:p>
            <a:r>
              <a:rPr lang="en-US" dirty="0"/>
              <a:t>A firewall controls incoming and outgoing traffic to protect systems from unauthorized access and cyber threats. Different firewall types provide different levels of security, speed, and management depending on organizational needs.</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 Create a report explaining: </a:t>
            </a:r>
            <a:br>
              <a:rPr lang="en-US" dirty="0"/>
            </a:br>
            <a:endParaRPr lang="en-US" dirty="0"/>
          </a:p>
        </p:txBody>
      </p:sp>
      <p:sp>
        <p:nvSpPr>
          <p:cNvPr id="3" name="Content Placeholder 2"/>
          <p:cNvSpPr>
            <a:spLocks noGrp="1"/>
          </p:cNvSpPr>
          <p:nvPr>
            <p:ph idx="1"/>
          </p:nvPr>
        </p:nvSpPr>
        <p:spPr>
          <a:xfrm>
            <a:off x="2547991" y="2556931"/>
            <a:ext cx="8348606" cy="3453451"/>
          </a:xfrm>
        </p:spPr>
        <p:txBody>
          <a:bodyPr>
            <a:normAutofit lnSpcReduction="10000"/>
          </a:bodyPr>
          <a:lstStyle/>
          <a:p>
            <a:pPr marL="0" indent="0">
              <a:buNone/>
            </a:pPr>
            <a:endParaRPr lang="en-US" dirty="0"/>
          </a:p>
          <a:p>
            <a:r>
              <a:rPr lang="en-US" dirty="0"/>
              <a:t>Purpose of VPN</a:t>
            </a:r>
          </a:p>
          <a:p>
            <a:r>
              <a:rPr lang="en-US" dirty="0"/>
              <a:t>Remote access VPN</a:t>
            </a:r>
          </a:p>
          <a:p>
            <a:r>
              <a:rPr lang="en-US" dirty="0"/>
              <a:t>Site-to-site VPN</a:t>
            </a:r>
          </a:p>
          <a:p>
            <a:r>
              <a:rPr lang="en-US" dirty="0"/>
              <a:t>IPSec</a:t>
            </a:r>
          </a:p>
          <a:p>
            <a:r>
              <a:rPr lang="en-US" dirty="0"/>
              <a:t>Wire Guard</a:t>
            </a:r>
          </a:p>
          <a:p>
            <a:r>
              <a:rPr lang="en-US" dirty="0"/>
              <a:t>VPN encryption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982132"/>
            <a:ext cx="9067798" cy="507621"/>
          </a:xfrm>
        </p:spPr>
        <p:txBody>
          <a:bodyPr>
            <a:normAutofit fontScale="90000"/>
          </a:bodyPr>
          <a:lstStyle/>
          <a:p>
            <a:r>
              <a:rPr lang="en-US" b="1" dirty="0"/>
              <a:t>VPN Report</a:t>
            </a:r>
            <a:br>
              <a:rPr lang="en-US" b="1" dirty="0"/>
            </a:br>
            <a:endParaRPr lang="en-US" dirty="0"/>
          </a:p>
        </p:txBody>
      </p:sp>
      <p:sp>
        <p:nvSpPr>
          <p:cNvPr id="3" name="Content Placeholder 2"/>
          <p:cNvSpPr>
            <a:spLocks noGrp="1"/>
          </p:cNvSpPr>
          <p:nvPr>
            <p:ph idx="1"/>
          </p:nvPr>
        </p:nvSpPr>
        <p:spPr/>
        <p:txBody>
          <a:bodyPr>
            <a:normAutofit/>
          </a:bodyPr>
          <a:lstStyle/>
          <a:p>
            <a:r>
              <a:rPr lang="en-US" dirty="0"/>
              <a:t>A </a:t>
            </a:r>
            <a:r>
              <a:rPr lang="en-US" b="1" dirty="0"/>
              <a:t>VPN (Virtual Private Network)</a:t>
            </a:r>
            <a:r>
              <a:rPr lang="en-US" dirty="0"/>
              <a:t> is a secure connection that allows users or organizations to send data safely over the internet.</a:t>
            </a:r>
          </a:p>
          <a:p>
            <a:r>
              <a:rPr lang="en-US" dirty="0"/>
              <a:t>It creates an encrypted “private tunnel” between devices and networks so outsiders cannot easily see or steal the information.</a:t>
            </a:r>
          </a:p>
          <a:p>
            <a:r>
              <a:rPr lang="en-US" dirty="0"/>
              <a:t>Think of it like traveling through a hidden underground tunnel instead of using an open public road.</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8396" y="626723"/>
            <a:ext cx="9298111" cy="5599415"/>
          </a:xfrm>
        </p:spPr>
        <p:txBody>
          <a:bodyPr>
            <a:normAutofit fontScale="92500" lnSpcReduction="10000"/>
          </a:bodyPr>
          <a:lstStyle/>
          <a:p>
            <a:pPr marL="0" indent="0">
              <a:buNone/>
            </a:pPr>
            <a:r>
              <a:rPr lang="en-US" b="1" u="sng" dirty="0">
                <a:effectLst>
                  <a:outerShdw blurRad="38100" dist="38100" dir="2700000" algn="tl">
                    <a:srgbClr val="000000">
                      <a:alpha val="43137"/>
                    </a:srgbClr>
                  </a:outerShdw>
                </a:effectLst>
              </a:rPr>
              <a:t>Purpose of VPN</a:t>
            </a:r>
          </a:p>
          <a:p>
            <a:r>
              <a:rPr lang="en-US" dirty="0"/>
              <a:t>The main purpose of a VPN is to:</a:t>
            </a:r>
          </a:p>
          <a:p>
            <a:r>
              <a:rPr lang="en-US" dirty="0"/>
              <a:t>Protect sensitive information </a:t>
            </a:r>
          </a:p>
          <a:p>
            <a:r>
              <a:rPr lang="en-US" dirty="0"/>
              <a:t>Secure internet communication </a:t>
            </a:r>
          </a:p>
          <a:p>
            <a:r>
              <a:rPr lang="en-US" dirty="0"/>
              <a:t>Allow safe remote access </a:t>
            </a:r>
          </a:p>
          <a:p>
            <a:r>
              <a:rPr lang="en-US" dirty="0"/>
              <a:t>Hide user activity from attackers </a:t>
            </a:r>
          </a:p>
          <a:p>
            <a:r>
              <a:rPr lang="en-US" dirty="0"/>
              <a:t>Connect networks across different locations </a:t>
            </a:r>
          </a:p>
          <a:p>
            <a:r>
              <a:rPr lang="en-US" dirty="0"/>
              <a:t>Organizations use VPNs to protect:</a:t>
            </a:r>
          </a:p>
          <a:p>
            <a:r>
              <a:rPr lang="en-US" dirty="0"/>
              <a:t>Employee communications </a:t>
            </a:r>
          </a:p>
          <a:p>
            <a:r>
              <a:rPr lang="en-US" dirty="0"/>
              <a:t>Company files </a:t>
            </a:r>
          </a:p>
          <a:p>
            <a:r>
              <a:rPr lang="en-US" dirty="0"/>
              <a:t>Financial transactions </a:t>
            </a:r>
          </a:p>
          <a:p>
            <a:r>
              <a:rPr lang="en-US" dirty="0"/>
              <a:t>Internal systems</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6724" y="657546"/>
            <a:ext cx="10952251" cy="5589142"/>
          </a:xfrm>
        </p:spPr>
        <p:txBody>
          <a:bodyPr>
            <a:normAutofit/>
          </a:bodyPr>
          <a:lstStyle/>
          <a:p>
            <a:r>
              <a:rPr lang="en-US" b="1" i="1" u="sng" dirty="0">
                <a:effectLst>
                  <a:outerShdw blurRad="38100" dist="38100" dir="2700000" algn="tl">
                    <a:srgbClr val="000000">
                      <a:alpha val="43137"/>
                    </a:srgbClr>
                  </a:outerShdw>
                </a:effectLst>
              </a:rPr>
              <a:t>🏠 Remote Access VPN</a:t>
            </a:r>
          </a:p>
          <a:p>
            <a:r>
              <a:rPr lang="en-US" dirty="0"/>
              <a:t>A </a:t>
            </a:r>
            <a:r>
              <a:rPr lang="en-US" b="1" dirty="0"/>
              <a:t>Remote Access VPN</a:t>
            </a:r>
            <a:r>
              <a:rPr lang="en-US" dirty="0"/>
              <a:t> allows an individual user to securely connect to a company network from another location.</a:t>
            </a:r>
          </a:p>
          <a:p>
            <a:pPr marL="0" indent="0">
              <a:buNone/>
            </a:pPr>
            <a:r>
              <a:rPr lang="en-US" b="1" dirty="0"/>
              <a:t>	How It Works</a:t>
            </a:r>
          </a:p>
          <a:p>
            <a:r>
              <a:rPr lang="en-US" dirty="0"/>
              <a:t>User connects to internet </a:t>
            </a:r>
          </a:p>
          <a:p>
            <a:r>
              <a:rPr lang="en-US" dirty="0"/>
              <a:t>VPN creates encrypted tunnel </a:t>
            </a:r>
          </a:p>
          <a:p>
            <a:r>
              <a:rPr lang="en-US" dirty="0"/>
              <a:t>User securely accesses company network </a:t>
            </a:r>
          </a:p>
          <a:p>
            <a:r>
              <a:rPr lang="en-US" b="1" dirty="0"/>
              <a:t> </a:t>
            </a:r>
            <a:r>
              <a:rPr lang="en-US" b="1" dirty="0">
                <a:effectLst>
                  <a:outerShdw blurRad="38100" dist="38100" dir="2700000" algn="tl">
                    <a:srgbClr val="000000">
                      <a:alpha val="43137"/>
                    </a:srgbClr>
                  </a:outerShdw>
                </a:effectLst>
              </a:rPr>
              <a:t>Advantages</a:t>
            </a:r>
          </a:p>
          <a:p>
            <a:r>
              <a:rPr lang="en-US" dirty="0"/>
              <a:t>Secure remote work </a:t>
            </a:r>
          </a:p>
          <a:p>
            <a:r>
              <a:rPr lang="en-US" dirty="0"/>
              <a:t>Protects data on public Wi-Fi </a:t>
            </a:r>
          </a:p>
          <a:p>
            <a:r>
              <a:rPr lang="en-US" dirty="0"/>
              <a:t>Allows access from anywhere</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545" y="657546"/>
            <a:ext cx="10849511" cy="5537772"/>
          </a:xfrm>
        </p:spPr>
        <p:txBody>
          <a:bodyPr>
            <a:normAutofit fontScale="85000" lnSpcReduction="20000"/>
          </a:bodyPr>
          <a:lstStyle/>
          <a:p>
            <a:r>
              <a:rPr lang="en-US" b="1" i="1" u="sng" dirty="0">
                <a:effectLst>
                  <a:outerShdw blurRad="38100" dist="38100" dir="2700000" algn="tl">
                    <a:srgbClr val="000000">
                      <a:alpha val="43137"/>
                    </a:srgbClr>
                  </a:outerShdw>
                </a:effectLst>
              </a:rPr>
              <a:t>🏢 Site-to-Site VPN</a:t>
            </a:r>
          </a:p>
          <a:p>
            <a:r>
              <a:rPr lang="en-US" dirty="0"/>
              <a:t>A </a:t>
            </a:r>
            <a:r>
              <a:rPr lang="en-US" b="1" dirty="0"/>
              <a:t>Site-to-Site VPN</a:t>
            </a:r>
            <a:r>
              <a:rPr lang="en-US" dirty="0"/>
              <a:t> securely connects two different office networks over the internet.</a:t>
            </a:r>
          </a:p>
          <a:p>
            <a:pPr marL="0" indent="0">
              <a:buNone/>
            </a:pPr>
            <a:r>
              <a:rPr lang="en-US" b="1" dirty="0"/>
              <a:t> Example</a:t>
            </a:r>
          </a:p>
          <a:p>
            <a:r>
              <a:rPr lang="en-US" dirty="0"/>
              <a:t>A company branch in Enugu connects securely to headquarters in Abuja.</a:t>
            </a:r>
          </a:p>
          <a:p>
            <a:r>
              <a:rPr lang="en-US" dirty="0"/>
              <a:t>Employees in both offices can share:</a:t>
            </a:r>
          </a:p>
          <a:p>
            <a:r>
              <a:rPr lang="en-US" dirty="0"/>
              <a:t>Files </a:t>
            </a:r>
          </a:p>
          <a:p>
            <a:r>
              <a:rPr lang="en-US" dirty="0"/>
              <a:t>Servers </a:t>
            </a:r>
          </a:p>
          <a:p>
            <a:r>
              <a:rPr lang="en-US" dirty="0"/>
              <a:t>Printers </a:t>
            </a:r>
          </a:p>
          <a:p>
            <a:r>
              <a:rPr lang="en-US" dirty="0"/>
              <a:t>Applications </a:t>
            </a:r>
          </a:p>
          <a:p>
            <a:r>
              <a:rPr lang="en-US" dirty="0"/>
              <a:t>as if they are in the same building.</a:t>
            </a:r>
          </a:p>
          <a:p>
            <a:r>
              <a:rPr lang="en-US" b="1" u="sng" dirty="0">
                <a:effectLst>
                  <a:outerShdw blurRad="38100" dist="38100" dir="2700000" algn="tl">
                    <a:srgbClr val="000000">
                      <a:alpha val="43137"/>
                    </a:srgbClr>
                  </a:outerShdw>
                </a:effectLst>
              </a:rPr>
              <a:t>Advantages</a:t>
            </a:r>
          </a:p>
          <a:p>
            <a:r>
              <a:rPr lang="en-US" dirty="0"/>
              <a:t>Secure branch communication </a:t>
            </a:r>
          </a:p>
          <a:p>
            <a:r>
              <a:rPr lang="en-US" dirty="0"/>
              <a:t>Reduces networking costs </a:t>
            </a:r>
          </a:p>
          <a:p>
            <a:r>
              <a:rPr lang="en-US" dirty="0"/>
              <a:t>Centralized access </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6175" y="626724"/>
            <a:ext cx="10941977" cy="5548046"/>
          </a:xfrm>
        </p:spPr>
        <p:txBody>
          <a:bodyPr>
            <a:normAutofit fontScale="85000" lnSpcReduction="20000"/>
          </a:bodyPr>
          <a:lstStyle/>
          <a:p>
            <a:r>
              <a:rPr lang="en-US" sz="2800" b="1" i="1" u="sng" dirty="0">
                <a:effectLst>
                  <a:outerShdw blurRad="38100" dist="38100" dir="2700000" algn="tl">
                    <a:srgbClr val="000000">
                      <a:alpha val="43137"/>
                    </a:srgbClr>
                  </a:outerShdw>
                </a:effectLst>
              </a:rPr>
              <a:t>🔐 IPSec (Internet Protocol Security)</a:t>
            </a:r>
          </a:p>
          <a:p>
            <a:r>
              <a:rPr lang="en-US" b="1" dirty="0"/>
              <a:t>IPSec</a:t>
            </a:r>
            <a:r>
              <a:rPr lang="en-US" dirty="0"/>
              <a:t> is a VPN security protocol used to encrypt and protect IP communication.</a:t>
            </a:r>
          </a:p>
          <a:p>
            <a:r>
              <a:rPr lang="en-US" dirty="0"/>
              <a:t>It works mainly at the:</a:t>
            </a:r>
          </a:p>
          <a:p>
            <a:r>
              <a:rPr lang="en-US" dirty="0"/>
              <a:t>Network Layer (Layer 3)</a:t>
            </a:r>
          </a:p>
          <a:p>
            <a:r>
              <a:rPr lang="en-US" b="1" dirty="0">
                <a:effectLst>
                  <a:outerShdw blurRad="38100" dist="38100" dir="2700000" algn="tl">
                    <a:srgbClr val="000000">
                      <a:alpha val="43137"/>
                    </a:srgbClr>
                  </a:outerShdw>
                </a:effectLst>
              </a:rPr>
              <a:t> Functions of IPSec</a:t>
            </a:r>
          </a:p>
          <a:p>
            <a:r>
              <a:rPr lang="en-US" dirty="0"/>
              <a:t>Encrypts data </a:t>
            </a:r>
          </a:p>
          <a:p>
            <a:r>
              <a:rPr lang="en-US" dirty="0"/>
              <a:t>Authenticates users </a:t>
            </a:r>
          </a:p>
          <a:p>
            <a:r>
              <a:rPr lang="en-US" dirty="0"/>
              <a:t>Protects against tampering </a:t>
            </a:r>
          </a:p>
          <a:p>
            <a:r>
              <a:rPr lang="en-US" b="1" dirty="0"/>
              <a:t> </a:t>
            </a:r>
            <a:r>
              <a:rPr lang="en-US" b="1" dirty="0">
                <a:effectLst>
                  <a:outerShdw blurRad="38100" dist="38100" dir="2700000" algn="tl">
                    <a:srgbClr val="000000">
                      <a:alpha val="43137"/>
                    </a:srgbClr>
                  </a:outerShdw>
                </a:effectLst>
              </a:rPr>
              <a:t>Common Use</a:t>
            </a:r>
          </a:p>
          <a:p>
            <a:r>
              <a:rPr lang="en-US" dirty="0"/>
              <a:t>Widely used in:</a:t>
            </a:r>
          </a:p>
          <a:p>
            <a:r>
              <a:rPr lang="en-US" dirty="0"/>
              <a:t>Enterprise VPNs </a:t>
            </a:r>
          </a:p>
          <a:p>
            <a:r>
              <a:rPr lang="en-US" dirty="0"/>
              <a:t>Site-to-site VPNs </a:t>
            </a:r>
          </a:p>
          <a:p>
            <a:r>
              <a:rPr lang="en-US" b="1" dirty="0">
                <a:effectLst>
                  <a:outerShdw blurRad="38100" dist="38100" dir="2700000" algn="tl">
                    <a:srgbClr val="000000">
                      <a:alpha val="43137"/>
                    </a:srgbClr>
                  </a:outerShdw>
                </a:effectLst>
              </a:rPr>
              <a:t>⚠️ Limitation</a:t>
            </a:r>
          </a:p>
          <a:p>
            <a:r>
              <a:rPr lang="en-US" dirty="0"/>
              <a:t>Can be complex to configure.</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094" y="636997"/>
            <a:ext cx="10870059" cy="5548045"/>
          </a:xfrm>
        </p:spPr>
        <p:txBody>
          <a:bodyPr>
            <a:normAutofit fontScale="70000" lnSpcReduction="20000"/>
          </a:bodyPr>
          <a:lstStyle/>
          <a:p>
            <a:r>
              <a:rPr lang="en-US" sz="3400" b="1" i="1" u="sng" dirty="0">
                <a:effectLst>
                  <a:outerShdw blurRad="38100" dist="38100" dir="2700000" algn="tl">
                    <a:srgbClr val="000000">
                      <a:alpha val="43137"/>
                    </a:srgbClr>
                  </a:outerShdw>
                </a:effectLst>
              </a:rPr>
              <a:t>⚡ </a:t>
            </a:r>
            <a:r>
              <a:rPr lang="en-US" sz="3400" b="1" i="1" u="sng" dirty="0" err="1">
                <a:effectLst>
                  <a:outerShdw blurRad="38100" dist="38100" dir="2700000" algn="tl">
                    <a:srgbClr val="000000">
                      <a:alpha val="43137"/>
                    </a:srgbClr>
                  </a:outerShdw>
                </a:effectLst>
              </a:rPr>
              <a:t>WireGuard</a:t>
            </a:r>
            <a:endParaRPr lang="en-US" sz="3400" b="1" i="1" u="sng" dirty="0">
              <a:effectLst>
                <a:outerShdw blurRad="38100" dist="38100" dir="2700000" algn="tl">
                  <a:srgbClr val="000000">
                    <a:alpha val="43137"/>
                  </a:srgbClr>
                </a:outerShdw>
              </a:effectLst>
            </a:endParaRPr>
          </a:p>
          <a:p>
            <a:r>
              <a:rPr lang="en-US" b="1" dirty="0" err="1"/>
              <a:t>WireGuard</a:t>
            </a:r>
            <a:r>
              <a:rPr lang="en-US" dirty="0"/>
              <a:t> is a modern VPN protocol designed to be:</a:t>
            </a:r>
          </a:p>
          <a:p>
            <a:r>
              <a:rPr lang="en-US" dirty="0"/>
              <a:t>Faster </a:t>
            </a:r>
          </a:p>
          <a:p>
            <a:r>
              <a:rPr lang="en-US" dirty="0"/>
              <a:t>Simpler </a:t>
            </a:r>
          </a:p>
          <a:p>
            <a:r>
              <a:rPr lang="en-US" dirty="0"/>
              <a:t>More secure </a:t>
            </a:r>
          </a:p>
          <a:p>
            <a:r>
              <a:rPr lang="en-US" dirty="0"/>
              <a:t>than older VPN technologies.</a:t>
            </a:r>
          </a:p>
          <a:p>
            <a:r>
              <a:rPr lang="en-US" b="1" dirty="0"/>
              <a:t> </a:t>
            </a:r>
            <a:r>
              <a:rPr lang="en-US" b="1" dirty="0">
                <a:effectLst>
                  <a:outerShdw blurRad="38100" dist="38100" dir="2700000" algn="tl">
                    <a:srgbClr val="000000">
                      <a:alpha val="43137"/>
                    </a:srgbClr>
                  </a:outerShdw>
                </a:effectLst>
              </a:rPr>
              <a:t>Advantages</a:t>
            </a:r>
          </a:p>
          <a:p>
            <a:r>
              <a:rPr lang="en-US" dirty="0"/>
              <a:t>High speed </a:t>
            </a:r>
          </a:p>
          <a:p>
            <a:r>
              <a:rPr lang="en-US" dirty="0"/>
              <a:t>Lightweight </a:t>
            </a:r>
          </a:p>
          <a:p>
            <a:r>
              <a:rPr lang="en-US" dirty="0"/>
              <a:t>Strong encryption </a:t>
            </a:r>
          </a:p>
          <a:p>
            <a:r>
              <a:rPr lang="en-US" dirty="0"/>
              <a:t>Easier configuration </a:t>
            </a:r>
          </a:p>
          <a:p>
            <a:r>
              <a:rPr lang="en-US" b="1" dirty="0"/>
              <a:t> </a:t>
            </a:r>
            <a:r>
              <a:rPr lang="en-US" b="1" dirty="0">
                <a:effectLst>
                  <a:outerShdw blurRad="38100" dist="38100" dir="2700000" algn="tl">
                    <a:srgbClr val="000000">
                      <a:alpha val="43137"/>
                    </a:srgbClr>
                  </a:outerShdw>
                </a:effectLst>
              </a:rPr>
              <a:t>Common Use</a:t>
            </a:r>
          </a:p>
          <a:p>
            <a:r>
              <a:rPr lang="en-US" dirty="0"/>
              <a:t>Used in:</a:t>
            </a:r>
          </a:p>
          <a:p>
            <a:r>
              <a:rPr lang="en-US" dirty="0"/>
              <a:t>Modern VPN services </a:t>
            </a:r>
          </a:p>
          <a:p>
            <a:r>
              <a:rPr lang="en-US" dirty="0"/>
              <a:t>Mobile devices </a:t>
            </a:r>
          </a:p>
          <a:p>
            <a:r>
              <a:rPr lang="en-US" dirty="0"/>
              <a:t>Cloud environments </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7820" y="667820"/>
            <a:ext cx="10911155" cy="5496674"/>
          </a:xfrm>
        </p:spPr>
        <p:txBody>
          <a:bodyPr>
            <a:normAutofit lnSpcReduction="10000"/>
          </a:bodyPr>
          <a:lstStyle/>
          <a:p>
            <a:r>
              <a:rPr lang="en-US" b="1" i="1" u="sng" dirty="0">
                <a:effectLst>
                  <a:outerShdw blurRad="38100" dist="38100" dir="2700000" algn="tl">
                    <a:srgbClr val="000000">
                      <a:alpha val="43137"/>
                    </a:srgbClr>
                  </a:outerShdw>
                </a:effectLst>
              </a:rPr>
              <a:t>🔒 VPN Encryption</a:t>
            </a:r>
          </a:p>
          <a:p>
            <a:r>
              <a:rPr lang="en-US" dirty="0"/>
              <a:t>VPN encryption converts readable data into unreadable code during transmission.</a:t>
            </a:r>
          </a:p>
          <a:p>
            <a:r>
              <a:rPr lang="en-US" b="1" dirty="0"/>
              <a:t>Simple Meaning</a:t>
            </a:r>
          </a:p>
          <a:p>
            <a:r>
              <a:rPr lang="en-US" dirty="0"/>
              <a:t>Even if hackers intercept the traffic:</a:t>
            </a:r>
            <a:br>
              <a:rPr lang="en-US" dirty="0"/>
            </a:br>
            <a:r>
              <a:rPr lang="en-US" dirty="0"/>
              <a:t> They cannot understand the information.</a:t>
            </a:r>
          </a:p>
          <a:p>
            <a:r>
              <a:rPr lang="en-US" b="1" dirty="0"/>
              <a:t>Example</a:t>
            </a:r>
          </a:p>
          <a:p>
            <a:r>
              <a:rPr lang="en-US" dirty="0">
                <a:solidFill>
                  <a:srgbClr val="00B050"/>
                </a:solidFill>
              </a:rPr>
              <a:t>Normal message:</a:t>
            </a:r>
          </a:p>
          <a:p>
            <a:r>
              <a:rPr lang="en-US" dirty="0">
                <a:solidFill>
                  <a:srgbClr val="00B050"/>
                </a:solidFill>
              </a:rPr>
              <a:t>Password123</a:t>
            </a:r>
          </a:p>
          <a:p>
            <a:r>
              <a:rPr lang="en-US" dirty="0">
                <a:solidFill>
                  <a:srgbClr val="FF0000"/>
                </a:solidFill>
              </a:rPr>
              <a:t>Encrypted message:</a:t>
            </a:r>
          </a:p>
          <a:p>
            <a:r>
              <a:rPr lang="en-US" dirty="0">
                <a:solidFill>
                  <a:srgbClr val="FF0000"/>
                </a:solidFill>
              </a:rPr>
              <a:t>X#4!pL9@Qz</a:t>
            </a:r>
          </a:p>
          <a:p>
            <a:r>
              <a:rPr lang="en-US" dirty="0"/>
              <a:t>Only authorized users with the correct encryption key can decode it.</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Conclusion</a:t>
            </a:r>
            <a:br>
              <a:rPr lang="en-US" b="1" dirty="0"/>
            </a:br>
            <a:endParaRPr lang="en-US" dirty="0"/>
          </a:p>
        </p:txBody>
      </p:sp>
      <p:sp>
        <p:nvSpPr>
          <p:cNvPr id="3" name="Content Placeholder 2"/>
          <p:cNvSpPr>
            <a:spLocks noGrp="1"/>
          </p:cNvSpPr>
          <p:nvPr>
            <p:ph idx="1"/>
          </p:nvPr>
        </p:nvSpPr>
        <p:spPr/>
        <p:txBody>
          <a:bodyPr/>
          <a:lstStyle/>
          <a:p>
            <a:r>
              <a:rPr lang="en-US" dirty="0"/>
              <a:t>VPNs are essential cybersecurity tools that secure communication across public networks. Technologies such as Remote Access VPN, Site-to-Site VPN, IPSec, and Wire Guard help organizations protect sensitive information, support remote work, and maintain secure communication between locations through strong encryption mechanisms.</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2494" y="982133"/>
            <a:ext cx="9304104" cy="456250"/>
          </a:xfrm>
        </p:spPr>
        <p:txBody>
          <a:bodyPr>
            <a:normAutofit fontScale="90000"/>
          </a:bodyPr>
          <a:lstStyle/>
          <a:p>
            <a:r>
              <a:rPr lang="en-US" dirty="0"/>
              <a:t>9.Create a comparison table containing:</a:t>
            </a:r>
            <a:br>
              <a:rPr lang="en-US" dirty="0"/>
            </a:br>
            <a:endParaRPr lang="en-US" dirty="0"/>
          </a:p>
        </p:txBody>
      </p:sp>
      <p:sp>
        <p:nvSpPr>
          <p:cNvPr id="3" name="Content Placeholder 2"/>
          <p:cNvSpPr>
            <a:spLocks noGrp="1"/>
          </p:cNvSpPr>
          <p:nvPr>
            <p:ph idx="1"/>
          </p:nvPr>
        </p:nvSpPr>
        <p:spPr>
          <a:xfrm>
            <a:off x="2517169" y="1315092"/>
            <a:ext cx="9000161" cy="4859677"/>
          </a:xfrm>
        </p:spPr>
        <p:txBody>
          <a:bodyPr>
            <a:normAutofit fontScale="85000" lnSpcReduction="20000"/>
          </a:bodyPr>
          <a:lstStyle/>
          <a:p>
            <a:endParaRPr lang="en-US" dirty="0"/>
          </a:p>
          <a:p>
            <a:r>
              <a:rPr lang="en-US" dirty="0"/>
              <a:t>Encryption strength</a:t>
            </a:r>
          </a:p>
          <a:p>
            <a:r>
              <a:rPr lang="en-US" dirty="0"/>
              <a:t>Security weaknesses</a:t>
            </a:r>
          </a:p>
          <a:p>
            <a:r>
              <a:rPr lang="en-US" dirty="0"/>
              <a:t>Recommended usage</a:t>
            </a:r>
          </a:p>
          <a:p>
            <a:r>
              <a:rPr lang="en-US" dirty="0"/>
              <a:t>Security improvements</a:t>
            </a:r>
          </a:p>
          <a:p>
            <a:endParaRPr lang="en-US" dirty="0"/>
          </a:p>
          <a:p>
            <a:r>
              <a:rPr lang="en-US" dirty="0"/>
              <a:t>for the below technologies</a:t>
            </a:r>
          </a:p>
          <a:p>
            <a:endParaRPr lang="en-US" dirty="0"/>
          </a:p>
          <a:p>
            <a:r>
              <a:rPr lang="en-US" dirty="0"/>
              <a:t>WEP</a:t>
            </a:r>
          </a:p>
          <a:p>
            <a:r>
              <a:rPr lang="en-US" dirty="0"/>
              <a:t>WPA</a:t>
            </a:r>
          </a:p>
          <a:p>
            <a:r>
              <a:rPr lang="en-US" dirty="0"/>
              <a:t>WPA2</a:t>
            </a:r>
          </a:p>
          <a:p>
            <a:r>
              <a:rPr lang="en-US" dirty="0"/>
              <a:t>WPA3</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585627" y="606175"/>
          <a:ext cx="10870055" cy="5643386"/>
        </p:xfrm>
        <a:graphic>
          <a:graphicData uri="http://schemas.openxmlformats.org/drawingml/2006/table">
            <a:tbl>
              <a:tblPr/>
              <a:tblGrid>
                <a:gridCol w="2174011">
                  <a:extLst>
                    <a:ext uri="{9D8B030D-6E8A-4147-A177-3AD203B41FA5}">
                      <a16:colId xmlns:a16="http://schemas.microsoft.com/office/drawing/2014/main" val="20000"/>
                    </a:ext>
                  </a:extLst>
                </a:gridCol>
                <a:gridCol w="2174011">
                  <a:extLst>
                    <a:ext uri="{9D8B030D-6E8A-4147-A177-3AD203B41FA5}">
                      <a16:colId xmlns:a16="http://schemas.microsoft.com/office/drawing/2014/main" val="20001"/>
                    </a:ext>
                  </a:extLst>
                </a:gridCol>
                <a:gridCol w="2174011">
                  <a:extLst>
                    <a:ext uri="{9D8B030D-6E8A-4147-A177-3AD203B41FA5}">
                      <a16:colId xmlns:a16="http://schemas.microsoft.com/office/drawing/2014/main" val="20002"/>
                    </a:ext>
                  </a:extLst>
                </a:gridCol>
                <a:gridCol w="2174011">
                  <a:extLst>
                    <a:ext uri="{9D8B030D-6E8A-4147-A177-3AD203B41FA5}">
                      <a16:colId xmlns:a16="http://schemas.microsoft.com/office/drawing/2014/main" val="20003"/>
                    </a:ext>
                  </a:extLst>
                </a:gridCol>
                <a:gridCol w="2174011">
                  <a:extLst>
                    <a:ext uri="{9D8B030D-6E8A-4147-A177-3AD203B41FA5}">
                      <a16:colId xmlns:a16="http://schemas.microsoft.com/office/drawing/2014/main" val="20004"/>
                    </a:ext>
                  </a:extLst>
                </a:gridCol>
              </a:tblGrid>
              <a:tr h="1215270">
                <a:tc>
                  <a:txBody>
                    <a:bodyPr/>
                    <a:lstStyle/>
                    <a:p>
                      <a:pPr>
                        <a:buNone/>
                      </a:pPr>
                      <a:r>
                        <a:rPr lang="en-US" dirty="0"/>
                        <a:t>Technology</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Encryption Strength</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Security Weaknesses</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Recommended Usage</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Security Improvements</a:t>
                      </a:r>
                    </a:p>
                    <a:p>
                      <a:pPr>
                        <a:buNone/>
                      </a:pPr>
                      <a:endParaRPr lang="en-US" dirty="0"/>
                    </a:p>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0000"/>
                  </a:ext>
                </a:extLst>
              </a:tr>
              <a:tr h="837752">
                <a:tc>
                  <a:txBody>
                    <a:bodyPr/>
                    <a:lstStyle/>
                    <a:p>
                      <a:pPr>
                        <a:buNone/>
                      </a:pPr>
                      <a:r>
                        <a:rPr lang="en-US"/>
                        <a:t>WEP</a:t>
                      </a:r>
                    </a:p>
                  </a:txBody>
                  <a:tcPr anchor="ctr">
                    <a:lnL>
                      <a:noFill/>
                    </a:lnL>
                    <a:lnR>
                      <a:noFill/>
                    </a:lnR>
                    <a:lnT>
                      <a:noFill/>
                    </a:lnT>
                    <a:lnB>
                      <a:noFill/>
                    </a:lnB>
                    <a:noFill/>
                  </a:tcPr>
                </a:tc>
                <a:tc>
                  <a:txBody>
                    <a:bodyPr/>
                    <a:lstStyle/>
                    <a:p>
                      <a:pPr>
                        <a:buNone/>
                      </a:pPr>
                      <a:r>
                        <a:rPr lang="en-US"/>
                        <a:t>Weak</a:t>
                      </a:r>
                    </a:p>
                  </a:txBody>
                  <a:tcPr anchor="ctr">
                    <a:lnL>
                      <a:noFill/>
                    </a:lnL>
                    <a:lnR>
                      <a:noFill/>
                    </a:lnR>
                    <a:lnT>
                      <a:noFill/>
                    </a:lnT>
                    <a:lnB>
                      <a:noFill/>
                    </a:lnB>
                    <a:noFill/>
                  </a:tcPr>
                </a:tc>
                <a:tc>
                  <a:txBody>
                    <a:bodyPr/>
                    <a:lstStyle/>
                    <a:p>
                      <a:pPr>
                        <a:buNone/>
                      </a:pPr>
                      <a:r>
                        <a:rPr lang="en-US"/>
                        <a:t>Easily cracked by attackers</a:t>
                      </a:r>
                    </a:p>
                  </a:txBody>
                  <a:tcPr anchor="ctr">
                    <a:lnL>
                      <a:noFill/>
                    </a:lnL>
                    <a:lnR>
                      <a:noFill/>
                    </a:lnR>
                    <a:lnT>
                      <a:noFill/>
                    </a:lnT>
                    <a:lnB>
                      <a:noFill/>
                    </a:lnB>
                    <a:noFill/>
                  </a:tcPr>
                </a:tc>
                <a:tc>
                  <a:txBody>
                    <a:bodyPr/>
                    <a:lstStyle/>
                    <a:p>
                      <a:pPr>
                        <a:buNone/>
                      </a:pPr>
                      <a:r>
                        <a:rPr lang="en-US" dirty="0"/>
                        <a:t>❌ Not recommended</a:t>
                      </a:r>
                    </a:p>
                  </a:txBody>
                  <a:tcPr anchor="ctr">
                    <a:lnL>
                      <a:noFill/>
                    </a:lnL>
                    <a:lnR>
                      <a:noFill/>
                    </a:lnR>
                    <a:lnT>
                      <a:noFill/>
                    </a:lnT>
                    <a:lnB>
                      <a:noFill/>
                    </a:lnB>
                    <a:noFill/>
                  </a:tcPr>
                </a:tc>
                <a:tc>
                  <a:txBody>
                    <a:bodyPr/>
                    <a:lstStyle/>
                    <a:p>
                      <a:pPr>
                        <a:buNone/>
                      </a:pPr>
                      <a:r>
                        <a:rPr lang="en-US" dirty="0"/>
                        <a:t>First wireless security standard</a:t>
                      </a:r>
                    </a:p>
                  </a:txBody>
                  <a:tcPr anchor="ctr">
                    <a:lnL>
                      <a:noFill/>
                    </a:lnL>
                    <a:lnR>
                      <a:noFill/>
                    </a:lnR>
                    <a:lnT>
                      <a:noFill/>
                    </a:lnT>
                    <a:lnB>
                      <a:noFill/>
                    </a:lnB>
                    <a:noFill/>
                  </a:tcPr>
                </a:tc>
                <a:extLst>
                  <a:ext uri="{0D108BD9-81ED-4DB2-BD59-A6C34878D82A}">
                    <a16:rowId xmlns:a16="http://schemas.microsoft.com/office/drawing/2014/main" val="10001"/>
                  </a:ext>
                </a:extLst>
              </a:tr>
              <a:tr h="1196788">
                <a:tc>
                  <a:txBody>
                    <a:bodyPr/>
                    <a:lstStyle/>
                    <a:p>
                      <a:pPr>
                        <a:buNone/>
                      </a:pPr>
                      <a:r>
                        <a:rPr lang="en-US"/>
                        <a:t>WPA</a:t>
                      </a:r>
                    </a:p>
                  </a:txBody>
                  <a:tcPr anchor="ctr">
                    <a:lnL>
                      <a:noFill/>
                    </a:lnL>
                    <a:lnR>
                      <a:noFill/>
                    </a:lnR>
                    <a:lnT>
                      <a:noFill/>
                    </a:lnT>
                    <a:lnB>
                      <a:noFill/>
                    </a:lnB>
                    <a:noFill/>
                  </a:tcPr>
                </a:tc>
                <a:tc>
                  <a:txBody>
                    <a:bodyPr/>
                    <a:lstStyle/>
                    <a:p>
                      <a:pPr>
                        <a:buNone/>
                      </a:pPr>
                      <a:r>
                        <a:rPr lang="en-US"/>
                        <a:t>Moderate</a:t>
                      </a:r>
                    </a:p>
                  </a:txBody>
                  <a:tcPr anchor="ctr">
                    <a:lnL>
                      <a:noFill/>
                    </a:lnL>
                    <a:lnR>
                      <a:noFill/>
                    </a:lnR>
                    <a:lnT>
                      <a:noFill/>
                    </a:lnT>
                    <a:lnB>
                      <a:noFill/>
                    </a:lnB>
                    <a:noFill/>
                  </a:tcPr>
                </a:tc>
                <a:tc>
                  <a:txBody>
                    <a:bodyPr/>
                    <a:lstStyle/>
                    <a:p>
                      <a:pPr>
                        <a:buNone/>
                      </a:pPr>
                      <a:r>
                        <a:rPr lang="en-US"/>
                        <a:t>Vulnerable to some attacks</a:t>
                      </a:r>
                    </a:p>
                  </a:txBody>
                  <a:tcPr anchor="ctr">
                    <a:lnL>
                      <a:noFill/>
                    </a:lnL>
                    <a:lnR>
                      <a:noFill/>
                    </a:lnR>
                    <a:lnT>
                      <a:noFill/>
                    </a:lnT>
                    <a:lnB>
                      <a:noFill/>
                    </a:lnB>
                    <a:noFill/>
                  </a:tcPr>
                </a:tc>
                <a:tc>
                  <a:txBody>
                    <a:bodyPr/>
                    <a:lstStyle/>
                    <a:p>
                      <a:pPr>
                        <a:buNone/>
                      </a:pPr>
                      <a:r>
                        <a:rPr lang="en-US"/>
                        <a:t>⚠️ Temporary/legacy use only</a:t>
                      </a:r>
                    </a:p>
                  </a:txBody>
                  <a:tcPr anchor="ctr">
                    <a:lnL>
                      <a:noFill/>
                    </a:lnL>
                    <a:lnR>
                      <a:noFill/>
                    </a:lnR>
                    <a:lnT>
                      <a:noFill/>
                    </a:lnT>
                    <a:lnB>
                      <a:noFill/>
                    </a:lnB>
                    <a:noFill/>
                  </a:tcPr>
                </a:tc>
                <a:tc>
                  <a:txBody>
                    <a:bodyPr/>
                    <a:lstStyle/>
                    <a:p>
                      <a:pPr>
                        <a:buNone/>
                      </a:pPr>
                      <a:r>
                        <a:rPr lang="en-US"/>
                        <a:t>Improved encryption over WEP</a:t>
                      </a:r>
                    </a:p>
                  </a:txBody>
                  <a:tcPr anchor="ctr">
                    <a:lnL>
                      <a:noFill/>
                    </a:lnL>
                    <a:lnR>
                      <a:noFill/>
                    </a:lnR>
                    <a:lnT>
                      <a:noFill/>
                    </a:lnT>
                    <a:lnB>
                      <a:noFill/>
                    </a:lnB>
                    <a:noFill/>
                  </a:tcPr>
                </a:tc>
                <a:extLst>
                  <a:ext uri="{0D108BD9-81ED-4DB2-BD59-A6C34878D82A}">
                    <a16:rowId xmlns:a16="http://schemas.microsoft.com/office/drawing/2014/main" val="10002"/>
                  </a:ext>
                </a:extLst>
              </a:tr>
              <a:tr h="1196788">
                <a:tc>
                  <a:txBody>
                    <a:bodyPr/>
                    <a:lstStyle/>
                    <a:p>
                      <a:pPr>
                        <a:buNone/>
                      </a:pPr>
                      <a:r>
                        <a:rPr lang="en-US"/>
                        <a:t>WPA2</a:t>
                      </a:r>
                    </a:p>
                  </a:txBody>
                  <a:tcPr anchor="ctr">
                    <a:lnL>
                      <a:noFill/>
                    </a:lnL>
                    <a:lnR>
                      <a:noFill/>
                    </a:lnR>
                    <a:lnT>
                      <a:noFill/>
                    </a:lnT>
                    <a:lnB>
                      <a:noFill/>
                    </a:lnB>
                    <a:noFill/>
                  </a:tcPr>
                </a:tc>
                <a:tc>
                  <a:txBody>
                    <a:bodyPr/>
                    <a:lstStyle/>
                    <a:p>
                      <a:pPr>
                        <a:buNone/>
                      </a:pPr>
                      <a:r>
                        <a:rPr lang="en-US"/>
                        <a:t>Strong</a:t>
                      </a:r>
                    </a:p>
                  </a:txBody>
                  <a:tcPr anchor="ctr">
                    <a:lnL>
                      <a:noFill/>
                    </a:lnL>
                    <a:lnR>
                      <a:noFill/>
                    </a:lnR>
                    <a:lnT>
                      <a:noFill/>
                    </a:lnT>
                    <a:lnB>
                      <a:noFill/>
                    </a:lnB>
                    <a:noFill/>
                  </a:tcPr>
                </a:tc>
                <a:tc>
                  <a:txBody>
                    <a:bodyPr/>
                    <a:lstStyle/>
                    <a:p>
                      <a:pPr>
                        <a:buNone/>
                      </a:pPr>
                      <a:r>
                        <a:rPr lang="en-US"/>
                        <a:t>Can still face password brute-force attacks</a:t>
                      </a:r>
                    </a:p>
                  </a:txBody>
                  <a:tcPr anchor="ctr">
                    <a:lnL>
                      <a:noFill/>
                    </a:lnL>
                    <a:lnR>
                      <a:noFill/>
                    </a:lnR>
                    <a:lnT>
                      <a:noFill/>
                    </a:lnT>
                    <a:lnB>
                      <a:noFill/>
                    </a:lnB>
                    <a:noFill/>
                  </a:tcPr>
                </a:tc>
                <a:tc>
                  <a:txBody>
                    <a:bodyPr/>
                    <a:lstStyle/>
                    <a:p>
                      <a:pPr>
                        <a:buNone/>
                      </a:pPr>
                      <a:r>
                        <a:rPr lang="en-US"/>
                        <a:t>✅ Widely recommended</a:t>
                      </a:r>
                    </a:p>
                  </a:txBody>
                  <a:tcPr anchor="ctr">
                    <a:lnL>
                      <a:noFill/>
                    </a:lnL>
                    <a:lnR>
                      <a:noFill/>
                    </a:lnR>
                    <a:lnT>
                      <a:noFill/>
                    </a:lnT>
                    <a:lnB>
                      <a:noFill/>
                    </a:lnB>
                    <a:noFill/>
                  </a:tcPr>
                </a:tc>
                <a:tc>
                  <a:txBody>
                    <a:bodyPr/>
                    <a:lstStyle/>
                    <a:p>
                      <a:pPr>
                        <a:buNone/>
                      </a:pPr>
                      <a:r>
                        <a:rPr lang="en-US" dirty="0"/>
                        <a:t>Uses AES encryption for stronger security</a:t>
                      </a:r>
                    </a:p>
                  </a:txBody>
                  <a:tcPr anchor="ctr">
                    <a:lnL>
                      <a:noFill/>
                    </a:lnL>
                    <a:lnR>
                      <a:noFill/>
                    </a:lnR>
                    <a:lnT>
                      <a:noFill/>
                    </a:lnT>
                    <a:lnB>
                      <a:noFill/>
                    </a:lnB>
                    <a:noFill/>
                  </a:tcPr>
                </a:tc>
                <a:extLst>
                  <a:ext uri="{0D108BD9-81ED-4DB2-BD59-A6C34878D82A}">
                    <a16:rowId xmlns:a16="http://schemas.microsoft.com/office/drawing/2014/main" val="10003"/>
                  </a:ext>
                </a:extLst>
              </a:tr>
              <a:tr h="1196788">
                <a:tc>
                  <a:txBody>
                    <a:bodyPr/>
                    <a:lstStyle/>
                    <a:p>
                      <a:pPr>
                        <a:buNone/>
                      </a:pPr>
                      <a:r>
                        <a:rPr lang="en-US"/>
                        <a:t>WPA3</a:t>
                      </a:r>
                    </a:p>
                  </a:txBody>
                  <a:tcPr anchor="ctr">
                    <a:lnL>
                      <a:noFill/>
                    </a:lnL>
                    <a:lnR>
                      <a:noFill/>
                    </a:lnR>
                    <a:lnT>
                      <a:noFill/>
                    </a:lnT>
                    <a:lnB>
                      <a:noFill/>
                    </a:lnB>
                    <a:noFill/>
                  </a:tcPr>
                </a:tc>
                <a:tc>
                  <a:txBody>
                    <a:bodyPr/>
                    <a:lstStyle/>
                    <a:p>
                      <a:pPr>
                        <a:buNone/>
                      </a:pPr>
                      <a:r>
                        <a:rPr lang="en-US"/>
                        <a:t>Very Strong</a:t>
                      </a:r>
                    </a:p>
                  </a:txBody>
                  <a:tcPr anchor="ctr">
                    <a:lnL>
                      <a:noFill/>
                    </a:lnL>
                    <a:lnR>
                      <a:noFill/>
                    </a:lnR>
                    <a:lnT>
                      <a:noFill/>
                    </a:lnT>
                    <a:lnB>
                      <a:noFill/>
                    </a:lnB>
                    <a:noFill/>
                  </a:tcPr>
                </a:tc>
                <a:tc>
                  <a:txBody>
                    <a:bodyPr/>
                    <a:lstStyle/>
                    <a:p>
                      <a:pPr>
                        <a:buNone/>
                      </a:pPr>
                      <a:r>
                        <a:rPr lang="en-US"/>
                        <a:t>Limited support on older devices</a:t>
                      </a:r>
                    </a:p>
                  </a:txBody>
                  <a:tcPr anchor="ctr">
                    <a:lnL>
                      <a:noFill/>
                    </a:lnL>
                    <a:lnR>
                      <a:noFill/>
                    </a:lnR>
                    <a:lnT>
                      <a:noFill/>
                    </a:lnT>
                    <a:lnB>
                      <a:noFill/>
                    </a:lnB>
                    <a:noFill/>
                  </a:tcPr>
                </a:tc>
                <a:tc>
                  <a:txBody>
                    <a:bodyPr/>
                    <a:lstStyle/>
                    <a:p>
                      <a:pPr>
                        <a:buNone/>
                      </a:pPr>
                      <a:r>
                        <a:rPr lang="en-US"/>
                        <a:t>✅ Best modern choice</a:t>
                      </a:r>
                    </a:p>
                  </a:txBody>
                  <a:tcPr anchor="ctr">
                    <a:lnL>
                      <a:noFill/>
                    </a:lnL>
                    <a:lnR>
                      <a:noFill/>
                    </a:lnR>
                    <a:lnT>
                      <a:noFill/>
                    </a:lnT>
                    <a:lnB>
                      <a:noFill/>
                    </a:lnB>
                    <a:noFill/>
                  </a:tcPr>
                </a:tc>
                <a:tc>
                  <a:txBody>
                    <a:bodyPr/>
                    <a:lstStyle/>
                    <a:p>
                      <a:pPr>
                        <a:buNone/>
                      </a:pPr>
                      <a:r>
                        <a:rPr lang="en-US" dirty="0"/>
                        <a:t>Stronger authentication and better encryption</a:t>
                      </a:r>
                    </a:p>
                  </a:txBody>
                  <a:tcPr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life analogy</a:t>
            </a:r>
          </a:p>
        </p:txBody>
      </p:sp>
      <p:graphicFrame>
        <p:nvGraphicFramePr>
          <p:cNvPr id="4" name="Content Placeholder 3"/>
          <p:cNvGraphicFramePr>
            <a:graphicFrameLocks noGrp="1"/>
          </p:cNvGraphicFramePr>
          <p:nvPr>
            <p:ph idx="1"/>
          </p:nvPr>
        </p:nvGraphicFramePr>
        <p:xfrm>
          <a:off x="1376736" y="2476072"/>
          <a:ext cx="9519864" cy="3725408"/>
        </p:xfrm>
        <a:graphic>
          <a:graphicData uri="http://schemas.openxmlformats.org/drawingml/2006/table">
            <a:tbl>
              <a:tblPr/>
              <a:tblGrid>
                <a:gridCol w="4759932">
                  <a:extLst>
                    <a:ext uri="{9D8B030D-6E8A-4147-A177-3AD203B41FA5}">
                      <a16:colId xmlns:a16="http://schemas.microsoft.com/office/drawing/2014/main" val="20000"/>
                    </a:ext>
                  </a:extLst>
                </a:gridCol>
                <a:gridCol w="4759932">
                  <a:extLst>
                    <a:ext uri="{9D8B030D-6E8A-4147-A177-3AD203B41FA5}">
                      <a16:colId xmlns:a16="http://schemas.microsoft.com/office/drawing/2014/main" val="20001"/>
                    </a:ext>
                  </a:extLst>
                </a:gridCol>
              </a:tblGrid>
              <a:tr h="702752">
                <a:tc>
                  <a:txBody>
                    <a:bodyPr/>
                    <a:lstStyle/>
                    <a:p>
                      <a:pPr>
                        <a:buNone/>
                      </a:pPr>
                      <a:r>
                        <a:rPr lang="en-US" dirty="0"/>
                        <a:t>Technology</a:t>
                      </a:r>
                    </a:p>
                    <a:p>
                      <a:pPr>
                        <a:buNone/>
                      </a:pPr>
                      <a:endParaRPr lang="en-US" dirty="0"/>
                    </a:p>
                    <a:p>
                      <a:pPr>
                        <a:buNone/>
                      </a:pPr>
                      <a:endParaRPr lang="en-US" dirty="0"/>
                    </a:p>
                  </a:txBody>
                  <a:tcPr anchor="ctr">
                    <a:lnL>
                      <a:noFill/>
                    </a:lnL>
                    <a:lnR>
                      <a:noFill/>
                    </a:lnR>
                    <a:lnT>
                      <a:noFill/>
                    </a:lnT>
                    <a:lnB>
                      <a:noFill/>
                    </a:lnB>
                    <a:noFill/>
                  </a:tcPr>
                </a:tc>
                <a:tc>
                  <a:txBody>
                    <a:bodyPr/>
                    <a:lstStyle/>
                    <a:p>
                      <a:pPr>
                        <a:buNone/>
                      </a:pPr>
                      <a:r>
                        <a:rPr lang="en-US" dirty="0"/>
                        <a:t>Real-Life Analogy</a:t>
                      </a:r>
                    </a:p>
                    <a:p>
                      <a:pPr>
                        <a:buNone/>
                      </a:pPr>
                      <a:endParaRPr lang="en-US" dirty="0"/>
                    </a:p>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0000"/>
                  </a:ext>
                </a:extLst>
              </a:tr>
              <a:tr h="702752">
                <a:tc>
                  <a:txBody>
                    <a:bodyPr/>
                    <a:lstStyle/>
                    <a:p>
                      <a:pPr>
                        <a:buNone/>
                      </a:pPr>
                      <a:r>
                        <a:rPr lang="en-US"/>
                        <a:t>WEP</a:t>
                      </a:r>
                    </a:p>
                  </a:txBody>
                  <a:tcPr anchor="ctr">
                    <a:lnL>
                      <a:noFill/>
                    </a:lnL>
                    <a:lnR>
                      <a:noFill/>
                    </a:lnR>
                    <a:lnT>
                      <a:noFill/>
                    </a:lnT>
                    <a:lnB>
                      <a:noFill/>
                    </a:lnB>
                    <a:noFill/>
                  </a:tcPr>
                </a:tc>
                <a:tc>
                  <a:txBody>
                    <a:bodyPr/>
                    <a:lstStyle/>
                    <a:p>
                      <a:pPr>
                        <a:buNone/>
                      </a:pPr>
                      <a:r>
                        <a:rPr lang="en-US" dirty="0"/>
                        <a:t>Old weak padlock</a:t>
                      </a:r>
                    </a:p>
                  </a:txBody>
                  <a:tcPr anchor="ctr">
                    <a:lnL>
                      <a:noFill/>
                    </a:lnL>
                    <a:lnR>
                      <a:noFill/>
                    </a:lnR>
                    <a:lnT>
                      <a:noFill/>
                    </a:lnT>
                    <a:lnB>
                      <a:noFill/>
                    </a:lnB>
                    <a:noFill/>
                  </a:tcPr>
                </a:tc>
                <a:extLst>
                  <a:ext uri="{0D108BD9-81ED-4DB2-BD59-A6C34878D82A}">
                    <a16:rowId xmlns:a16="http://schemas.microsoft.com/office/drawing/2014/main" val="10001"/>
                  </a:ext>
                </a:extLst>
              </a:tr>
              <a:tr h="702752">
                <a:tc>
                  <a:txBody>
                    <a:bodyPr/>
                    <a:lstStyle/>
                    <a:p>
                      <a:pPr>
                        <a:buNone/>
                      </a:pPr>
                      <a:r>
                        <a:rPr lang="en-US"/>
                        <a:t>WPA</a:t>
                      </a:r>
                    </a:p>
                  </a:txBody>
                  <a:tcPr anchor="ctr">
                    <a:lnL>
                      <a:noFill/>
                    </a:lnL>
                    <a:lnR>
                      <a:noFill/>
                    </a:lnR>
                    <a:lnT>
                      <a:noFill/>
                    </a:lnT>
                    <a:lnB>
                      <a:noFill/>
                    </a:lnB>
                    <a:noFill/>
                  </a:tcPr>
                </a:tc>
                <a:tc>
                  <a:txBody>
                    <a:bodyPr/>
                    <a:lstStyle/>
                    <a:p>
                      <a:pPr>
                        <a:buNone/>
                      </a:pPr>
                      <a:r>
                        <a:rPr lang="en-US"/>
                        <a:t>Better lock but still vulnerable</a:t>
                      </a:r>
                    </a:p>
                  </a:txBody>
                  <a:tcPr anchor="ctr">
                    <a:lnL>
                      <a:noFill/>
                    </a:lnL>
                    <a:lnR>
                      <a:noFill/>
                    </a:lnR>
                    <a:lnT>
                      <a:noFill/>
                    </a:lnT>
                    <a:lnB>
                      <a:noFill/>
                    </a:lnB>
                    <a:noFill/>
                  </a:tcPr>
                </a:tc>
                <a:extLst>
                  <a:ext uri="{0D108BD9-81ED-4DB2-BD59-A6C34878D82A}">
                    <a16:rowId xmlns:a16="http://schemas.microsoft.com/office/drawing/2014/main" val="10002"/>
                  </a:ext>
                </a:extLst>
              </a:tr>
              <a:tr h="702752">
                <a:tc>
                  <a:txBody>
                    <a:bodyPr/>
                    <a:lstStyle/>
                    <a:p>
                      <a:pPr>
                        <a:buNone/>
                      </a:pPr>
                      <a:r>
                        <a:rPr lang="en-US"/>
                        <a:t>WPA2</a:t>
                      </a:r>
                    </a:p>
                  </a:txBody>
                  <a:tcPr anchor="ctr">
                    <a:lnL>
                      <a:noFill/>
                    </a:lnL>
                    <a:lnR>
                      <a:noFill/>
                    </a:lnR>
                    <a:lnT>
                      <a:noFill/>
                    </a:lnT>
                    <a:lnB>
                      <a:noFill/>
                    </a:lnB>
                    <a:noFill/>
                  </a:tcPr>
                </a:tc>
                <a:tc>
                  <a:txBody>
                    <a:bodyPr/>
                    <a:lstStyle/>
                    <a:p>
                      <a:pPr>
                        <a:buNone/>
                      </a:pPr>
                      <a:r>
                        <a:rPr lang="en-US"/>
                        <a:t>Strong modern security door</a:t>
                      </a:r>
                    </a:p>
                  </a:txBody>
                  <a:tcPr anchor="ctr">
                    <a:lnL>
                      <a:noFill/>
                    </a:lnL>
                    <a:lnR>
                      <a:noFill/>
                    </a:lnR>
                    <a:lnT>
                      <a:noFill/>
                    </a:lnT>
                    <a:lnB>
                      <a:noFill/>
                    </a:lnB>
                    <a:noFill/>
                  </a:tcPr>
                </a:tc>
                <a:extLst>
                  <a:ext uri="{0D108BD9-81ED-4DB2-BD59-A6C34878D82A}">
                    <a16:rowId xmlns:a16="http://schemas.microsoft.com/office/drawing/2014/main" val="10003"/>
                  </a:ext>
                </a:extLst>
              </a:tr>
              <a:tr h="702752">
                <a:tc>
                  <a:txBody>
                    <a:bodyPr/>
                    <a:lstStyle/>
                    <a:p>
                      <a:pPr>
                        <a:buNone/>
                      </a:pPr>
                      <a:r>
                        <a:rPr lang="en-US"/>
                        <a:t>WPA3</a:t>
                      </a:r>
                    </a:p>
                  </a:txBody>
                  <a:tcPr anchor="ctr">
                    <a:lnL>
                      <a:noFill/>
                    </a:lnL>
                    <a:lnR>
                      <a:noFill/>
                    </a:lnR>
                    <a:lnT>
                      <a:noFill/>
                    </a:lnT>
                    <a:lnB>
                      <a:noFill/>
                    </a:lnB>
                    <a:noFill/>
                  </a:tcPr>
                </a:tc>
                <a:tc>
                  <a:txBody>
                    <a:bodyPr/>
                    <a:lstStyle/>
                    <a:p>
                      <a:pPr>
                        <a:buNone/>
                      </a:pPr>
                      <a:r>
                        <a:rPr lang="en-US" dirty="0"/>
                        <a:t>Smart biometric security system</a:t>
                      </a:r>
                    </a:p>
                  </a:txBody>
                  <a:tcPr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9464" y="667819"/>
            <a:ext cx="10757043" cy="5476127"/>
          </a:xfrm>
        </p:spPr>
        <p:txBody>
          <a:bodyPr>
            <a:normAutofit fontScale="62500" lnSpcReduction="20000"/>
          </a:bodyPr>
          <a:lstStyle/>
          <a:p>
            <a:pPr marL="0" indent="0">
              <a:buNone/>
            </a:pPr>
            <a:r>
              <a:rPr lang="en-US" sz="3800" b="1" u="sng" dirty="0">
                <a:effectLst>
                  <a:outerShdw blurRad="38100" dist="38100" dir="2700000" algn="tl">
                    <a:srgbClr val="000000">
                      <a:alpha val="43137"/>
                    </a:srgbClr>
                  </a:outerShdw>
                </a:effectLst>
              </a:rPr>
              <a:t>Quick Breakdown</a:t>
            </a:r>
          </a:p>
          <a:p>
            <a:r>
              <a:rPr lang="en-US" b="1" dirty="0"/>
              <a:t>❌ WEP</a:t>
            </a:r>
          </a:p>
          <a:p>
            <a:r>
              <a:rPr lang="en-US" dirty="0"/>
              <a:t>Very old wireless security </a:t>
            </a:r>
          </a:p>
          <a:p>
            <a:r>
              <a:rPr lang="en-US" dirty="0"/>
              <a:t>Hackers can break it quickly </a:t>
            </a:r>
          </a:p>
          <a:p>
            <a:r>
              <a:rPr lang="en-US" dirty="0"/>
              <a:t>Should never be used today </a:t>
            </a:r>
          </a:p>
          <a:p>
            <a:r>
              <a:rPr lang="en-US" b="1" dirty="0"/>
              <a:t>⚠️ WPA</a:t>
            </a:r>
          </a:p>
          <a:p>
            <a:r>
              <a:rPr lang="en-US" dirty="0"/>
              <a:t>Better than WEP </a:t>
            </a:r>
          </a:p>
          <a:p>
            <a:r>
              <a:rPr lang="en-US" dirty="0"/>
              <a:t>Introduced stronger protection </a:t>
            </a:r>
          </a:p>
          <a:p>
            <a:r>
              <a:rPr lang="en-US" dirty="0"/>
              <a:t>Still outdated now </a:t>
            </a:r>
          </a:p>
          <a:p>
            <a:r>
              <a:rPr lang="en-US" b="1" dirty="0"/>
              <a:t>✅ WPA2</a:t>
            </a:r>
          </a:p>
          <a:p>
            <a:r>
              <a:rPr lang="en-US" dirty="0"/>
              <a:t>Most common modern Wi-Fi security </a:t>
            </a:r>
          </a:p>
          <a:p>
            <a:r>
              <a:rPr lang="en-US" dirty="0"/>
              <a:t>Uses strong AES encryption </a:t>
            </a:r>
          </a:p>
          <a:p>
            <a:r>
              <a:rPr lang="en-US" dirty="0"/>
              <a:t>Good for homes and businesses </a:t>
            </a:r>
          </a:p>
          <a:p>
            <a:r>
              <a:rPr lang="en-US" b="1" dirty="0"/>
              <a:t>🔥 WPA3</a:t>
            </a:r>
          </a:p>
          <a:p>
            <a:r>
              <a:rPr lang="en-US" dirty="0"/>
              <a:t>Latest and strongest Wi-Fi protection </a:t>
            </a:r>
          </a:p>
          <a:p>
            <a:r>
              <a:rPr lang="en-US" dirty="0"/>
              <a:t>Better password security </a:t>
            </a:r>
          </a:p>
          <a:p>
            <a:r>
              <a:rPr lang="en-US" dirty="0"/>
              <a:t>Safer against brute-force attacks</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10.Create a diagram showing:</a:t>
            </a:r>
            <a:br>
              <a:rPr lang="en-US" dirty="0"/>
            </a:br>
            <a:br>
              <a:rPr lang="en-US" dirty="0"/>
            </a:br>
            <a:endParaRPr lang="en-US" dirty="0"/>
          </a:p>
        </p:txBody>
      </p:sp>
      <p:sp>
        <p:nvSpPr>
          <p:cNvPr id="3" name="Content Placeholder 2"/>
          <p:cNvSpPr>
            <a:spLocks noGrp="1"/>
          </p:cNvSpPr>
          <p:nvPr>
            <p:ph idx="1"/>
          </p:nvPr>
        </p:nvSpPr>
        <p:spPr>
          <a:xfrm>
            <a:off x="2568539" y="2722652"/>
            <a:ext cx="8328058" cy="3153216"/>
          </a:xfrm>
        </p:spPr>
        <p:txBody>
          <a:bodyPr>
            <a:normAutofit/>
          </a:bodyPr>
          <a:lstStyle/>
          <a:p>
            <a:r>
              <a:rPr lang="en-US" dirty="0"/>
              <a:t>Internet</a:t>
            </a:r>
          </a:p>
          <a:p>
            <a:r>
              <a:rPr lang="en-US" dirty="0"/>
              <a:t>Firewall</a:t>
            </a:r>
          </a:p>
          <a:p>
            <a:r>
              <a:rPr lang="en-US" dirty="0"/>
              <a:t>DMZ</a:t>
            </a:r>
          </a:p>
          <a:p>
            <a:r>
              <a:rPr lang="en-US" dirty="0"/>
              <a:t>Internal network</a:t>
            </a:r>
          </a:p>
          <a:p>
            <a:r>
              <a:rPr lang="en-US" dirty="0"/>
              <a:t>Restricted zone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8642" y="657545"/>
            <a:ext cx="10767317" cy="5548045"/>
          </a:xfrm>
        </p:spPr>
        <p:txBody>
          <a:bodyPr>
            <a:normAutofit lnSpcReduction="10000"/>
          </a:bodyPr>
          <a:lstStyle/>
          <a:p>
            <a:pPr lvl="3"/>
            <a:r>
              <a:rPr lang="en-US" dirty="0"/>
              <a:t> ☁️ INTERNET</a:t>
            </a:r>
          </a:p>
          <a:p>
            <a:r>
              <a:rPr lang="en-US" dirty="0"/>
              <a:t>                           |</a:t>
            </a:r>
          </a:p>
          <a:p>
            <a:r>
              <a:rPr lang="en-US" dirty="0"/>
              <a:t>                           |</a:t>
            </a:r>
          </a:p>
          <a:p>
            <a:r>
              <a:rPr lang="en-US" dirty="0"/>
              <a:t>               🔥 FIREWALL</a:t>
            </a:r>
          </a:p>
          <a:p>
            <a:r>
              <a:rPr lang="en-US" dirty="0"/>
              <a:t>                    /      |         \</a:t>
            </a:r>
          </a:p>
          <a:p>
            <a:r>
              <a:rPr lang="en-US" dirty="0"/>
              <a:t>                 /         |            \</a:t>
            </a:r>
          </a:p>
          <a:p>
            <a:r>
              <a:rPr lang="en-US" dirty="0"/>
              <a:t>               /           |                \</a:t>
            </a:r>
          </a:p>
          <a:p>
            <a:r>
              <a:rPr lang="en-US" dirty="0"/>
              <a:t>      </a:t>
            </a:r>
            <a:r>
              <a:rPr lang="en-US" sz="1600" dirty="0"/>
              <a:t>🌐 DMZ      🏢 INTERNAL    🔒 RESTRICTED ZONE</a:t>
            </a:r>
          </a:p>
          <a:p>
            <a:r>
              <a:rPr lang="en-US" sz="1600" dirty="0"/>
              <a:t>       (Public Zone)        NETWORK                             </a:t>
            </a:r>
            <a:r>
              <a:rPr lang="en-US" sz="1600" b="1" dirty="0"/>
              <a:t>|</a:t>
            </a:r>
          </a:p>
          <a:p>
            <a:r>
              <a:rPr lang="en-US" dirty="0"/>
              <a:t>                           |                            |</a:t>
            </a:r>
          </a:p>
          <a:p>
            <a:r>
              <a:rPr lang="en-US" dirty="0"/>
              <a:t>                     </a:t>
            </a:r>
            <a:r>
              <a:rPr lang="en-US" sz="1600" dirty="0"/>
              <a:t>💻 Office PCs                   🗄️ Sensitive Servers</a:t>
            </a:r>
          </a:p>
          <a:p>
            <a:r>
              <a:rPr lang="en-US" sz="1600" dirty="0"/>
              <a:t>                               🖨️ Printers                            💰 Financial Data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094" y="667819"/>
            <a:ext cx="10818688" cy="5537771"/>
          </a:xfrm>
        </p:spPr>
        <p:txBody>
          <a:bodyPr>
            <a:normAutofit fontScale="92500" lnSpcReduction="20000"/>
          </a:bodyPr>
          <a:lstStyle/>
          <a:p>
            <a:pPr lvl="7"/>
            <a:r>
              <a:rPr lang="en-US" sz="2400" b="1" u="sng" dirty="0">
                <a:effectLst>
                  <a:outerShdw blurRad="38100" dist="38100" dir="2700000" algn="tl">
                    <a:srgbClr val="000000">
                      <a:alpha val="43137"/>
                    </a:srgbClr>
                  </a:outerShdw>
                </a:effectLst>
              </a:rPr>
              <a:t>Simple Understanding</a:t>
            </a:r>
          </a:p>
          <a:p>
            <a:pPr marL="1371600" lvl="3" indent="0">
              <a:buNone/>
            </a:pPr>
            <a:endParaRPr lang="en-US" sz="1800" b="1" u="sng"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 Internet</a:t>
            </a:r>
          </a:p>
          <a:p>
            <a:r>
              <a:rPr lang="en-US" dirty="0"/>
              <a:t>The outside world where users and attackers exist.</a:t>
            </a:r>
          </a:p>
          <a:p>
            <a:endParaRPr lang="en-US" dirty="0"/>
          </a:p>
          <a:p>
            <a:r>
              <a:rPr lang="en-US" b="1" dirty="0"/>
              <a:t>🔥 </a:t>
            </a:r>
            <a:r>
              <a:rPr lang="en-US" b="1" dirty="0">
                <a:effectLst>
                  <a:outerShdw blurRad="38100" dist="38100" dir="2700000" algn="tl">
                    <a:srgbClr val="000000">
                      <a:alpha val="43137"/>
                    </a:srgbClr>
                  </a:outerShdw>
                </a:effectLst>
              </a:rPr>
              <a:t>Firewall</a:t>
            </a:r>
          </a:p>
          <a:p>
            <a:r>
              <a:rPr lang="en-US" dirty="0"/>
              <a:t>The security guard controlling who enters and leaves the network.</a:t>
            </a:r>
          </a:p>
          <a:p>
            <a:endParaRPr lang="en-US" dirty="0"/>
          </a:p>
          <a:p>
            <a:r>
              <a:rPr lang="en-US" b="1" dirty="0">
                <a:effectLst>
                  <a:outerShdw blurRad="38100" dist="38100" dir="2700000" algn="tl">
                    <a:srgbClr val="000000">
                      <a:alpha val="43137"/>
                    </a:srgbClr>
                  </a:outerShdw>
                </a:effectLst>
              </a:rPr>
              <a:t>🌐 DMZ (Demilitarized Zone)</a:t>
            </a:r>
          </a:p>
          <a:p>
            <a:r>
              <a:rPr lang="en-US" dirty="0"/>
              <a:t>A semi-public area for services people outside can access safely.</a:t>
            </a:r>
          </a:p>
          <a:p>
            <a:r>
              <a:rPr lang="en-US" dirty="0"/>
              <a:t>Examples: Web servers, Email servers, or Company websites.</a:t>
            </a:r>
          </a:p>
          <a:p>
            <a:endParaRPr lang="en-US" dirty="0"/>
          </a:p>
          <a:p>
            <a:r>
              <a:rPr lang="en-US" dirty="0"/>
              <a:t>👉 </a:t>
            </a:r>
            <a:r>
              <a:rPr lang="en-US" b="1" dirty="0">
                <a:solidFill>
                  <a:srgbClr val="FF0000"/>
                </a:solidFill>
              </a:rPr>
              <a:t>If attackers compromise the DMZ, the internal network is still protected.</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6724" y="585627"/>
            <a:ext cx="10900880" cy="5558319"/>
          </a:xfrm>
        </p:spPr>
        <p:txBody>
          <a:bodyPr>
            <a:normAutofit/>
          </a:bodyPr>
          <a:lstStyle/>
          <a:p>
            <a:r>
              <a:rPr lang="en-US" b="1" dirty="0">
                <a:effectLst>
                  <a:outerShdw blurRad="38100" dist="38100" dir="2700000" algn="tl">
                    <a:srgbClr val="000000">
                      <a:alpha val="43137"/>
                    </a:srgbClr>
                  </a:outerShdw>
                </a:effectLst>
              </a:rPr>
              <a:t>🏢 Internal Network</a:t>
            </a:r>
          </a:p>
          <a:p>
            <a:r>
              <a:rPr lang="en-US" dirty="0"/>
              <a:t>The main company network where staff work.</a:t>
            </a:r>
          </a:p>
          <a:p>
            <a:r>
              <a:rPr lang="en-US" dirty="0">
                <a:solidFill>
                  <a:srgbClr val="00B050"/>
                </a:solidFill>
              </a:rPr>
              <a:t>Contains: Employee computers, Printers, or Internal systems.</a:t>
            </a:r>
          </a:p>
          <a:p>
            <a:br>
              <a:rPr lang="en-US" dirty="0"/>
            </a:br>
            <a:endParaRPr lang="en-US" dirty="0"/>
          </a:p>
          <a:p>
            <a:r>
              <a:rPr lang="en-US" b="1" dirty="0">
                <a:effectLst>
                  <a:outerShdw blurRad="38100" dist="38100" dir="2700000" algn="tl">
                    <a:srgbClr val="000000">
                      <a:alpha val="43137"/>
                    </a:srgbClr>
                  </a:outerShdw>
                </a:effectLst>
              </a:rPr>
              <a:t>🔒 Restricted Zone</a:t>
            </a:r>
          </a:p>
          <a:p>
            <a:r>
              <a:rPr lang="en-US" dirty="0"/>
              <a:t>The highest security area.</a:t>
            </a:r>
          </a:p>
          <a:p>
            <a:r>
              <a:rPr lang="en-US" dirty="0">
                <a:solidFill>
                  <a:srgbClr val="FF0000"/>
                </a:solidFill>
              </a:rPr>
              <a:t>Contains: Financial databases, Sensitive records, or Critical servers.</a:t>
            </a:r>
          </a:p>
          <a:p>
            <a:endParaRPr lang="en-US" dirty="0">
              <a:solidFill>
                <a:srgbClr val="FF0000"/>
              </a:solidFill>
            </a:endParaRPr>
          </a:p>
          <a:p>
            <a:r>
              <a:rPr lang="en-US" b="1" dirty="0">
                <a:solidFill>
                  <a:srgbClr val="00B0F0"/>
                </a:solidFill>
              </a:rPr>
              <a:t>Only authorized users can enter.</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46634" y="657547"/>
            <a:ext cx="5910208" cy="1107996"/>
          </a:xfrm>
          <a:prstGeom prst="rect">
            <a:avLst/>
          </a:prstGeom>
          <a:noFill/>
        </p:spPr>
        <p:txBody>
          <a:bodyPr wrap="square">
            <a:spAutoFit/>
          </a:bodyPr>
          <a:lstStyle/>
          <a:p>
            <a:pPr>
              <a:buNone/>
            </a:pPr>
            <a:r>
              <a:rPr lang="en-US" sz="2400" b="1" dirty="0"/>
              <a:t>Real life Analogy</a:t>
            </a:r>
          </a:p>
          <a:p>
            <a:pPr>
              <a:buNone/>
            </a:pPr>
            <a:endParaRPr lang="en-US" sz="2400" b="1" dirty="0"/>
          </a:p>
          <a:p>
            <a:pPr>
              <a:buNone/>
            </a:pPr>
            <a:r>
              <a:rPr lang="en-US" dirty="0"/>
              <a:t>Think of a big company estate in Enugu:</a:t>
            </a:r>
          </a:p>
        </p:txBody>
      </p:sp>
      <p:graphicFrame>
        <p:nvGraphicFramePr>
          <p:cNvPr id="4" name="Table 3"/>
          <p:cNvGraphicFramePr>
            <a:graphicFrameLocks noGrp="1"/>
          </p:cNvGraphicFramePr>
          <p:nvPr/>
        </p:nvGraphicFramePr>
        <p:xfrm>
          <a:off x="1633590" y="2137024"/>
          <a:ext cx="9632880" cy="3207480"/>
        </p:xfrm>
        <a:graphic>
          <a:graphicData uri="http://schemas.openxmlformats.org/drawingml/2006/table">
            <a:tbl>
              <a:tblPr/>
              <a:tblGrid>
                <a:gridCol w="4816440">
                  <a:extLst>
                    <a:ext uri="{9D8B030D-6E8A-4147-A177-3AD203B41FA5}">
                      <a16:colId xmlns:a16="http://schemas.microsoft.com/office/drawing/2014/main" val="20000"/>
                    </a:ext>
                  </a:extLst>
                </a:gridCol>
                <a:gridCol w="4816440">
                  <a:extLst>
                    <a:ext uri="{9D8B030D-6E8A-4147-A177-3AD203B41FA5}">
                      <a16:colId xmlns:a16="http://schemas.microsoft.com/office/drawing/2014/main" val="20001"/>
                    </a:ext>
                  </a:extLst>
                </a:gridCol>
              </a:tblGrid>
              <a:tr h="534580">
                <a:tc>
                  <a:txBody>
                    <a:bodyPr/>
                    <a:lstStyle/>
                    <a:p>
                      <a:pPr>
                        <a:buNone/>
                      </a:pPr>
                      <a:r>
                        <a:rPr lang="en-US" u="sng" dirty="0"/>
                        <a:t>Network Area</a:t>
                      </a:r>
                    </a:p>
                  </a:txBody>
                  <a:tcPr anchor="ctr">
                    <a:lnL>
                      <a:noFill/>
                    </a:lnL>
                    <a:lnR>
                      <a:noFill/>
                    </a:lnR>
                    <a:lnT>
                      <a:noFill/>
                    </a:lnT>
                    <a:lnB>
                      <a:noFill/>
                    </a:lnB>
                    <a:noFill/>
                  </a:tcPr>
                </a:tc>
                <a:tc>
                  <a:txBody>
                    <a:bodyPr/>
                    <a:lstStyle/>
                    <a:p>
                      <a:pPr>
                        <a:buNone/>
                      </a:pPr>
                      <a:r>
                        <a:rPr lang="en-US" u="sng" dirty="0"/>
                        <a:t>Real-Life Example</a:t>
                      </a:r>
                    </a:p>
                  </a:txBody>
                  <a:tcPr anchor="ctr">
                    <a:lnL>
                      <a:noFill/>
                    </a:lnL>
                    <a:lnR>
                      <a:noFill/>
                    </a:lnR>
                    <a:lnT>
                      <a:noFill/>
                    </a:lnT>
                    <a:lnB>
                      <a:noFill/>
                    </a:lnB>
                    <a:noFill/>
                  </a:tcPr>
                </a:tc>
                <a:extLst>
                  <a:ext uri="{0D108BD9-81ED-4DB2-BD59-A6C34878D82A}">
                    <a16:rowId xmlns:a16="http://schemas.microsoft.com/office/drawing/2014/main" val="10000"/>
                  </a:ext>
                </a:extLst>
              </a:tr>
              <a:tr h="534580">
                <a:tc>
                  <a:txBody>
                    <a:bodyPr/>
                    <a:lstStyle/>
                    <a:p>
                      <a:pPr>
                        <a:buNone/>
                      </a:pPr>
                      <a:r>
                        <a:rPr lang="en-US"/>
                        <a:t>Internet</a:t>
                      </a:r>
                    </a:p>
                  </a:txBody>
                  <a:tcPr anchor="ctr">
                    <a:lnL>
                      <a:noFill/>
                    </a:lnL>
                    <a:lnR>
                      <a:noFill/>
                    </a:lnR>
                    <a:lnT>
                      <a:noFill/>
                    </a:lnT>
                    <a:lnB>
                      <a:noFill/>
                    </a:lnB>
                    <a:noFill/>
                  </a:tcPr>
                </a:tc>
                <a:tc>
                  <a:txBody>
                    <a:bodyPr/>
                    <a:lstStyle/>
                    <a:p>
                      <a:pPr>
                        <a:buNone/>
                      </a:pPr>
                      <a:r>
                        <a:rPr lang="en-US"/>
                        <a:t>Outside public road</a:t>
                      </a:r>
                    </a:p>
                  </a:txBody>
                  <a:tcPr anchor="ctr">
                    <a:lnL>
                      <a:noFill/>
                    </a:lnL>
                    <a:lnR>
                      <a:noFill/>
                    </a:lnR>
                    <a:lnT>
                      <a:noFill/>
                    </a:lnT>
                    <a:lnB>
                      <a:noFill/>
                    </a:lnB>
                    <a:noFill/>
                  </a:tcPr>
                </a:tc>
                <a:extLst>
                  <a:ext uri="{0D108BD9-81ED-4DB2-BD59-A6C34878D82A}">
                    <a16:rowId xmlns:a16="http://schemas.microsoft.com/office/drawing/2014/main" val="10001"/>
                  </a:ext>
                </a:extLst>
              </a:tr>
              <a:tr h="534580">
                <a:tc>
                  <a:txBody>
                    <a:bodyPr/>
                    <a:lstStyle/>
                    <a:p>
                      <a:pPr>
                        <a:buNone/>
                      </a:pPr>
                      <a:r>
                        <a:rPr lang="en-US"/>
                        <a:t>Firewall</a:t>
                      </a:r>
                    </a:p>
                  </a:txBody>
                  <a:tcPr anchor="ctr">
                    <a:lnL>
                      <a:noFill/>
                    </a:lnL>
                    <a:lnR>
                      <a:noFill/>
                    </a:lnR>
                    <a:lnT>
                      <a:noFill/>
                    </a:lnT>
                    <a:lnB>
                      <a:noFill/>
                    </a:lnB>
                    <a:noFill/>
                  </a:tcPr>
                </a:tc>
                <a:tc>
                  <a:txBody>
                    <a:bodyPr/>
                    <a:lstStyle/>
                    <a:p>
                      <a:pPr>
                        <a:buNone/>
                      </a:pPr>
                      <a:r>
                        <a:rPr lang="en-US" dirty="0"/>
                        <a:t>Estate security gate</a:t>
                      </a:r>
                    </a:p>
                  </a:txBody>
                  <a:tcPr anchor="ctr">
                    <a:lnL>
                      <a:noFill/>
                    </a:lnL>
                    <a:lnR>
                      <a:noFill/>
                    </a:lnR>
                    <a:lnT>
                      <a:noFill/>
                    </a:lnT>
                    <a:lnB>
                      <a:noFill/>
                    </a:lnB>
                    <a:noFill/>
                  </a:tcPr>
                </a:tc>
                <a:extLst>
                  <a:ext uri="{0D108BD9-81ED-4DB2-BD59-A6C34878D82A}">
                    <a16:rowId xmlns:a16="http://schemas.microsoft.com/office/drawing/2014/main" val="10002"/>
                  </a:ext>
                </a:extLst>
              </a:tr>
              <a:tr h="534580">
                <a:tc>
                  <a:txBody>
                    <a:bodyPr/>
                    <a:lstStyle/>
                    <a:p>
                      <a:pPr>
                        <a:buNone/>
                      </a:pPr>
                      <a:r>
                        <a:rPr lang="en-US"/>
                        <a:t>DMZ</a:t>
                      </a:r>
                    </a:p>
                  </a:txBody>
                  <a:tcPr anchor="ctr">
                    <a:lnL>
                      <a:noFill/>
                    </a:lnL>
                    <a:lnR>
                      <a:noFill/>
                    </a:lnR>
                    <a:lnT>
                      <a:noFill/>
                    </a:lnT>
                    <a:lnB>
                      <a:noFill/>
                    </a:lnB>
                    <a:noFill/>
                  </a:tcPr>
                </a:tc>
                <a:tc>
                  <a:txBody>
                    <a:bodyPr/>
                    <a:lstStyle/>
                    <a:p>
                      <a:pPr>
                        <a:buNone/>
                      </a:pPr>
                      <a:r>
                        <a:rPr lang="en-US" dirty="0"/>
                        <a:t>Reception area for visitors</a:t>
                      </a:r>
                    </a:p>
                  </a:txBody>
                  <a:tcPr anchor="ctr">
                    <a:lnL>
                      <a:noFill/>
                    </a:lnL>
                    <a:lnR>
                      <a:noFill/>
                    </a:lnR>
                    <a:lnT>
                      <a:noFill/>
                    </a:lnT>
                    <a:lnB>
                      <a:noFill/>
                    </a:lnB>
                    <a:noFill/>
                  </a:tcPr>
                </a:tc>
                <a:extLst>
                  <a:ext uri="{0D108BD9-81ED-4DB2-BD59-A6C34878D82A}">
                    <a16:rowId xmlns:a16="http://schemas.microsoft.com/office/drawing/2014/main" val="10003"/>
                  </a:ext>
                </a:extLst>
              </a:tr>
              <a:tr h="534580">
                <a:tc>
                  <a:txBody>
                    <a:bodyPr/>
                    <a:lstStyle/>
                    <a:p>
                      <a:pPr>
                        <a:buNone/>
                      </a:pPr>
                      <a:r>
                        <a:rPr lang="en-US"/>
                        <a:t>Internal Network</a:t>
                      </a:r>
                    </a:p>
                  </a:txBody>
                  <a:tcPr anchor="ctr">
                    <a:lnL>
                      <a:noFill/>
                    </a:lnL>
                    <a:lnR>
                      <a:noFill/>
                    </a:lnR>
                    <a:lnT>
                      <a:noFill/>
                    </a:lnT>
                    <a:lnB>
                      <a:noFill/>
                    </a:lnB>
                    <a:noFill/>
                  </a:tcPr>
                </a:tc>
                <a:tc>
                  <a:txBody>
                    <a:bodyPr/>
                    <a:lstStyle/>
                    <a:p>
                      <a:pPr>
                        <a:buNone/>
                      </a:pPr>
                      <a:r>
                        <a:rPr lang="en-US"/>
                        <a:t>Main office building</a:t>
                      </a:r>
                    </a:p>
                  </a:txBody>
                  <a:tcPr anchor="ctr">
                    <a:lnL>
                      <a:noFill/>
                    </a:lnL>
                    <a:lnR>
                      <a:noFill/>
                    </a:lnR>
                    <a:lnT>
                      <a:noFill/>
                    </a:lnT>
                    <a:lnB>
                      <a:noFill/>
                    </a:lnB>
                    <a:noFill/>
                  </a:tcPr>
                </a:tc>
                <a:extLst>
                  <a:ext uri="{0D108BD9-81ED-4DB2-BD59-A6C34878D82A}">
                    <a16:rowId xmlns:a16="http://schemas.microsoft.com/office/drawing/2014/main" val="10004"/>
                  </a:ext>
                </a:extLst>
              </a:tr>
              <a:tr h="534580">
                <a:tc>
                  <a:txBody>
                    <a:bodyPr/>
                    <a:lstStyle/>
                    <a:p>
                      <a:pPr>
                        <a:buNone/>
                      </a:pPr>
                      <a:r>
                        <a:rPr lang="en-US"/>
                        <a:t>Restricted Zone</a:t>
                      </a:r>
                    </a:p>
                  </a:txBody>
                  <a:tcPr anchor="ctr">
                    <a:lnL>
                      <a:noFill/>
                    </a:lnL>
                    <a:lnR>
                      <a:noFill/>
                    </a:lnR>
                    <a:lnT>
                      <a:noFill/>
                    </a:lnT>
                    <a:lnB>
                      <a:noFill/>
                    </a:lnB>
                    <a:noFill/>
                  </a:tcPr>
                </a:tc>
                <a:tc>
                  <a:txBody>
                    <a:bodyPr/>
                    <a:lstStyle/>
                    <a:p>
                      <a:pPr>
                        <a:buNone/>
                      </a:pPr>
                      <a:r>
                        <a:rPr lang="en-US" dirty="0"/>
                        <a:t>Locked executive vault room</a:t>
                      </a:r>
                    </a:p>
                  </a:txBody>
                  <a:tcPr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90445" y="667820"/>
            <a:ext cx="8404261" cy="4955203"/>
          </a:xfrm>
          <a:prstGeom prst="rect">
            <a:avLst/>
          </a:prstGeom>
          <a:noFill/>
        </p:spPr>
        <p:txBody>
          <a:bodyPr wrap="square">
            <a:spAutoFit/>
          </a:bodyPr>
          <a:lstStyle/>
          <a:p>
            <a:r>
              <a:rPr lang="en-US" sz="2800" b="1" u="sng" dirty="0">
                <a:effectLst>
                  <a:outerShdw blurRad="38100" dist="38100" dir="2700000" algn="tl">
                    <a:srgbClr val="000000">
                      <a:alpha val="43137"/>
                    </a:srgbClr>
                  </a:outerShdw>
                </a:effectLst>
              </a:rPr>
              <a:t>11.Create a report describing:</a:t>
            </a:r>
          </a:p>
          <a:p>
            <a:endParaRPr lang="en-US" sz="2800" b="1" u="sng" dirty="0">
              <a:effectLst>
                <a:outerShdw blurRad="38100" dist="38100" dir="2700000" algn="tl">
                  <a:srgbClr val="000000">
                    <a:alpha val="43137"/>
                  </a:srgbClr>
                </a:outerShdw>
              </a:effectLst>
            </a:endParaRPr>
          </a:p>
          <a:p>
            <a:r>
              <a:rPr lang="en-US" sz="2000" dirty="0"/>
              <a:t>How each attack works</a:t>
            </a:r>
          </a:p>
          <a:p>
            <a:r>
              <a:rPr lang="en-US" sz="2000" dirty="0"/>
              <a:t>Possible impact</a:t>
            </a:r>
          </a:p>
          <a:p>
            <a:r>
              <a:rPr lang="en-US" sz="2000" dirty="0"/>
              <a:t>Security risks</a:t>
            </a:r>
          </a:p>
          <a:p>
            <a:r>
              <a:rPr lang="en-US" sz="2000" dirty="0"/>
              <a:t>Basic prevention methods</a:t>
            </a:r>
          </a:p>
          <a:p>
            <a:endParaRPr lang="en-US" sz="2000" dirty="0"/>
          </a:p>
          <a:p>
            <a:r>
              <a:rPr lang="en-US" sz="2000" dirty="0"/>
              <a:t>Attacks:</a:t>
            </a:r>
          </a:p>
          <a:p>
            <a:endParaRPr lang="en-US" sz="2000" dirty="0"/>
          </a:p>
          <a:p>
            <a:r>
              <a:rPr lang="en-US" sz="2000" dirty="0"/>
              <a:t>Packet sniffing</a:t>
            </a:r>
          </a:p>
          <a:p>
            <a:r>
              <a:rPr lang="en-US" sz="2000" dirty="0"/>
              <a:t>IP spoofing</a:t>
            </a:r>
          </a:p>
          <a:p>
            <a:r>
              <a:rPr lang="en-US" sz="2000" dirty="0"/>
              <a:t>DoS</a:t>
            </a:r>
          </a:p>
          <a:p>
            <a:r>
              <a:rPr lang="en-US" sz="2000" dirty="0"/>
              <a:t>DDoS</a:t>
            </a:r>
          </a:p>
          <a:p>
            <a:r>
              <a:rPr lang="en-US" sz="2000" dirty="0"/>
              <a:t>Backdoor attack</a:t>
            </a:r>
          </a:p>
          <a:p>
            <a:r>
              <a:rPr lang="en-US" sz="2000" dirty="0"/>
              <a:t>On-path attack</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9622" y="708917"/>
            <a:ext cx="8578922" cy="4031873"/>
          </a:xfrm>
          <a:prstGeom prst="rect">
            <a:avLst/>
          </a:prstGeom>
          <a:noFill/>
        </p:spPr>
        <p:txBody>
          <a:bodyPr wrap="square">
            <a:spAutoFit/>
          </a:bodyPr>
          <a:lstStyle/>
          <a:p>
            <a:pPr>
              <a:buNone/>
            </a:pPr>
            <a:endParaRPr lang="en-US" sz="2800" b="1" u="sng" dirty="0"/>
          </a:p>
          <a:p>
            <a:pPr>
              <a:buNone/>
            </a:pPr>
            <a:endParaRPr lang="en-US" sz="2800" b="1" u="sng" dirty="0"/>
          </a:p>
          <a:p>
            <a:pPr lvl="2"/>
            <a:r>
              <a:rPr lang="en-US" sz="3200" b="1" u="sng" dirty="0"/>
              <a:t>Cybersecurity Attack Report</a:t>
            </a:r>
          </a:p>
          <a:p>
            <a:pPr>
              <a:buNone/>
            </a:pPr>
            <a:endParaRPr lang="en-US" dirty="0"/>
          </a:p>
          <a:p>
            <a:pPr>
              <a:buNone/>
            </a:pPr>
            <a:endParaRPr lang="en-US" dirty="0"/>
          </a:p>
          <a:p>
            <a:pPr>
              <a:buNone/>
            </a:pPr>
            <a:endParaRPr lang="en-US" dirty="0"/>
          </a:p>
          <a:p>
            <a:pPr>
              <a:buNone/>
            </a:pPr>
            <a:endParaRPr lang="en-US" dirty="0"/>
          </a:p>
          <a:p>
            <a:pPr>
              <a:buNone/>
            </a:pPr>
            <a:r>
              <a:rPr lang="en-US" sz="2400" dirty="0"/>
              <a:t>Cyberattacks are methods used by attackers to steal information, interrupt services, or gain unauthorized access to systems and networks. Organizations use cybersecurity controls to reduce these threats and protect sensitive information.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0013" y="698642"/>
            <a:ext cx="10613205" cy="5558319"/>
          </a:xfrm>
        </p:spPr>
        <p:txBody>
          <a:bodyPr>
            <a:normAutofit fontScale="25000" lnSpcReduction="20000"/>
          </a:bodyPr>
          <a:lstStyle/>
          <a:p>
            <a:r>
              <a:rPr lang="en-US" sz="8000" b="1" dirty="0">
                <a:effectLst>
                  <a:outerShdw blurRad="38100" dist="38100" dir="2700000" algn="tl">
                    <a:srgbClr val="000000">
                      <a:alpha val="43137"/>
                    </a:srgbClr>
                  </a:outerShdw>
                </a:effectLst>
              </a:rPr>
              <a:t>1. 📦 Packet Sniffing</a:t>
            </a:r>
          </a:p>
          <a:p>
            <a:r>
              <a:rPr lang="en-US" sz="6400" b="1" u="sng" dirty="0">
                <a:effectLst>
                  <a:outerShdw blurRad="38100" dist="38100" dir="2700000" algn="tl">
                    <a:srgbClr val="000000">
                      <a:alpha val="43137"/>
                    </a:srgbClr>
                  </a:outerShdw>
                </a:effectLst>
              </a:rPr>
              <a:t>How It Works</a:t>
            </a:r>
          </a:p>
          <a:p>
            <a:r>
              <a:rPr lang="en-US" sz="6400" dirty="0"/>
              <a:t>Packet sniffing involves capturing and monitoring network traffic moving across a network.</a:t>
            </a:r>
          </a:p>
          <a:p>
            <a:r>
              <a:rPr lang="en-US" sz="6400" dirty="0"/>
              <a:t>Attackers use tools to read: Passwords, Emails, or Sensitive data. </a:t>
            </a:r>
          </a:p>
          <a:p>
            <a:r>
              <a:rPr lang="en-US" sz="6400" b="1" dirty="0"/>
              <a:t>especially when information is not encrypted</a:t>
            </a:r>
            <a:r>
              <a:rPr lang="en-US" sz="4900" dirty="0"/>
              <a:t>.</a:t>
            </a:r>
          </a:p>
          <a:p>
            <a:endParaRPr lang="en-US" sz="4900" dirty="0"/>
          </a:p>
          <a:p>
            <a:r>
              <a:rPr lang="en-US" sz="6400" b="1" u="sng" dirty="0">
                <a:effectLst>
                  <a:outerShdw blurRad="38100" dist="38100" dir="2700000" algn="tl">
                    <a:srgbClr val="000000">
                      <a:alpha val="43137"/>
                    </a:srgbClr>
                  </a:outerShdw>
                </a:effectLst>
              </a:rPr>
              <a:t>Possible Impact</a:t>
            </a:r>
          </a:p>
          <a:p>
            <a:r>
              <a:rPr lang="en-US" sz="6400" dirty="0"/>
              <a:t>Data theft </a:t>
            </a:r>
          </a:p>
          <a:p>
            <a:r>
              <a:rPr lang="en-US" sz="6400" dirty="0"/>
              <a:t>Password exposure </a:t>
            </a:r>
          </a:p>
          <a:p>
            <a:r>
              <a:rPr lang="en-US" sz="6400" dirty="0"/>
              <a:t>Privacy violations </a:t>
            </a:r>
          </a:p>
          <a:p>
            <a:endParaRPr lang="en-US" sz="4900" dirty="0"/>
          </a:p>
          <a:p>
            <a:r>
              <a:rPr lang="en-US" sz="6400" b="1" u="sng" dirty="0">
                <a:effectLst>
                  <a:outerShdw blurRad="38100" dist="38100" dir="2700000" algn="tl">
                    <a:srgbClr val="000000">
                      <a:alpha val="43137"/>
                    </a:srgbClr>
                  </a:outerShdw>
                </a:effectLst>
              </a:rPr>
              <a:t>Security Risks</a:t>
            </a:r>
          </a:p>
          <a:p>
            <a:r>
              <a:rPr lang="en-US" sz="6400" dirty="0"/>
              <a:t>Unencrypted communication can easily be intercepted.</a:t>
            </a:r>
          </a:p>
          <a:p>
            <a:endParaRPr lang="en-US" sz="4900" dirty="0"/>
          </a:p>
          <a:p>
            <a:r>
              <a:rPr lang="en-US" sz="6400" b="1" u="sng" dirty="0">
                <a:effectLst>
                  <a:outerShdw blurRad="38100" dist="38100" dir="2700000" algn="tl">
                    <a:srgbClr val="000000">
                      <a:alpha val="43137"/>
                    </a:srgbClr>
                  </a:outerShdw>
                </a:effectLst>
              </a:rPr>
              <a:t>Prevention Methods</a:t>
            </a:r>
          </a:p>
          <a:p>
            <a:r>
              <a:rPr lang="en-US" sz="6400" dirty="0"/>
              <a:t>Use HTTPS and VPNs </a:t>
            </a:r>
          </a:p>
          <a:p>
            <a:r>
              <a:rPr lang="en-US" sz="6400" dirty="0"/>
              <a:t>Encrypt network traffic </a:t>
            </a:r>
          </a:p>
          <a:p>
            <a:r>
              <a:rPr lang="en-US" sz="6400" dirty="0"/>
              <a:t>Avoid public unsecured Wi-Fi </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8642" y="863029"/>
            <a:ext cx="11034446" cy="5393933"/>
          </a:xfrm>
        </p:spPr>
        <p:txBody>
          <a:bodyPr>
            <a:normAutofit fontScale="77500" lnSpcReduction="20000"/>
          </a:bodyPr>
          <a:lstStyle/>
          <a:p>
            <a:r>
              <a:rPr lang="en-US" sz="2800" b="1" dirty="0">
                <a:effectLst>
                  <a:outerShdw blurRad="38100" dist="38100" dir="2700000" algn="tl">
                    <a:srgbClr val="000000">
                      <a:alpha val="43137"/>
                    </a:srgbClr>
                  </a:outerShdw>
                </a:effectLst>
              </a:rPr>
              <a:t>2. 🎭 IP Spoofing</a:t>
            </a:r>
          </a:p>
          <a:p>
            <a:r>
              <a:rPr lang="en-US" b="1" u="sng" dirty="0"/>
              <a:t>How It Works</a:t>
            </a:r>
          </a:p>
          <a:p>
            <a:r>
              <a:rPr lang="en-US" dirty="0"/>
              <a:t>The attacker changes their IP address to appear as a trusted device or user.</a:t>
            </a:r>
          </a:p>
          <a:p>
            <a:r>
              <a:rPr lang="en-US" dirty="0"/>
              <a:t>This helps attackers: Bypass security controls, and Hide their identity. </a:t>
            </a:r>
          </a:p>
          <a:p>
            <a:r>
              <a:rPr lang="en-US" b="1" u="sng" dirty="0"/>
              <a:t>Possible Impact</a:t>
            </a:r>
          </a:p>
          <a:p>
            <a:r>
              <a:rPr lang="en-US" dirty="0"/>
              <a:t>Unauthorized access </a:t>
            </a:r>
          </a:p>
          <a:p>
            <a:r>
              <a:rPr lang="en-US" dirty="0"/>
              <a:t>Data manipulation </a:t>
            </a:r>
          </a:p>
          <a:p>
            <a:r>
              <a:rPr lang="en-US" dirty="0"/>
              <a:t>Network attacks </a:t>
            </a:r>
          </a:p>
          <a:p>
            <a:r>
              <a:rPr lang="en-US" b="1" u="sng" dirty="0"/>
              <a:t>Security Risks</a:t>
            </a:r>
          </a:p>
          <a:p>
            <a:r>
              <a:rPr lang="en-US" dirty="0"/>
              <a:t>Systems may trust fake devices or users.</a:t>
            </a:r>
          </a:p>
          <a:p>
            <a:r>
              <a:rPr lang="en-US" b="1" u="sng" dirty="0"/>
              <a:t>Prevention Methods</a:t>
            </a:r>
          </a:p>
          <a:p>
            <a:r>
              <a:rPr lang="en-US" dirty="0"/>
              <a:t>Use firewalls </a:t>
            </a:r>
          </a:p>
          <a:p>
            <a:r>
              <a:rPr lang="en-US" dirty="0"/>
              <a:t>Enable packet filtering </a:t>
            </a:r>
          </a:p>
          <a:p>
            <a:r>
              <a:rPr lang="en-US" dirty="0"/>
              <a:t>Use authentication systems</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546" y="647271"/>
            <a:ext cx="10911155" cy="5496675"/>
          </a:xfrm>
        </p:spPr>
        <p:txBody>
          <a:bodyPr>
            <a:normAutofit fontScale="92500" lnSpcReduction="20000"/>
          </a:bodyPr>
          <a:lstStyle/>
          <a:p>
            <a:r>
              <a:rPr lang="en-US" sz="2600" b="1" dirty="0">
                <a:effectLst>
                  <a:outerShdw blurRad="38100" dist="38100" dir="2700000" algn="tl">
                    <a:srgbClr val="000000">
                      <a:alpha val="43137"/>
                    </a:srgbClr>
                  </a:outerShdw>
                </a:effectLst>
              </a:rPr>
              <a:t>3. 🚫 DoS (Denial of Service)</a:t>
            </a:r>
          </a:p>
          <a:p>
            <a:r>
              <a:rPr lang="en-US" b="1" u="sng" dirty="0"/>
              <a:t>How It Works</a:t>
            </a:r>
          </a:p>
          <a:p>
            <a:r>
              <a:rPr lang="en-US" dirty="0"/>
              <a:t>A DoS attack floods a server or network with excessive traffic until it becomes unavailable.</a:t>
            </a:r>
          </a:p>
          <a:p>
            <a:r>
              <a:rPr lang="en-US" b="1" u="sng" dirty="0"/>
              <a:t>Possible Impact</a:t>
            </a:r>
          </a:p>
          <a:p>
            <a:r>
              <a:rPr lang="en-US" dirty="0"/>
              <a:t>Website downtime </a:t>
            </a:r>
          </a:p>
          <a:p>
            <a:r>
              <a:rPr lang="en-US" dirty="0"/>
              <a:t>Service interruption </a:t>
            </a:r>
          </a:p>
          <a:p>
            <a:r>
              <a:rPr lang="en-US" dirty="0"/>
              <a:t>Loss of productivity </a:t>
            </a:r>
          </a:p>
          <a:p>
            <a:r>
              <a:rPr lang="en-US" b="1" u="sng" dirty="0"/>
              <a:t>Security Risks</a:t>
            </a:r>
          </a:p>
          <a:p>
            <a:r>
              <a:rPr lang="en-US" dirty="0"/>
              <a:t>Legitimate users cannot access services.</a:t>
            </a:r>
          </a:p>
          <a:p>
            <a:r>
              <a:rPr lang="en-US" b="1" u="sng" dirty="0"/>
              <a:t>Prevention Methods</a:t>
            </a:r>
          </a:p>
          <a:p>
            <a:r>
              <a:rPr lang="en-US" dirty="0"/>
              <a:t>Traffic filtering </a:t>
            </a:r>
          </a:p>
          <a:p>
            <a:r>
              <a:rPr lang="en-US" dirty="0"/>
              <a:t>Firewalls </a:t>
            </a:r>
          </a:p>
          <a:p>
            <a:r>
              <a:rPr lang="en-US" dirty="0"/>
              <a:t>Rate limiting</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094" y="626723"/>
            <a:ext cx="10870059" cy="5578867"/>
          </a:xfrm>
        </p:spPr>
        <p:txBody>
          <a:bodyPr>
            <a:normAutofit fontScale="92500" lnSpcReduction="20000"/>
          </a:bodyPr>
          <a:lstStyle/>
          <a:p>
            <a:r>
              <a:rPr lang="en-US" sz="3000" b="1" dirty="0">
                <a:effectLst>
                  <a:outerShdw blurRad="38100" dist="38100" dir="2700000" algn="tl">
                    <a:srgbClr val="000000">
                      <a:alpha val="43137"/>
                    </a:srgbClr>
                  </a:outerShdw>
                </a:effectLst>
              </a:rPr>
              <a:t>4. 🌍 DDoS (Distributed Denial of Service)</a:t>
            </a:r>
          </a:p>
          <a:p>
            <a:r>
              <a:rPr lang="en-US" b="1" u="sng" dirty="0"/>
              <a:t>How It Works</a:t>
            </a:r>
          </a:p>
          <a:p>
            <a:r>
              <a:rPr lang="en-US" dirty="0"/>
              <a:t>Similar to DoS, but traffic comes from many infected computers (botnets) at the same time.</a:t>
            </a:r>
          </a:p>
          <a:p>
            <a:r>
              <a:rPr lang="en-US" b="1" u="sng" dirty="0"/>
              <a:t>Possible Impact</a:t>
            </a:r>
          </a:p>
          <a:p>
            <a:r>
              <a:rPr lang="en-US" dirty="0"/>
              <a:t>Large-scale outages </a:t>
            </a:r>
          </a:p>
          <a:p>
            <a:r>
              <a:rPr lang="en-US" dirty="0"/>
              <a:t>Financial losses </a:t>
            </a:r>
          </a:p>
          <a:p>
            <a:r>
              <a:rPr lang="en-US" dirty="0"/>
              <a:t>Reputation damage </a:t>
            </a:r>
          </a:p>
          <a:p>
            <a:r>
              <a:rPr lang="en-US" b="1" u="sng" dirty="0"/>
              <a:t>Security Risks</a:t>
            </a:r>
          </a:p>
          <a:p>
            <a:r>
              <a:rPr lang="en-US" dirty="0"/>
              <a:t>Very difficult to stop because attacks come from multiple locations.</a:t>
            </a:r>
          </a:p>
          <a:p>
            <a:r>
              <a:rPr lang="en-US" b="1" u="sng" dirty="0"/>
              <a:t>Prevention Methods</a:t>
            </a:r>
          </a:p>
          <a:p>
            <a:r>
              <a:rPr lang="en-US" dirty="0"/>
              <a:t>DDoS protection services </a:t>
            </a:r>
          </a:p>
          <a:p>
            <a:r>
              <a:rPr lang="en-US" dirty="0"/>
              <a:t>Load balancing </a:t>
            </a:r>
          </a:p>
          <a:p>
            <a:r>
              <a:rPr lang="en-US" dirty="0"/>
              <a:t>Network monitoring</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7819" y="647271"/>
            <a:ext cx="10870060" cy="5609691"/>
          </a:xfrm>
        </p:spPr>
        <p:txBody>
          <a:bodyPr>
            <a:normAutofit fontScale="85000" lnSpcReduction="20000"/>
          </a:bodyPr>
          <a:lstStyle/>
          <a:p>
            <a:r>
              <a:rPr lang="en-US" sz="3300" b="1" dirty="0">
                <a:effectLst>
                  <a:outerShdw blurRad="38100" dist="38100" dir="2700000" algn="tl">
                    <a:srgbClr val="000000">
                      <a:alpha val="43137"/>
                    </a:srgbClr>
                  </a:outerShdw>
                </a:effectLst>
              </a:rPr>
              <a:t>5. 🚪 Backdoor Attack</a:t>
            </a:r>
          </a:p>
          <a:p>
            <a:r>
              <a:rPr lang="en-US" b="1" u="sng" dirty="0"/>
              <a:t>How It Works</a:t>
            </a:r>
          </a:p>
          <a:p>
            <a:r>
              <a:rPr lang="en-US" dirty="0"/>
              <a:t>Attackers secretly install hidden access methods into systems or software.</a:t>
            </a:r>
          </a:p>
          <a:p>
            <a:r>
              <a:rPr lang="en-US" dirty="0"/>
              <a:t>This allows them to enter later without authorization.</a:t>
            </a:r>
          </a:p>
          <a:p>
            <a:r>
              <a:rPr lang="en-US" b="1" u="sng" dirty="0"/>
              <a:t>Possible Impact</a:t>
            </a:r>
          </a:p>
          <a:p>
            <a:r>
              <a:rPr lang="en-US" dirty="0"/>
              <a:t>Remote control of systems </a:t>
            </a:r>
          </a:p>
          <a:p>
            <a:r>
              <a:rPr lang="en-US" dirty="0"/>
              <a:t>Data theft </a:t>
            </a:r>
          </a:p>
          <a:p>
            <a:r>
              <a:rPr lang="en-US" dirty="0"/>
              <a:t>Malware installation </a:t>
            </a:r>
          </a:p>
          <a:p>
            <a:r>
              <a:rPr lang="en-US" b="1" u="sng" dirty="0"/>
              <a:t>Security Risks</a:t>
            </a:r>
          </a:p>
          <a:p>
            <a:r>
              <a:rPr lang="en-US" dirty="0"/>
              <a:t>Attackers maintain hidden long-term access.</a:t>
            </a:r>
          </a:p>
          <a:p>
            <a:r>
              <a:rPr lang="en-US" b="1" u="sng" dirty="0"/>
              <a:t>Prevention Methods</a:t>
            </a:r>
          </a:p>
          <a:p>
            <a:r>
              <a:rPr lang="en-US" dirty="0"/>
              <a:t>Regular software updates </a:t>
            </a:r>
          </a:p>
          <a:p>
            <a:r>
              <a:rPr lang="en-US" dirty="0"/>
              <a:t>Antivirus and endpoint security </a:t>
            </a:r>
          </a:p>
          <a:p>
            <a:r>
              <a:rPr lang="en-US" dirty="0"/>
              <a:t>Access monitoring</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7820" y="616449"/>
            <a:ext cx="10870059" cy="5568594"/>
          </a:xfrm>
        </p:spPr>
        <p:txBody>
          <a:bodyPr>
            <a:normAutofit fontScale="92500" lnSpcReduction="10000"/>
          </a:bodyPr>
          <a:lstStyle/>
          <a:p>
            <a:r>
              <a:rPr lang="en-US" sz="3000" b="1" dirty="0">
                <a:effectLst>
                  <a:outerShdw blurRad="38100" dist="38100" dir="2700000" algn="tl">
                    <a:srgbClr val="000000">
                      <a:alpha val="43137"/>
                    </a:srgbClr>
                  </a:outerShdw>
                </a:effectLst>
              </a:rPr>
              <a:t>6. 🛣️ On-Path Attack (Man-in-the-Middle)</a:t>
            </a:r>
          </a:p>
          <a:p>
            <a:r>
              <a:rPr lang="en-US" b="1" u="sng" dirty="0"/>
              <a:t>How It Works</a:t>
            </a:r>
          </a:p>
          <a:p>
            <a:r>
              <a:rPr lang="en-US" dirty="0"/>
              <a:t>The attacker secretly intercepts communication between two parties.</a:t>
            </a:r>
          </a:p>
          <a:p>
            <a:r>
              <a:rPr lang="en-US" dirty="0"/>
              <a:t>The attacker can:</a:t>
            </a:r>
          </a:p>
          <a:p>
            <a:r>
              <a:rPr lang="en-US" dirty="0"/>
              <a:t>Read messages </a:t>
            </a:r>
          </a:p>
          <a:p>
            <a:r>
              <a:rPr lang="en-US" dirty="0"/>
              <a:t>Modify data </a:t>
            </a:r>
          </a:p>
          <a:p>
            <a:r>
              <a:rPr lang="en-US" dirty="0"/>
              <a:t>Steal credentials </a:t>
            </a:r>
          </a:p>
          <a:p>
            <a:r>
              <a:rPr lang="en-US" dirty="0"/>
              <a:t>without either side noticing.</a:t>
            </a:r>
          </a:p>
          <a:p>
            <a:r>
              <a:rPr lang="en-US" b="1" u="sng" dirty="0"/>
              <a:t>Possible Impact: </a:t>
            </a:r>
            <a:r>
              <a:rPr lang="en-US" dirty="0"/>
              <a:t>Financial fraud, Stolen passwords, and Data manipulation. </a:t>
            </a:r>
          </a:p>
          <a:p>
            <a:r>
              <a:rPr lang="en-US" b="1" u="sng" dirty="0"/>
              <a:t>Security Risks</a:t>
            </a:r>
          </a:p>
          <a:p>
            <a:r>
              <a:rPr lang="en-US" dirty="0"/>
              <a:t>Sensitive communication becomes compromised.</a:t>
            </a:r>
          </a:p>
          <a:p>
            <a:r>
              <a:rPr lang="en-US" b="1" u="sng" dirty="0"/>
              <a:t>Prevention Methods: </a:t>
            </a:r>
            <a:r>
              <a:rPr lang="en-US" dirty="0"/>
              <a:t>Use HTTPS, Use VPNs, or Enable encryption and authentication.</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a:spLocks noGrp="1" noChangeArrowheads="1"/>
          </p:cNvSpPr>
          <p:nvPr>
            <p:ph type="title"/>
          </p:nvPr>
        </p:nvSpPr>
        <p:spPr bwMode="auto">
          <a:xfrm flipH="1">
            <a:off x="3431568" y="624934"/>
            <a:ext cx="6585733"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Real-Life Analogy</a:t>
            </a:r>
            <a:br>
              <a:rPr kumimoji="0" lang="en-US" altLang="en-US" sz="2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br>
            <a:r>
              <a:rPr kumimoji="0" lang="en-US" altLang="en-US" sz="2800"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rPr>
              <a:t> </a:t>
            </a:r>
            <a:br>
              <a:rPr lang="en-US" altLang="en-US" sz="1600" b="1" dirty="0">
                <a:ln>
                  <a:noFill/>
                </a:ln>
                <a:solidFill>
                  <a:schemeClr val="tx1"/>
                </a:solidFill>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Imagine sending confidential business documents across Enugu:</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2" name="Content Placeholder 11"/>
          <p:cNvGraphicFramePr>
            <a:graphicFrameLocks noGrp="1"/>
          </p:cNvGraphicFramePr>
          <p:nvPr>
            <p:ph idx="1"/>
          </p:nvPr>
        </p:nvGraphicFramePr>
        <p:xfrm>
          <a:off x="1273996" y="2410038"/>
          <a:ext cx="9622604" cy="3823028"/>
        </p:xfrm>
        <a:graphic>
          <a:graphicData uri="http://schemas.openxmlformats.org/drawingml/2006/table">
            <a:tbl>
              <a:tblPr/>
              <a:tblGrid>
                <a:gridCol w="4816439">
                  <a:extLst>
                    <a:ext uri="{9D8B030D-6E8A-4147-A177-3AD203B41FA5}">
                      <a16:colId xmlns:a16="http://schemas.microsoft.com/office/drawing/2014/main" val="20000"/>
                    </a:ext>
                  </a:extLst>
                </a:gridCol>
                <a:gridCol w="4806165">
                  <a:extLst>
                    <a:ext uri="{9D8B030D-6E8A-4147-A177-3AD203B41FA5}">
                      <a16:colId xmlns:a16="http://schemas.microsoft.com/office/drawing/2014/main" val="20001"/>
                    </a:ext>
                  </a:extLst>
                </a:gridCol>
              </a:tblGrid>
              <a:tr h="449768">
                <a:tc>
                  <a:txBody>
                    <a:bodyPr/>
                    <a:lstStyle/>
                    <a:p>
                      <a:pPr>
                        <a:buNone/>
                      </a:pPr>
                      <a:r>
                        <a:rPr lang="en-US" b="1" u="sng" dirty="0"/>
                        <a:t>Attack</a:t>
                      </a:r>
                    </a:p>
                  </a:txBody>
                  <a:tcPr anchor="ctr">
                    <a:lnL>
                      <a:noFill/>
                    </a:lnL>
                    <a:lnR>
                      <a:noFill/>
                    </a:lnR>
                    <a:lnT>
                      <a:noFill/>
                    </a:lnT>
                    <a:lnB>
                      <a:noFill/>
                    </a:lnB>
                    <a:noFill/>
                  </a:tcPr>
                </a:tc>
                <a:tc>
                  <a:txBody>
                    <a:bodyPr/>
                    <a:lstStyle/>
                    <a:p>
                      <a:pPr>
                        <a:buNone/>
                      </a:pPr>
                      <a:r>
                        <a:rPr lang="en-US" b="1" u="sng" dirty="0"/>
                        <a:t>Real-Life Analogy</a:t>
                      </a:r>
                    </a:p>
                  </a:txBody>
                  <a:tcPr anchor="ctr">
                    <a:lnL>
                      <a:noFill/>
                    </a:lnL>
                    <a:lnR>
                      <a:noFill/>
                    </a:lnR>
                    <a:lnT>
                      <a:noFill/>
                    </a:lnT>
                    <a:lnB>
                      <a:noFill/>
                    </a:lnB>
                    <a:noFill/>
                  </a:tcPr>
                </a:tc>
                <a:extLst>
                  <a:ext uri="{0D108BD9-81ED-4DB2-BD59-A6C34878D82A}">
                    <a16:rowId xmlns:a16="http://schemas.microsoft.com/office/drawing/2014/main" val="10000"/>
                  </a:ext>
                </a:extLst>
              </a:tr>
              <a:tr h="449768">
                <a:tc>
                  <a:txBody>
                    <a:bodyPr/>
                    <a:lstStyle/>
                    <a:p>
                      <a:pPr>
                        <a:buNone/>
                      </a:pPr>
                      <a:r>
                        <a:rPr lang="en-US"/>
                        <a:t>Packet Sniffing</a:t>
                      </a:r>
                    </a:p>
                  </a:txBody>
                  <a:tcPr anchor="ctr">
                    <a:lnL>
                      <a:noFill/>
                    </a:lnL>
                    <a:lnR>
                      <a:noFill/>
                    </a:lnR>
                    <a:lnT>
                      <a:noFill/>
                    </a:lnT>
                    <a:lnB>
                      <a:noFill/>
                    </a:lnB>
                    <a:noFill/>
                  </a:tcPr>
                </a:tc>
                <a:tc>
                  <a:txBody>
                    <a:bodyPr/>
                    <a:lstStyle/>
                    <a:p>
                      <a:pPr>
                        <a:buNone/>
                      </a:pPr>
                      <a:r>
                        <a:rPr lang="en-US"/>
                        <a:t>Somebody secretly reading your letters</a:t>
                      </a:r>
                    </a:p>
                  </a:txBody>
                  <a:tcPr anchor="ctr">
                    <a:lnL>
                      <a:noFill/>
                    </a:lnL>
                    <a:lnR>
                      <a:noFill/>
                    </a:lnR>
                    <a:lnT>
                      <a:noFill/>
                    </a:lnT>
                    <a:lnB>
                      <a:noFill/>
                    </a:lnB>
                    <a:noFill/>
                  </a:tcPr>
                </a:tc>
                <a:extLst>
                  <a:ext uri="{0D108BD9-81ED-4DB2-BD59-A6C34878D82A}">
                    <a16:rowId xmlns:a16="http://schemas.microsoft.com/office/drawing/2014/main" val="10001"/>
                  </a:ext>
                </a:extLst>
              </a:tr>
              <a:tr h="449768">
                <a:tc>
                  <a:txBody>
                    <a:bodyPr/>
                    <a:lstStyle/>
                    <a:p>
                      <a:pPr>
                        <a:buNone/>
                      </a:pPr>
                      <a:r>
                        <a:rPr lang="en-US"/>
                        <a:t>IP Spoofing</a:t>
                      </a:r>
                    </a:p>
                  </a:txBody>
                  <a:tcPr anchor="ctr">
                    <a:lnL>
                      <a:noFill/>
                    </a:lnL>
                    <a:lnR>
                      <a:noFill/>
                    </a:lnR>
                    <a:lnT>
                      <a:noFill/>
                    </a:lnT>
                    <a:lnB>
                      <a:noFill/>
                    </a:lnB>
                    <a:noFill/>
                  </a:tcPr>
                </a:tc>
                <a:tc>
                  <a:txBody>
                    <a:bodyPr/>
                    <a:lstStyle/>
                    <a:p>
                      <a:pPr>
                        <a:buNone/>
                      </a:pPr>
                      <a:r>
                        <a:rPr lang="en-US"/>
                        <a:t>Criminal pretending to be a trusted worker</a:t>
                      </a:r>
                    </a:p>
                  </a:txBody>
                  <a:tcPr anchor="ctr">
                    <a:lnL>
                      <a:noFill/>
                    </a:lnL>
                    <a:lnR>
                      <a:noFill/>
                    </a:lnR>
                    <a:lnT>
                      <a:noFill/>
                    </a:lnT>
                    <a:lnB>
                      <a:noFill/>
                    </a:lnB>
                    <a:noFill/>
                  </a:tcPr>
                </a:tc>
                <a:extLst>
                  <a:ext uri="{0D108BD9-81ED-4DB2-BD59-A6C34878D82A}">
                    <a16:rowId xmlns:a16="http://schemas.microsoft.com/office/drawing/2014/main" val="10002"/>
                  </a:ext>
                </a:extLst>
              </a:tr>
              <a:tr h="787094">
                <a:tc>
                  <a:txBody>
                    <a:bodyPr/>
                    <a:lstStyle/>
                    <a:p>
                      <a:pPr>
                        <a:buNone/>
                      </a:pPr>
                      <a:r>
                        <a:rPr lang="en-US" dirty="0"/>
                        <a:t>DoS</a:t>
                      </a:r>
                    </a:p>
                  </a:txBody>
                  <a:tcPr anchor="ctr">
                    <a:lnL>
                      <a:noFill/>
                    </a:lnL>
                    <a:lnR>
                      <a:noFill/>
                    </a:lnR>
                    <a:lnT>
                      <a:noFill/>
                    </a:lnT>
                    <a:lnB>
                      <a:noFill/>
                    </a:lnB>
                    <a:noFill/>
                  </a:tcPr>
                </a:tc>
                <a:tc>
                  <a:txBody>
                    <a:bodyPr/>
                    <a:lstStyle/>
                    <a:p>
                      <a:pPr>
                        <a:buNone/>
                      </a:pPr>
                      <a:r>
                        <a:rPr lang="en-US" dirty="0"/>
                        <a:t>Blocking a shop entrance so customers cannot enter</a:t>
                      </a:r>
                    </a:p>
                  </a:txBody>
                  <a:tcPr anchor="ctr">
                    <a:lnL>
                      <a:noFill/>
                    </a:lnL>
                    <a:lnR>
                      <a:noFill/>
                    </a:lnR>
                    <a:lnT>
                      <a:noFill/>
                    </a:lnT>
                    <a:lnB>
                      <a:noFill/>
                    </a:lnB>
                    <a:noFill/>
                  </a:tcPr>
                </a:tc>
                <a:extLst>
                  <a:ext uri="{0D108BD9-81ED-4DB2-BD59-A6C34878D82A}">
                    <a16:rowId xmlns:a16="http://schemas.microsoft.com/office/drawing/2014/main" val="10003"/>
                  </a:ext>
                </a:extLst>
              </a:tr>
              <a:tr h="449768">
                <a:tc>
                  <a:txBody>
                    <a:bodyPr/>
                    <a:lstStyle/>
                    <a:p>
                      <a:pPr>
                        <a:buNone/>
                      </a:pPr>
                      <a:r>
                        <a:rPr lang="en-US"/>
                        <a:t>DDoS</a:t>
                      </a:r>
                    </a:p>
                  </a:txBody>
                  <a:tcPr anchor="ctr">
                    <a:lnL>
                      <a:noFill/>
                    </a:lnL>
                    <a:lnR>
                      <a:noFill/>
                    </a:lnR>
                    <a:lnT>
                      <a:noFill/>
                    </a:lnT>
                    <a:lnB>
                      <a:noFill/>
                    </a:lnB>
                    <a:noFill/>
                  </a:tcPr>
                </a:tc>
                <a:tc>
                  <a:txBody>
                    <a:bodyPr/>
                    <a:lstStyle/>
                    <a:p>
                      <a:pPr>
                        <a:buNone/>
                      </a:pPr>
                      <a:r>
                        <a:rPr lang="en-US"/>
                        <a:t>Hundreds of people blocking the entrance at once</a:t>
                      </a:r>
                    </a:p>
                  </a:txBody>
                  <a:tcPr anchor="ctr">
                    <a:lnL>
                      <a:noFill/>
                    </a:lnL>
                    <a:lnR>
                      <a:noFill/>
                    </a:lnR>
                    <a:lnT>
                      <a:noFill/>
                    </a:lnT>
                    <a:lnB>
                      <a:noFill/>
                    </a:lnB>
                    <a:noFill/>
                  </a:tcPr>
                </a:tc>
                <a:extLst>
                  <a:ext uri="{0D108BD9-81ED-4DB2-BD59-A6C34878D82A}">
                    <a16:rowId xmlns:a16="http://schemas.microsoft.com/office/drawing/2014/main" val="10004"/>
                  </a:ext>
                </a:extLst>
              </a:tr>
              <a:tr h="449768">
                <a:tc>
                  <a:txBody>
                    <a:bodyPr/>
                    <a:lstStyle/>
                    <a:p>
                      <a:pPr>
                        <a:buNone/>
                      </a:pPr>
                      <a:r>
                        <a:rPr lang="en-US"/>
                        <a:t>Backdoor Attack</a:t>
                      </a:r>
                    </a:p>
                  </a:txBody>
                  <a:tcPr anchor="ctr">
                    <a:lnL>
                      <a:noFill/>
                    </a:lnL>
                    <a:lnR>
                      <a:noFill/>
                    </a:lnR>
                    <a:lnT>
                      <a:noFill/>
                    </a:lnT>
                    <a:lnB>
                      <a:noFill/>
                    </a:lnB>
                    <a:noFill/>
                  </a:tcPr>
                </a:tc>
                <a:tc>
                  <a:txBody>
                    <a:bodyPr/>
                    <a:lstStyle/>
                    <a:p>
                      <a:pPr>
                        <a:buNone/>
                      </a:pPr>
                      <a:r>
                        <a:rPr lang="en-US"/>
                        <a:t>Secret hidden entrance into a building</a:t>
                      </a:r>
                    </a:p>
                  </a:txBody>
                  <a:tcPr anchor="ctr">
                    <a:lnL>
                      <a:noFill/>
                    </a:lnL>
                    <a:lnR>
                      <a:noFill/>
                    </a:lnR>
                    <a:lnT>
                      <a:noFill/>
                    </a:lnT>
                    <a:lnB>
                      <a:noFill/>
                    </a:lnB>
                    <a:noFill/>
                  </a:tcPr>
                </a:tc>
                <a:extLst>
                  <a:ext uri="{0D108BD9-81ED-4DB2-BD59-A6C34878D82A}">
                    <a16:rowId xmlns:a16="http://schemas.microsoft.com/office/drawing/2014/main" val="10005"/>
                  </a:ext>
                </a:extLst>
              </a:tr>
              <a:tr h="787094">
                <a:tc>
                  <a:txBody>
                    <a:bodyPr/>
                    <a:lstStyle/>
                    <a:p>
                      <a:pPr>
                        <a:buNone/>
                      </a:pPr>
                      <a:r>
                        <a:rPr lang="en-US"/>
                        <a:t>On-Path Attack</a:t>
                      </a:r>
                    </a:p>
                  </a:txBody>
                  <a:tcPr anchor="ctr">
                    <a:lnL>
                      <a:noFill/>
                    </a:lnL>
                    <a:lnR>
                      <a:noFill/>
                    </a:lnR>
                    <a:lnT>
                      <a:noFill/>
                    </a:lnT>
                    <a:lnB>
                      <a:noFill/>
                    </a:lnB>
                    <a:noFill/>
                  </a:tcPr>
                </a:tc>
                <a:tc>
                  <a:txBody>
                    <a:bodyPr/>
                    <a:lstStyle/>
                    <a:p>
                      <a:pPr>
                        <a:buNone/>
                      </a:pPr>
                      <a:r>
                        <a:rPr lang="en-US" dirty="0"/>
                        <a:t>Intercepting and altering messages between two people</a:t>
                      </a:r>
                    </a:p>
                  </a:txBody>
                  <a:tcPr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In conclusion</a:t>
            </a:r>
          </a:p>
        </p:txBody>
      </p:sp>
      <p:sp>
        <p:nvSpPr>
          <p:cNvPr id="3" name="Content Placeholder 2"/>
          <p:cNvSpPr>
            <a:spLocks noGrp="1"/>
          </p:cNvSpPr>
          <p:nvPr>
            <p:ph idx="1"/>
          </p:nvPr>
        </p:nvSpPr>
        <p:spPr/>
        <p:txBody>
          <a:bodyPr/>
          <a:lstStyle/>
          <a:p>
            <a:r>
              <a:rPr lang="en-US" dirty="0"/>
              <a:t>Cyberattacks threaten confidentiality, integrity, and availability of information systems. Organizations reduce these risks by implementing strong security practices such as encryption, firewalls, authentication, software updates, monitoring, and secure communication technologies.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77398" cy="2161760"/>
          </a:xfrm>
        </p:spPr>
        <p:txBody>
          <a:bodyPr>
            <a:normAutofit fontScale="90000"/>
          </a:bodyPr>
          <a:lstStyle/>
          <a:p>
            <a:r>
              <a:rPr lang="en-US" b="1" dirty="0">
                <a:effectLst>
                  <a:outerShdw blurRad="38100" dist="38100" dir="2700000" algn="tl">
                    <a:srgbClr val="000000">
                      <a:alpha val="43137"/>
                    </a:srgbClr>
                  </a:outerShdw>
                </a:effectLst>
              </a:rPr>
              <a:t>12. Create a security hardening checklist for:</a:t>
            </a:r>
            <a:br>
              <a:rPr lang="en-US" b="1" dirty="0">
                <a:effectLst>
                  <a:outerShdw blurRad="38100" dist="38100" dir="2700000" algn="tl">
                    <a:srgbClr val="000000">
                      <a:alpha val="43137"/>
                    </a:srgbClr>
                  </a:outerShdw>
                </a:effectLst>
              </a:rPr>
            </a:b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024009" y="2681554"/>
            <a:ext cx="8872588" cy="3194313"/>
          </a:xfrm>
        </p:spPr>
        <p:txBody>
          <a:bodyPr>
            <a:normAutofit/>
          </a:bodyPr>
          <a:lstStyle/>
          <a:p>
            <a:r>
              <a:rPr lang="en-US" sz="2800" dirty="0"/>
              <a:t>Personal computer</a:t>
            </a:r>
          </a:p>
          <a:p>
            <a:r>
              <a:rPr lang="en-US" sz="2800" dirty="0"/>
              <a:t>School network</a:t>
            </a:r>
          </a:p>
          <a:p>
            <a:r>
              <a:rPr lang="en-US" sz="2800" dirty="0"/>
              <a:t>Company workstation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0980" y="1068511"/>
            <a:ext cx="10315254" cy="3077766"/>
          </a:xfrm>
          <a:prstGeom prst="rect">
            <a:avLst/>
          </a:prstGeom>
          <a:noFill/>
        </p:spPr>
        <p:txBody>
          <a:bodyPr wrap="square">
            <a:spAutoFit/>
          </a:bodyPr>
          <a:lstStyle/>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endParaRPr lang="en-US" b="1" dirty="0"/>
          </a:p>
          <a:p>
            <a:pPr>
              <a:buNone/>
            </a:pPr>
            <a:r>
              <a:rPr lang="en-US" sz="2800" b="1" dirty="0">
                <a:effectLst>
                  <a:outerShdw blurRad="38100" dist="38100" dir="2700000" algn="tl">
                    <a:srgbClr val="000000">
                      <a:alpha val="43137"/>
                    </a:srgbClr>
                  </a:outerShdw>
                </a:effectLst>
              </a:rPr>
              <a:t>🔐 Security Hardening Checklist</a:t>
            </a:r>
          </a:p>
          <a:p>
            <a:pPr>
              <a:buNone/>
            </a:pPr>
            <a:r>
              <a:rPr lang="en-US" sz="2000" dirty="0"/>
              <a:t>Security hardening means strengthening systems to reduce vulnerabilities and protect against cyberattacks.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7978" y="982132"/>
            <a:ext cx="9098620" cy="45719"/>
          </a:xfrm>
        </p:spPr>
        <p:txBody>
          <a:bodyPr>
            <a:normAutofit fontScale="90000"/>
          </a:bodyPr>
          <a:lstStyle/>
          <a:p>
            <a:r>
              <a:rPr lang="en-US" dirty="0"/>
              <a:t>💻 1. Personal Computer Security Checklist</a:t>
            </a:r>
          </a:p>
        </p:txBody>
      </p:sp>
      <p:graphicFrame>
        <p:nvGraphicFramePr>
          <p:cNvPr id="4" name="Content Placeholder 3"/>
          <p:cNvGraphicFramePr>
            <a:graphicFrameLocks noGrp="1"/>
          </p:cNvGraphicFramePr>
          <p:nvPr>
            <p:ph idx="1"/>
          </p:nvPr>
        </p:nvGraphicFramePr>
        <p:xfrm>
          <a:off x="739738" y="1520576"/>
          <a:ext cx="10726222" cy="4618746"/>
        </p:xfrm>
        <a:graphic>
          <a:graphicData uri="http://schemas.openxmlformats.org/drawingml/2006/table">
            <a:tbl>
              <a:tblPr/>
              <a:tblGrid>
                <a:gridCol w="5363111">
                  <a:extLst>
                    <a:ext uri="{9D8B030D-6E8A-4147-A177-3AD203B41FA5}">
                      <a16:colId xmlns:a16="http://schemas.microsoft.com/office/drawing/2014/main" val="20000"/>
                    </a:ext>
                  </a:extLst>
                </a:gridCol>
                <a:gridCol w="5363111">
                  <a:extLst>
                    <a:ext uri="{9D8B030D-6E8A-4147-A177-3AD203B41FA5}">
                      <a16:colId xmlns:a16="http://schemas.microsoft.com/office/drawing/2014/main" val="20001"/>
                    </a:ext>
                  </a:extLst>
                </a:gridCol>
              </a:tblGrid>
              <a:tr h="513194">
                <a:tc>
                  <a:txBody>
                    <a:bodyPr/>
                    <a:lstStyle/>
                    <a:p>
                      <a:pPr>
                        <a:buNone/>
                      </a:pPr>
                      <a:r>
                        <a:rPr lang="en-US" sz="2000" b="1" u="sng"/>
                        <a:t>Security Measure</a:t>
                      </a:r>
                    </a:p>
                  </a:txBody>
                  <a:tcPr anchor="ctr">
                    <a:lnL>
                      <a:noFill/>
                    </a:lnL>
                    <a:lnR>
                      <a:noFill/>
                    </a:lnR>
                    <a:lnT>
                      <a:noFill/>
                    </a:lnT>
                    <a:lnB>
                      <a:noFill/>
                    </a:lnB>
                    <a:noFill/>
                  </a:tcPr>
                </a:tc>
                <a:tc>
                  <a:txBody>
                    <a:bodyPr/>
                    <a:lstStyle/>
                    <a:p>
                      <a:pPr>
                        <a:buNone/>
                      </a:pPr>
                      <a:r>
                        <a:rPr lang="en-US" sz="2000" b="1" u="sng" dirty="0"/>
                        <a:t>Purpose</a:t>
                      </a:r>
                    </a:p>
                  </a:txBody>
                  <a:tcPr anchor="ctr">
                    <a:lnL>
                      <a:noFill/>
                    </a:lnL>
                    <a:lnR>
                      <a:noFill/>
                    </a:lnR>
                    <a:lnT>
                      <a:noFill/>
                    </a:lnT>
                    <a:lnB>
                      <a:noFill/>
                    </a:lnB>
                    <a:noFill/>
                  </a:tcPr>
                </a:tc>
                <a:extLst>
                  <a:ext uri="{0D108BD9-81ED-4DB2-BD59-A6C34878D82A}">
                    <a16:rowId xmlns:a16="http://schemas.microsoft.com/office/drawing/2014/main" val="10000"/>
                  </a:ext>
                </a:extLst>
              </a:tr>
              <a:tr h="513194">
                <a:tc>
                  <a:txBody>
                    <a:bodyPr/>
                    <a:lstStyle/>
                    <a:p>
                      <a:pPr>
                        <a:buNone/>
                      </a:pPr>
                      <a:r>
                        <a:rPr lang="en-US"/>
                        <a:t>Install antivirus software</a:t>
                      </a:r>
                    </a:p>
                  </a:txBody>
                  <a:tcPr anchor="ctr">
                    <a:lnL>
                      <a:noFill/>
                    </a:lnL>
                    <a:lnR>
                      <a:noFill/>
                    </a:lnR>
                    <a:lnT>
                      <a:noFill/>
                    </a:lnT>
                    <a:lnB>
                      <a:noFill/>
                    </a:lnB>
                    <a:noFill/>
                  </a:tcPr>
                </a:tc>
                <a:tc>
                  <a:txBody>
                    <a:bodyPr/>
                    <a:lstStyle/>
                    <a:p>
                      <a:pPr>
                        <a:buNone/>
                      </a:pPr>
                      <a:r>
                        <a:rPr lang="en-US"/>
                        <a:t>Detects and blocks malware</a:t>
                      </a:r>
                    </a:p>
                  </a:txBody>
                  <a:tcPr anchor="ctr">
                    <a:lnL>
                      <a:noFill/>
                    </a:lnL>
                    <a:lnR>
                      <a:noFill/>
                    </a:lnR>
                    <a:lnT>
                      <a:noFill/>
                    </a:lnT>
                    <a:lnB>
                      <a:noFill/>
                    </a:lnB>
                    <a:noFill/>
                  </a:tcPr>
                </a:tc>
                <a:extLst>
                  <a:ext uri="{0D108BD9-81ED-4DB2-BD59-A6C34878D82A}">
                    <a16:rowId xmlns:a16="http://schemas.microsoft.com/office/drawing/2014/main" val="10001"/>
                  </a:ext>
                </a:extLst>
              </a:tr>
              <a:tr h="513194">
                <a:tc>
                  <a:txBody>
                    <a:bodyPr/>
                    <a:lstStyle/>
                    <a:p>
                      <a:pPr>
                        <a:buNone/>
                      </a:pPr>
                      <a:r>
                        <a:rPr lang="en-US"/>
                        <a:t>Enable firewall</a:t>
                      </a:r>
                    </a:p>
                  </a:txBody>
                  <a:tcPr anchor="ctr">
                    <a:lnL>
                      <a:noFill/>
                    </a:lnL>
                    <a:lnR>
                      <a:noFill/>
                    </a:lnR>
                    <a:lnT>
                      <a:noFill/>
                    </a:lnT>
                    <a:lnB>
                      <a:noFill/>
                    </a:lnB>
                    <a:noFill/>
                  </a:tcPr>
                </a:tc>
                <a:tc>
                  <a:txBody>
                    <a:bodyPr/>
                    <a:lstStyle/>
                    <a:p>
                      <a:pPr>
                        <a:buNone/>
                      </a:pPr>
                      <a:r>
                        <a:rPr lang="en-US"/>
                        <a:t>Controls unauthorized access</a:t>
                      </a:r>
                    </a:p>
                  </a:txBody>
                  <a:tcPr anchor="ctr">
                    <a:lnL>
                      <a:noFill/>
                    </a:lnL>
                    <a:lnR>
                      <a:noFill/>
                    </a:lnR>
                    <a:lnT>
                      <a:noFill/>
                    </a:lnT>
                    <a:lnB>
                      <a:noFill/>
                    </a:lnB>
                    <a:noFill/>
                  </a:tcPr>
                </a:tc>
                <a:extLst>
                  <a:ext uri="{0D108BD9-81ED-4DB2-BD59-A6C34878D82A}">
                    <a16:rowId xmlns:a16="http://schemas.microsoft.com/office/drawing/2014/main" val="10002"/>
                  </a:ext>
                </a:extLst>
              </a:tr>
              <a:tr h="513194">
                <a:tc>
                  <a:txBody>
                    <a:bodyPr/>
                    <a:lstStyle/>
                    <a:p>
                      <a:pPr>
                        <a:buNone/>
                      </a:pPr>
                      <a:r>
                        <a:rPr lang="en-US"/>
                        <a:t>Use strong passwords</a:t>
                      </a:r>
                    </a:p>
                  </a:txBody>
                  <a:tcPr anchor="ctr">
                    <a:lnL>
                      <a:noFill/>
                    </a:lnL>
                    <a:lnR>
                      <a:noFill/>
                    </a:lnR>
                    <a:lnT>
                      <a:noFill/>
                    </a:lnT>
                    <a:lnB>
                      <a:noFill/>
                    </a:lnB>
                    <a:noFill/>
                  </a:tcPr>
                </a:tc>
                <a:tc>
                  <a:txBody>
                    <a:bodyPr/>
                    <a:lstStyle/>
                    <a:p>
                      <a:pPr>
                        <a:buNone/>
                      </a:pPr>
                      <a:r>
                        <a:rPr lang="en-US"/>
                        <a:t>Prevents unauthorized login</a:t>
                      </a:r>
                    </a:p>
                  </a:txBody>
                  <a:tcPr anchor="ctr">
                    <a:lnL>
                      <a:noFill/>
                    </a:lnL>
                    <a:lnR>
                      <a:noFill/>
                    </a:lnR>
                    <a:lnT>
                      <a:noFill/>
                    </a:lnT>
                    <a:lnB>
                      <a:noFill/>
                    </a:lnB>
                    <a:noFill/>
                  </a:tcPr>
                </a:tc>
                <a:extLst>
                  <a:ext uri="{0D108BD9-81ED-4DB2-BD59-A6C34878D82A}">
                    <a16:rowId xmlns:a16="http://schemas.microsoft.com/office/drawing/2014/main" val="10003"/>
                  </a:ext>
                </a:extLst>
              </a:tr>
              <a:tr h="513194">
                <a:tc>
                  <a:txBody>
                    <a:bodyPr/>
                    <a:lstStyle/>
                    <a:p>
                      <a:pPr>
                        <a:buNone/>
                      </a:pPr>
                      <a:r>
                        <a:rPr lang="en-US"/>
                        <a:t>Enable automatic updates</a:t>
                      </a:r>
                    </a:p>
                  </a:txBody>
                  <a:tcPr anchor="ctr">
                    <a:lnL>
                      <a:noFill/>
                    </a:lnL>
                    <a:lnR>
                      <a:noFill/>
                    </a:lnR>
                    <a:lnT>
                      <a:noFill/>
                    </a:lnT>
                    <a:lnB>
                      <a:noFill/>
                    </a:lnB>
                    <a:noFill/>
                  </a:tcPr>
                </a:tc>
                <a:tc>
                  <a:txBody>
                    <a:bodyPr/>
                    <a:lstStyle/>
                    <a:p>
                      <a:pPr>
                        <a:buNone/>
                      </a:pPr>
                      <a:r>
                        <a:rPr lang="en-US"/>
                        <a:t>Fixes security vulnerabilities</a:t>
                      </a:r>
                    </a:p>
                  </a:txBody>
                  <a:tcPr anchor="ctr">
                    <a:lnL>
                      <a:noFill/>
                    </a:lnL>
                    <a:lnR>
                      <a:noFill/>
                    </a:lnR>
                    <a:lnT>
                      <a:noFill/>
                    </a:lnT>
                    <a:lnB>
                      <a:noFill/>
                    </a:lnB>
                    <a:noFill/>
                  </a:tcPr>
                </a:tc>
                <a:extLst>
                  <a:ext uri="{0D108BD9-81ED-4DB2-BD59-A6C34878D82A}">
                    <a16:rowId xmlns:a16="http://schemas.microsoft.com/office/drawing/2014/main" val="10004"/>
                  </a:ext>
                </a:extLst>
              </a:tr>
              <a:tr h="513194">
                <a:tc>
                  <a:txBody>
                    <a:bodyPr/>
                    <a:lstStyle/>
                    <a:p>
                      <a:pPr>
                        <a:buNone/>
                      </a:pPr>
                      <a:r>
                        <a:rPr lang="en-US"/>
                        <a:t>Use multi-factor authentication (MFA)</a:t>
                      </a:r>
                    </a:p>
                  </a:txBody>
                  <a:tcPr anchor="ctr">
                    <a:lnL>
                      <a:noFill/>
                    </a:lnL>
                    <a:lnR>
                      <a:noFill/>
                    </a:lnR>
                    <a:lnT>
                      <a:noFill/>
                    </a:lnT>
                    <a:lnB>
                      <a:noFill/>
                    </a:lnB>
                    <a:noFill/>
                  </a:tcPr>
                </a:tc>
                <a:tc>
                  <a:txBody>
                    <a:bodyPr/>
                    <a:lstStyle/>
                    <a:p>
                      <a:pPr>
                        <a:buNone/>
                      </a:pPr>
                      <a:r>
                        <a:rPr lang="en-US"/>
                        <a:t>Adds extra login protection</a:t>
                      </a:r>
                    </a:p>
                  </a:txBody>
                  <a:tcPr anchor="ctr">
                    <a:lnL>
                      <a:noFill/>
                    </a:lnL>
                    <a:lnR>
                      <a:noFill/>
                    </a:lnR>
                    <a:lnT>
                      <a:noFill/>
                    </a:lnT>
                    <a:lnB>
                      <a:noFill/>
                    </a:lnB>
                    <a:noFill/>
                  </a:tcPr>
                </a:tc>
                <a:extLst>
                  <a:ext uri="{0D108BD9-81ED-4DB2-BD59-A6C34878D82A}">
                    <a16:rowId xmlns:a16="http://schemas.microsoft.com/office/drawing/2014/main" val="10005"/>
                  </a:ext>
                </a:extLst>
              </a:tr>
              <a:tr h="513194">
                <a:tc>
                  <a:txBody>
                    <a:bodyPr/>
                    <a:lstStyle/>
                    <a:p>
                      <a:pPr>
                        <a:buNone/>
                      </a:pPr>
                      <a:r>
                        <a:rPr lang="en-US"/>
                        <a:t>Avoid suspicious downloads</a:t>
                      </a:r>
                    </a:p>
                  </a:txBody>
                  <a:tcPr anchor="ctr">
                    <a:lnL>
                      <a:noFill/>
                    </a:lnL>
                    <a:lnR>
                      <a:noFill/>
                    </a:lnR>
                    <a:lnT>
                      <a:noFill/>
                    </a:lnT>
                    <a:lnB>
                      <a:noFill/>
                    </a:lnB>
                    <a:noFill/>
                  </a:tcPr>
                </a:tc>
                <a:tc>
                  <a:txBody>
                    <a:bodyPr/>
                    <a:lstStyle/>
                    <a:p>
                      <a:pPr>
                        <a:buNone/>
                      </a:pPr>
                      <a:r>
                        <a:rPr lang="en-US"/>
                        <a:t>Prevents malware infection</a:t>
                      </a:r>
                    </a:p>
                  </a:txBody>
                  <a:tcPr anchor="ctr">
                    <a:lnL>
                      <a:noFill/>
                    </a:lnL>
                    <a:lnR>
                      <a:noFill/>
                    </a:lnR>
                    <a:lnT>
                      <a:noFill/>
                    </a:lnT>
                    <a:lnB>
                      <a:noFill/>
                    </a:lnB>
                    <a:noFill/>
                  </a:tcPr>
                </a:tc>
                <a:extLst>
                  <a:ext uri="{0D108BD9-81ED-4DB2-BD59-A6C34878D82A}">
                    <a16:rowId xmlns:a16="http://schemas.microsoft.com/office/drawing/2014/main" val="10006"/>
                  </a:ext>
                </a:extLst>
              </a:tr>
              <a:tr h="513194">
                <a:tc>
                  <a:txBody>
                    <a:bodyPr/>
                    <a:lstStyle/>
                    <a:p>
                      <a:pPr>
                        <a:buNone/>
                      </a:pPr>
                      <a:r>
                        <a:rPr lang="en-US"/>
                        <a:t>Backup important files</a:t>
                      </a:r>
                    </a:p>
                  </a:txBody>
                  <a:tcPr anchor="ctr">
                    <a:lnL>
                      <a:noFill/>
                    </a:lnL>
                    <a:lnR>
                      <a:noFill/>
                    </a:lnR>
                    <a:lnT>
                      <a:noFill/>
                    </a:lnT>
                    <a:lnB>
                      <a:noFill/>
                    </a:lnB>
                    <a:noFill/>
                  </a:tcPr>
                </a:tc>
                <a:tc>
                  <a:txBody>
                    <a:bodyPr/>
                    <a:lstStyle/>
                    <a:p>
                      <a:pPr>
                        <a:buNone/>
                      </a:pPr>
                      <a:r>
                        <a:rPr lang="en-US" dirty="0"/>
                        <a:t>Protects against data loss</a:t>
                      </a:r>
                    </a:p>
                  </a:txBody>
                  <a:tcPr anchor="ctr">
                    <a:lnL>
                      <a:noFill/>
                    </a:lnL>
                    <a:lnR>
                      <a:noFill/>
                    </a:lnR>
                    <a:lnT>
                      <a:noFill/>
                    </a:lnT>
                    <a:lnB>
                      <a:noFill/>
                    </a:lnB>
                    <a:noFill/>
                  </a:tcPr>
                </a:tc>
                <a:extLst>
                  <a:ext uri="{0D108BD9-81ED-4DB2-BD59-A6C34878D82A}">
                    <a16:rowId xmlns:a16="http://schemas.microsoft.com/office/drawing/2014/main" val="10007"/>
                  </a:ext>
                </a:extLst>
              </a:tr>
              <a:tr h="513194">
                <a:tc>
                  <a:txBody>
                    <a:bodyPr/>
                    <a:lstStyle/>
                    <a:p>
                      <a:pPr>
                        <a:buNone/>
                      </a:pPr>
                      <a:r>
                        <a:rPr lang="en-US"/>
                        <a:t>Use encrypted Wi-Fi (WPA2/WPA3)</a:t>
                      </a:r>
                    </a:p>
                  </a:txBody>
                  <a:tcPr anchor="ctr">
                    <a:lnL>
                      <a:noFill/>
                    </a:lnL>
                    <a:lnR>
                      <a:noFill/>
                    </a:lnR>
                    <a:lnT>
                      <a:noFill/>
                    </a:lnT>
                    <a:lnB>
                      <a:noFill/>
                    </a:lnB>
                    <a:noFill/>
                  </a:tcPr>
                </a:tc>
                <a:tc>
                  <a:txBody>
                    <a:bodyPr/>
                    <a:lstStyle/>
                    <a:p>
                      <a:pPr>
                        <a:buNone/>
                      </a:pPr>
                      <a:r>
                        <a:rPr lang="en-US" dirty="0"/>
                        <a:t>Secures wireless communication</a:t>
                      </a:r>
                    </a:p>
                  </a:txBody>
                  <a:tcPr anchor="ctr">
                    <a:lnL>
                      <a:noFill/>
                    </a:lnL>
                    <a:lnR>
                      <a:noFill/>
                    </a:lnR>
                    <a:lnT>
                      <a:noFill/>
                    </a:lnT>
                    <a:lnB>
                      <a:no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108" y="982132"/>
            <a:ext cx="9468490" cy="45719"/>
          </a:xfrm>
        </p:spPr>
        <p:txBody>
          <a:bodyPr>
            <a:normAutofit fontScale="90000"/>
          </a:bodyPr>
          <a:lstStyle/>
          <a:p>
            <a:r>
              <a:rPr lang="en-US" dirty="0"/>
              <a:t>🏫 2. School Network Security Checklist</a:t>
            </a:r>
          </a:p>
        </p:txBody>
      </p:sp>
      <p:graphicFrame>
        <p:nvGraphicFramePr>
          <p:cNvPr id="4" name="Content Placeholder 3"/>
          <p:cNvGraphicFramePr>
            <a:graphicFrameLocks noGrp="1"/>
          </p:cNvGraphicFramePr>
          <p:nvPr>
            <p:ph idx="1"/>
          </p:nvPr>
        </p:nvGraphicFramePr>
        <p:xfrm>
          <a:off x="729464" y="1458931"/>
          <a:ext cx="10900882" cy="4742037"/>
        </p:xfrm>
        <a:graphic>
          <a:graphicData uri="http://schemas.openxmlformats.org/drawingml/2006/table">
            <a:tbl>
              <a:tblPr/>
              <a:tblGrid>
                <a:gridCol w="5450441">
                  <a:extLst>
                    <a:ext uri="{9D8B030D-6E8A-4147-A177-3AD203B41FA5}">
                      <a16:colId xmlns:a16="http://schemas.microsoft.com/office/drawing/2014/main" val="20000"/>
                    </a:ext>
                  </a:extLst>
                </a:gridCol>
                <a:gridCol w="5450441">
                  <a:extLst>
                    <a:ext uri="{9D8B030D-6E8A-4147-A177-3AD203B41FA5}">
                      <a16:colId xmlns:a16="http://schemas.microsoft.com/office/drawing/2014/main" val="20001"/>
                    </a:ext>
                  </a:extLst>
                </a:gridCol>
              </a:tblGrid>
              <a:tr h="526893">
                <a:tc>
                  <a:txBody>
                    <a:bodyPr/>
                    <a:lstStyle/>
                    <a:p>
                      <a:pPr>
                        <a:buNone/>
                      </a:pPr>
                      <a:r>
                        <a:rPr lang="en-US" sz="2000" b="1" u="sng"/>
                        <a:t>Security Measure</a:t>
                      </a:r>
                    </a:p>
                  </a:txBody>
                  <a:tcPr anchor="ctr">
                    <a:lnL>
                      <a:noFill/>
                    </a:lnL>
                    <a:lnR>
                      <a:noFill/>
                    </a:lnR>
                    <a:lnT>
                      <a:noFill/>
                    </a:lnT>
                    <a:lnB>
                      <a:noFill/>
                    </a:lnB>
                    <a:noFill/>
                  </a:tcPr>
                </a:tc>
                <a:tc>
                  <a:txBody>
                    <a:bodyPr/>
                    <a:lstStyle/>
                    <a:p>
                      <a:pPr>
                        <a:buNone/>
                      </a:pPr>
                      <a:r>
                        <a:rPr lang="en-US" sz="2000" b="1" u="sng" dirty="0"/>
                        <a:t>Purpose</a:t>
                      </a:r>
                    </a:p>
                  </a:txBody>
                  <a:tcPr anchor="ctr">
                    <a:lnL>
                      <a:noFill/>
                    </a:lnL>
                    <a:lnR>
                      <a:noFill/>
                    </a:lnR>
                    <a:lnT>
                      <a:noFill/>
                    </a:lnT>
                    <a:lnB>
                      <a:noFill/>
                    </a:lnB>
                    <a:noFill/>
                  </a:tcPr>
                </a:tc>
                <a:extLst>
                  <a:ext uri="{0D108BD9-81ED-4DB2-BD59-A6C34878D82A}">
                    <a16:rowId xmlns:a16="http://schemas.microsoft.com/office/drawing/2014/main" val="10000"/>
                  </a:ext>
                </a:extLst>
              </a:tr>
              <a:tr h="526893">
                <a:tc>
                  <a:txBody>
                    <a:bodyPr/>
                    <a:lstStyle/>
                    <a:p>
                      <a:pPr>
                        <a:buNone/>
                      </a:pPr>
                      <a:r>
                        <a:rPr lang="en-US"/>
                        <a:t>Deploy network firewall</a:t>
                      </a:r>
                    </a:p>
                  </a:txBody>
                  <a:tcPr anchor="ctr">
                    <a:lnL>
                      <a:noFill/>
                    </a:lnL>
                    <a:lnR>
                      <a:noFill/>
                    </a:lnR>
                    <a:lnT>
                      <a:noFill/>
                    </a:lnT>
                    <a:lnB>
                      <a:noFill/>
                    </a:lnB>
                    <a:noFill/>
                  </a:tcPr>
                </a:tc>
                <a:tc>
                  <a:txBody>
                    <a:bodyPr/>
                    <a:lstStyle/>
                    <a:p>
                      <a:pPr>
                        <a:buNone/>
                      </a:pPr>
                      <a:r>
                        <a:rPr lang="en-US" dirty="0"/>
                        <a:t>Protects school network traffic</a:t>
                      </a:r>
                    </a:p>
                  </a:txBody>
                  <a:tcPr anchor="ctr">
                    <a:lnL>
                      <a:noFill/>
                    </a:lnL>
                    <a:lnR>
                      <a:noFill/>
                    </a:lnR>
                    <a:lnT>
                      <a:noFill/>
                    </a:lnT>
                    <a:lnB>
                      <a:noFill/>
                    </a:lnB>
                    <a:noFill/>
                  </a:tcPr>
                </a:tc>
                <a:extLst>
                  <a:ext uri="{0D108BD9-81ED-4DB2-BD59-A6C34878D82A}">
                    <a16:rowId xmlns:a16="http://schemas.microsoft.com/office/drawing/2014/main" val="10001"/>
                  </a:ext>
                </a:extLst>
              </a:tr>
              <a:tr h="526893">
                <a:tc>
                  <a:txBody>
                    <a:bodyPr/>
                    <a:lstStyle/>
                    <a:p>
                      <a:pPr>
                        <a:buNone/>
                      </a:pPr>
                      <a:r>
                        <a:rPr lang="en-US"/>
                        <a:t>Separate student and staff networks</a:t>
                      </a:r>
                    </a:p>
                  </a:txBody>
                  <a:tcPr anchor="ctr">
                    <a:lnL>
                      <a:noFill/>
                    </a:lnL>
                    <a:lnR>
                      <a:noFill/>
                    </a:lnR>
                    <a:lnT>
                      <a:noFill/>
                    </a:lnT>
                    <a:lnB>
                      <a:noFill/>
                    </a:lnB>
                    <a:noFill/>
                  </a:tcPr>
                </a:tc>
                <a:tc>
                  <a:txBody>
                    <a:bodyPr/>
                    <a:lstStyle/>
                    <a:p>
                      <a:pPr>
                        <a:buNone/>
                      </a:pPr>
                      <a:r>
                        <a:rPr lang="en-US"/>
                        <a:t>Reduces unauthorized access</a:t>
                      </a:r>
                    </a:p>
                  </a:txBody>
                  <a:tcPr anchor="ctr">
                    <a:lnL>
                      <a:noFill/>
                    </a:lnL>
                    <a:lnR>
                      <a:noFill/>
                    </a:lnR>
                    <a:lnT>
                      <a:noFill/>
                    </a:lnT>
                    <a:lnB>
                      <a:noFill/>
                    </a:lnB>
                    <a:noFill/>
                  </a:tcPr>
                </a:tc>
                <a:extLst>
                  <a:ext uri="{0D108BD9-81ED-4DB2-BD59-A6C34878D82A}">
                    <a16:rowId xmlns:a16="http://schemas.microsoft.com/office/drawing/2014/main" val="10002"/>
                  </a:ext>
                </a:extLst>
              </a:tr>
              <a:tr h="526893">
                <a:tc>
                  <a:txBody>
                    <a:bodyPr/>
                    <a:lstStyle/>
                    <a:p>
                      <a:pPr>
                        <a:buNone/>
                      </a:pPr>
                      <a:r>
                        <a:rPr lang="en-US"/>
                        <a:t>Use content filtering</a:t>
                      </a:r>
                    </a:p>
                  </a:txBody>
                  <a:tcPr anchor="ctr">
                    <a:lnL>
                      <a:noFill/>
                    </a:lnL>
                    <a:lnR>
                      <a:noFill/>
                    </a:lnR>
                    <a:lnT>
                      <a:noFill/>
                    </a:lnT>
                    <a:lnB>
                      <a:noFill/>
                    </a:lnB>
                    <a:noFill/>
                  </a:tcPr>
                </a:tc>
                <a:tc>
                  <a:txBody>
                    <a:bodyPr/>
                    <a:lstStyle/>
                    <a:p>
                      <a:pPr>
                        <a:buNone/>
                      </a:pPr>
                      <a:r>
                        <a:rPr lang="en-US" dirty="0"/>
                        <a:t>Blocks harmful websites</a:t>
                      </a:r>
                    </a:p>
                  </a:txBody>
                  <a:tcPr anchor="ctr">
                    <a:lnL>
                      <a:noFill/>
                    </a:lnL>
                    <a:lnR>
                      <a:noFill/>
                    </a:lnR>
                    <a:lnT>
                      <a:noFill/>
                    </a:lnT>
                    <a:lnB>
                      <a:noFill/>
                    </a:lnB>
                    <a:noFill/>
                  </a:tcPr>
                </a:tc>
                <a:extLst>
                  <a:ext uri="{0D108BD9-81ED-4DB2-BD59-A6C34878D82A}">
                    <a16:rowId xmlns:a16="http://schemas.microsoft.com/office/drawing/2014/main" val="10003"/>
                  </a:ext>
                </a:extLst>
              </a:tr>
              <a:tr h="526893">
                <a:tc>
                  <a:txBody>
                    <a:bodyPr/>
                    <a:lstStyle/>
                    <a:p>
                      <a:pPr>
                        <a:buNone/>
                      </a:pPr>
                      <a:r>
                        <a:rPr lang="en-US"/>
                        <a:t>Enable user authentication</a:t>
                      </a:r>
                    </a:p>
                  </a:txBody>
                  <a:tcPr anchor="ctr">
                    <a:lnL>
                      <a:noFill/>
                    </a:lnL>
                    <a:lnR>
                      <a:noFill/>
                    </a:lnR>
                    <a:lnT>
                      <a:noFill/>
                    </a:lnT>
                    <a:lnB>
                      <a:noFill/>
                    </a:lnB>
                    <a:noFill/>
                  </a:tcPr>
                </a:tc>
                <a:tc>
                  <a:txBody>
                    <a:bodyPr/>
                    <a:lstStyle/>
                    <a:p>
                      <a:pPr>
                        <a:buNone/>
                      </a:pPr>
                      <a:r>
                        <a:rPr lang="en-US"/>
                        <a:t>Controls network access</a:t>
                      </a:r>
                    </a:p>
                  </a:txBody>
                  <a:tcPr anchor="ctr">
                    <a:lnL>
                      <a:noFill/>
                    </a:lnL>
                    <a:lnR>
                      <a:noFill/>
                    </a:lnR>
                    <a:lnT>
                      <a:noFill/>
                    </a:lnT>
                    <a:lnB>
                      <a:noFill/>
                    </a:lnB>
                    <a:noFill/>
                  </a:tcPr>
                </a:tc>
                <a:extLst>
                  <a:ext uri="{0D108BD9-81ED-4DB2-BD59-A6C34878D82A}">
                    <a16:rowId xmlns:a16="http://schemas.microsoft.com/office/drawing/2014/main" val="10004"/>
                  </a:ext>
                </a:extLst>
              </a:tr>
              <a:tr h="526893">
                <a:tc>
                  <a:txBody>
                    <a:bodyPr/>
                    <a:lstStyle/>
                    <a:p>
                      <a:pPr>
                        <a:buNone/>
                      </a:pPr>
                      <a:r>
                        <a:rPr lang="en-US"/>
                        <a:t>Monitor network activity</a:t>
                      </a:r>
                    </a:p>
                  </a:txBody>
                  <a:tcPr anchor="ctr">
                    <a:lnL>
                      <a:noFill/>
                    </a:lnL>
                    <a:lnR>
                      <a:noFill/>
                    </a:lnR>
                    <a:lnT>
                      <a:noFill/>
                    </a:lnT>
                    <a:lnB>
                      <a:noFill/>
                    </a:lnB>
                    <a:noFill/>
                  </a:tcPr>
                </a:tc>
                <a:tc>
                  <a:txBody>
                    <a:bodyPr/>
                    <a:lstStyle/>
                    <a:p>
                      <a:pPr>
                        <a:buNone/>
                      </a:pPr>
                      <a:r>
                        <a:rPr lang="en-US"/>
                        <a:t>Detects suspicious behavior</a:t>
                      </a:r>
                    </a:p>
                  </a:txBody>
                  <a:tcPr anchor="ctr">
                    <a:lnL>
                      <a:noFill/>
                    </a:lnL>
                    <a:lnR>
                      <a:noFill/>
                    </a:lnR>
                    <a:lnT>
                      <a:noFill/>
                    </a:lnT>
                    <a:lnB>
                      <a:noFill/>
                    </a:lnB>
                    <a:noFill/>
                  </a:tcPr>
                </a:tc>
                <a:extLst>
                  <a:ext uri="{0D108BD9-81ED-4DB2-BD59-A6C34878D82A}">
                    <a16:rowId xmlns:a16="http://schemas.microsoft.com/office/drawing/2014/main" val="10005"/>
                  </a:ext>
                </a:extLst>
              </a:tr>
              <a:tr h="526893">
                <a:tc>
                  <a:txBody>
                    <a:bodyPr/>
                    <a:lstStyle/>
                    <a:p>
                      <a:pPr>
                        <a:buNone/>
                      </a:pPr>
                      <a:r>
                        <a:rPr lang="en-US"/>
                        <a:t>Secure Wi-Fi with WPA2/WPA3</a:t>
                      </a:r>
                    </a:p>
                  </a:txBody>
                  <a:tcPr anchor="ctr">
                    <a:lnL>
                      <a:noFill/>
                    </a:lnL>
                    <a:lnR>
                      <a:noFill/>
                    </a:lnR>
                    <a:lnT>
                      <a:noFill/>
                    </a:lnT>
                    <a:lnB>
                      <a:noFill/>
                    </a:lnB>
                    <a:noFill/>
                  </a:tcPr>
                </a:tc>
                <a:tc>
                  <a:txBody>
                    <a:bodyPr/>
                    <a:lstStyle/>
                    <a:p>
                      <a:pPr>
                        <a:buNone/>
                      </a:pPr>
                      <a:r>
                        <a:rPr lang="en-US"/>
                        <a:t>Prevents unauthorized connections</a:t>
                      </a:r>
                    </a:p>
                  </a:txBody>
                  <a:tcPr anchor="ctr">
                    <a:lnL>
                      <a:noFill/>
                    </a:lnL>
                    <a:lnR>
                      <a:noFill/>
                    </a:lnR>
                    <a:lnT>
                      <a:noFill/>
                    </a:lnT>
                    <a:lnB>
                      <a:noFill/>
                    </a:lnB>
                    <a:noFill/>
                  </a:tcPr>
                </a:tc>
                <a:extLst>
                  <a:ext uri="{0D108BD9-81ED-4DB2-BD59-A6C34878D82A}">
                    <a16:rowId xmlns:a16="http://schemas.microsoft.com/office/drawing/2014/main" val="10006"/>
                  </a:ext>
                </a:extLst>
              </a:tr>
              <a:tr h="526893">
                <a:tc>
                  <a:txBody>
                    <a:bodyPr/>
                    <a:lstStyle/>
                    <a:p>
                      <a:pPr>
                        <a:buNone/>
                      </a:pPr>
                      <a:r>
                        <a:rPr lang="en-US"/>
                        <a:t>Regularly update systems</a:t>
                      </a:r>
                    </a:p>
                  </a:txBody>
                  <a:tcPr anchor="ctr">
                    <a:lnL>
                      <a:noFill/>
                    </a:lnL>
                    <a:lnR>
                      <a:noFill/>
                    </a:lnR>
                    <a:lnT>
                      <a:noFill/>
                    </a:lnT>
                    <a:lnB>
                      <a:noFill/>
                    </a:lnB>
                    <a:noFill/>
                  </a:tcPr>
                </a:tc>
                <a:tc>
                  <a:txBody>
                    <a:bodyPr/>
                    <a:lstStyle/>
                    <a:p>
                      <a:pPr>
                        <a:buNone/>
                      </a:pPr>
                      <a:r>
                        <a:rPr lang="en-US"/>
                        <a:t>Fixes vulnerabilities</a:t>
                      </a:r>
                    </a:p>
                  </a:txBody>
                  <a:tcPr anchor="ctr">
                    <a:lnL>
                      <a:noFill/>
                    </a:lnL>
                    <a:lnR>
                      <a:noFill/>
                    </a:lnR>
                    <a:lnT>
                      <a:noFill/>
                    </a:lnT>
                    <a:lnB>
                      <a:noFill/>
                    </a:lnB>
                    <a:noFill/>
                  </a:tcPr>
                </a:tc>
                <a:extLst>
                  <a:ext uri="{0D108BD9-81ED-4DB2-BD59-A6C34878D82A}">
                    <a16:rowId xmlns:a16="http://schemas.microsoft.com/office/drawing/2014/main" val="10007"/>
                  </a:ext>
                </a:extLst>
              </a:tr>
              <a:tr h="526893">
                <a:tc>
                  <a:txBody>
                    <a:bodyPr/>
                    <a:lstStyle/>
                    <a:p>
                      <a:pPr>
                        <a:buNone/>
                      </a:pPr>
                      <a:r>
                        <a:rPr lang="en-US"/>
                        <a:t>Restrict USB device usage</a:t>
                      </a:r>
                    </a:p>
                  </a:txBody>
                  <a:tcPr anchor="ctr">
                    <a:lnL>
                      <a:noFill/>
                    </a:lnL>
                    <a:lnR>
                      <a:noFill/>
                    </a:lnR>
                    <a:lnT>
                      <a:noFill/>
                    </a:lnT>
                    <a:lnB>
                      <a:noFill/>
                    </a:lnB>
                    <a:noFill/>
                  </a:tcPr>
                </a:tc>
                <a:tc>
                  <a:txBody>
                    <a:bodyPr/>
                    <a:lstStyle/>
                    <a:p>
                      <a:pPr>
                        <a:buNone/>
                      </a:pPr>
                      <a:r>
                        <a:rPr lang="en-US" dirty="0"/>
                        <a:t>Prevents malware spread</a:t>
                      </a:r>
                    </a:p>
                  </a:txBody>
                  <a:tcPr anchor="ctr">
                    <a:lnL>
                      <a:noFill/>
                    </a:lnL>
                    <a:lnR>
                      <a:noFill/>
                    </a:lnR>
                    <a:lnT>
                      <a:noFill/>
                    </a:lnT>
                    <a:lnB>
                      <a:no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97946" cy="106929"/>
          </a:xfrm>
        </p:spPr>
        <p:txBody>
          <a:bodyPr>
            <a:normAutofit fontScale="90000"/>
          </a:bodyPr>
          <a:lstStyle/>
          <a:p>
            <a:r>
              <a:rPr lang="en-US" i="1" dirty="0">
                <a:effectLst>
                  <a:outerShdw blurRad="38100" dist="38100" dir="2700000" algn="tl">
                    <a:srgbClr val="000000">
                      <a:alpha val="43137"/>
                    </a:srgbClr>
                  </a:outerShdw>
                </a:effectLst>
              </a:rPr>
              <a:t>🏢 3. Company Workstation Security Checklist</a:t>
            </a:r>
          </a:p>
        </p:txBody>
      </p:sp>
      <p:graphicFrame>
        <p:nvGraphicFramePr>
          <p:cNvPr id="4" name="Content Placeholder 3"/>
          <p:cNvGraphicFramePr>
            <a:graphicFrameLocks noGrp="1"/>
          </p:cNvGraphicFramePr>
          <p:nvPr>
            <p:ph idx="1"/>
          </p:nvPr>
        </p:nvGraphicFramePr>
        <p:xfrm>
          <a:off x="811657" y="1500027"/>
          <a:ext cx="10736496" cy="4674735"/>
        </p:xfrm>
        <a:graphic>
          <a:graphicData uri="http://schemas.openxmlformats.org/drawingml/2006/table">
            <a:tbl>
              <a:tblPr/>
              <a:tblGrid>
                <a:gridCol w="5368248">
                  <a:extLst>
                    <a:ext uri="{9D8B030D-6E8A-4147-A177-3AD203B41FA5}">
                      <a16:colId xmlns:a16="http://schemas.microsoft.com/office/drawing/2014/main" val="20000"/>
                    </a:ext>
                  </a:extLst>
                </a:gridCol>
                <a:gridCol w="5368248">
                  <a:extLst>
                    <a:ext uri="{9D8B030D-6E8A-4147-A177-3AD203B41FA5}">
                      <a16:colId xmlns:a16="http://schemas.microsoft.com/office/drawing/2014/main" val="20001"/>
                    </a:ext>
                  </a:extLst>
                </a:gridCol>
              </a:tblGrid>
              <a:tr h="519415">
                <a:tc>
                  <a:txBody>
                    <a:bodyPr/>
                    <a:lstStyle/>
                    <a:p>
                      <a:pPr>
                        <a:buNone/>
                      </a:pPr>
                      <a:r>
                        <a:rPr lang="en-US" sz="2000" b="1" u="sng"/>
                        <a:t>Security Measure</a:t>
                      </a:r>
                    </a:p>
                  </a:txBody>
                  <a:tcPr anchor="ctr">
                    <a:lnL>
                      <a:noFill/>
                    </a:lnL>
                    <a:lnR>
                      <a:noFill/>
                    </a:lnR>
                    <a:lnT>
                      <a:noFill/>
                    </a:lnT>
                    <a:lnB>
                      <a:noFill/>
                    </a:lnB>
                    <a:noFill/>
                  </a:tcPr>
                </a:tc>
                <a:tc>
                  <a:txBody>
                    <a:bodyPr/>
                    <a:lstStyle/>
                    <a:p>
                      <a:pPr>
                        <a:buNone/>
                      </a:pPr>
                      <a:r>
                        <a:rPr lang="en-US" sz="2000" b="1" u="sng" dirty="0"/>
                        <a:t>Purpose</a:t>
                      </a:r>
                    </a:p>
                  </a:txBody>
                  <a:tcPr anchor="ctr">
                    <a:lnL>
                      <a:noFill/>
                    </a:lnL>
                    <a:lnR>
                      <a:noFill/>
                    </a:lnR>
                    <a:lnT>
                      <a:noFill/>
                    </a:lnT>
                    <a:lnB>
                      <a:noFill/>
                    </a:lnB>
                    <a:noFill/>
                  </a:tcPr>
                </a:tc>
                <a:extLst>
                  <a:ext uri="{0D108BD9-81ED-4DB2-BD59-A6C34878D82A}">
                    <a16:rowId xmlns:a16="http://schemas.microsoft.com/office/drawing/2014/main" val="10000"/>
                  </a:ext>
                </a:extLst>
              </a:tr>
              <a:tr h="519415">
                <a:tc>
                  <a:txBody>
                    <a:bodyPr/>
                    <a:lstStyle/>
                    <a:p>
                      <a:pPr>
                        <a:buNone/>
                      </a:pPr>
                      <a:r>
                        <a:rPr lang="en-US"/>
                        <a:t>Use endpoint protection software</a:t>
                      </a:r>
                    </a:p>
                  </a:txBody>
                  <a:tcPr anchor="ctr">
                    <a:lnL>
                      <a:noFill/>
                    </a:lnL>
                    <a:lnR>
                      <a:noFill/>
                    </a:lnR>
                    <a:lnT>
                      <a:noFill/>
                    </a:lnT>
                    <a:lnB>
                      <a:noFill/>
                    </a:lnB>
                    <a:noFill/>
                  </a:tcPr>
                </a:tc>
                <a:tc>
                  <a:txBody>
                    <a:bodyPr/>
                    <a:lstStyle/>
                    <a:p>
                      <a:pPr>
                        <a:buNone/>
                      </a:pPr>
                      <a:r>
                        <a:rPr lang="en-US"/>
                        <a:t>Detects advanced threats</a:t>
                      </a:r>
                    </a:p>
                  </a:txBody>
                  <a:tcPr anchor="ctr">
                    <a:lnL>
                      <a:noFill/>
                    </a:lnL>
                    <a:lnR>
                      <a:noFill/>
                    </a:lnR>
                    <a:lnT>
                      <a:noFill/>
                    </a:lnT>
                    <a:lnB>
                      <a:noFill/>
                    </a:lnB>
                    <a:noFill/>
                  </a:tcPr>
                </a:tc>
                <a:extLst>
                  <a:ext uri="{0D108BD9-81ED-4DB2-BD59-A6C34878D82A}">
                    <a16:rowId xmlns:a16="http://schemas.microsoft.com/office/drawing/2014/main" val="10001"/>
                  </a:ext>
                </a:extLst>
              </a:tr>
              <a:tr h="519415">
                <a:tc>
                  <a:txBody>
                    <a:bodyPr/>
                    <a:lstStyle/>
                    <a:p>
                      <a:pPr>
                        <a:buNone/>
                      </a:pPr>
                      <a:r>
                        <a:rPr lang="en-US"/>
                        <a:t>Enforce strong password policy</a:t>
                      </a:r>
                    </a:p>
                  </a:txBody>
                  <a:tcPr anchor="ctr">
                    <a:lnL>
                      <a:noFill/>
                    </a:lnL>
                    <a:lnR>
                      <a:noFill/>
                    </a:lnR>
                    <a:lnT>
                      <a:noFill/>
                    </a:lnT>
                    <a:lnB>
                      <a:noFill/>
                    </a:lnB>
                    <a:noFill/>
                  </a:tcPr>
                </a:tc>
                <a:tc>
                  <a:txBody>
                    <a:bodyPr/>
                    <a:lstStyle/>
                    <a:p>
                      <a:pPr>
                        <a:buNone/>
                      </a:pPr>
                      <a:r>
                        <a:rPr lang="en-US"/>
                        <a:t>Improves account security</a:t>
                      </a:r>
                    </a:p>
                  </a:txBody>
                  <a:tcPr anchor="ctr">
                    <a:lnL>
                      <a:noFill/>
                    </a:lnL>
                    <a:lnR>
                      <a:noFill/>
                    </a:lnR>
                    <a:lnT>
                      <a:noFill/>
                    </a:lnT>
                    <a:lnB>
                      <a:noFill/>
                    </a:lnB>
                    <a:noFill/>
                  </a:tcPr>
                </a:tc>
                <a:extLst>
                  <a:ext uri="{0D108BD9-81ED-4DB2-BD59-A6C34878D82A}">
                    <a16:rowId xmlns:a16="http://schemas.microsoft.com/office/drawing/2014/main" val="10002"/>
                  </a:ext>
                </a:extLst>
              </a:tr>
              <a:tr h="519415">
                <a:tc>
                  <a:txBody>
                    <a:bodyPr/>
                    <a:lstStyle/>
                    <a:p>
                      <a:pPr>
                        <a:buNone/>
                      </a:pPr>
                      <a:r>
                        <a:rPr lang="en-US"/>
                        <a:t>Enable disk encryption</a:t>
                      </a:r>
                    </a:p>
                  </a:txBody>
                  <a:tcPr anchor="ctr">
                    <a:lnL>
                      <a:noFill/>
                    </a:lnL>
                    <a:lnR>
                      <a:noFill/>
                    </a:lnR>
                    <a:lnT>
                      <a:noFill/>
                    </a:lnT>
                    <a:lnB>
                      <a:noFill/>
                    </a:lnB>
                    <a:noFill/>
                  </a:tcPr>
                </a:tc>
                <a:tc>
                  <a:txBody>
                    <a:bodyPr/>
                    <a:lstStyle/>
                    <a:p>
                      <a:pPr>
                        <a:buNone/>
                      </a:pPr>
                      <a:r>
                        <a:rPr lang="en-US" dirty="0"/>
                        <a:t>Protects sensitive company data</a:t>
                      </a:r>
                    </a:p>
                  </a:txBody>
                  <a:tcPr anchor="ctr">
                    <a:lnL>
                      <a:noFill/>
                    </a:lnL>
                    <a:lnR>
                      <a:noFill/>
                    </a:lnR>
                    <a:lnT>
                      <a:noFill/>
                    </a:lnT>
                    <a:lnB>
                      <a:noFill/>
                    </a:lnB>
                    <a:noFill/>
                  </a:tcPr>
                </a:tc>
                <a:extLst>
                  <a:ext uri="{0D108BD9-81ED-4DB2-BD59-A6C34878D82A}">
                    <a16:rowId xmlns:a16="http://schemas.microsoft.com/office/drawing/2014/main" val="10003"/>
                  </a:ext>
                </a:extLst>
              </a:tr>
              <a:tr h="519415">
                <a:tc>
                  <a:txBody>
                    <a:bodyPr/>
                    <a:lstStyle/>
                    <a:p>
                      <a:pPr>
                        <a:buNone/>
                      </a:pPr>
                      <a:r>
                        <a:rPr lang="en-US"/>
                        <a:t>Apply least privilege access</a:t>
                      </a:r>
                    </a:p>
                  </a:txBody>
                  <a:tcPr anchor="ctr">
                    <a:lnL>
                      <a:noFill/>
                    </a:lnL>
                    <a:lnR>
                      <a:noFill/>
                    </a:lnR>
                    <a:lnT>
                      <a:noFill/>
                    </a:lnT>
                    <a:lnB>
                      <a:noFill/>
                    </a:lnB>
                    <a:noFill/>
                  </a:tcPr>
                </a:tc>
                <a:tc>
                  <a:txBody>
                    <a:bodyPr/>
                    <a:lstStyle/>
                    <a:p>
                      <a:pPr>
                        <a:buNone/>
                      </a:pPr>
                      <a:r>
                        <a:rPr lang="en-US"/>
                        <a:t>Limits unnecessary permissions</a:t>
                      </a:r>
                    </a:p>
                  </a:txBody>
                  <a:tcPr anchor="ctr">
                    <a:lnL>
                      <a:noFill/>
                    </a:lnL>
                    <a:lnR>
                      <a:noFill/>
                    </a:lnR>
                    <a:lnT>
                      <a:noFill/>
                    </a:lnT>
                    <a:lnB>
                      <a:noFill/>
                    </a:lnB>
                    <a:noFill/>
                  </a:tcPr>
                </a:tc>
                <a:extLst>
                  <a:ext uri="{0D108BD9-81ED-4DB2-BD59-A6C34878D82A}">
                    <a16:rowId xmlns:a16="http://schemas.microsoft.com/office/drawing/2014/main" val="10004"/>
                  </a:ext>
                </a:extLst>
              </a:tr>
              <a:tr h="519415">
                <a:tc>
                  <a:txBody>
                    <a:bodyPr/>
                    <a:lstStyle/>
                    <a:p>
                      <a:pPr>
                        <a:buNone/>
                      </a:pPr>
                      <a:r>
                        <a:rPr lang="en-US"/>
                        <a:t>Lock workstation when idle</a:t>
                      </a:r>
                    </a:p>
                  </a:txBody>
                  <a:tcPr anchor="ctr">
                    <a:lnL>
                      <a:noFill/>
                    </a:lnL>
                    <a:lnR>
                      <a:noFill/>
                    </a:lnR>
                    <a:lnT>
                      <a:noFill/>
                    </a:lnT>
                    <a:lnB>
                      <a:noFill/>
                    </a:lnB>
                    <a:noFill/>
                  </a:tcPr>
                </a:tc>
                <a:tc>
                  <a:txBody>
                    <a:bodyPr/>
                    <a:lstStyle/>
                    <a:p>
                      <a:pPr>
                        <a:buNone/>
                      </a:pPr>
                      <a:r>
                        <a:rPr lang="en-US"/>
                        <a:t>Prevents unauthorized use</a:t>
                      </a:r>
                    </a:p>
                  </a:txBody>
                  <a:tcPr anchor="ctr">
                    <a:lnL>
                      <a:noFill/>
                    </a:lnL>
                    <a:lnR>
                      <a:noFill/>
                    </a:lnR>
                    <a:lnT>
                      <a:noFill/>
                    </a:lnT>
                    <a:lnB>
                      <a:noFill/>
                    </a:lnB>
                    <a:noFill/>
                  </a:tcPr>
                </a:tc>
                <a:extLst>
                  <a:ext uri="{0D108BD9-81ED-4DB2-BD59-A6C34878D82A}">
                    <a16:rowId xmlns:a16="http://schemas.microsoft.com/office/drawing/2014/main" val="10005"/>
                  </a:ext>
                </a:extLst>
              </a:tr>
              <a:tr h="519415">
                <a:tc>
                  <a:txBody>
                    <a:bodyPr/>
                    <a:lstStyle/>
                    <a:p>
                      <a:pPr>
                        <a:buNone/>
                      </a:pPr>
                      <a:r>
                        <a:rPr lang="en-US"/>
                        <a:t>Use VPN for remote access</a:t>
                      </a:r>
                    </a:p>
                  </a:txBody>
                  <a:tcPr anchor="ctr">
                    <a:lnL>
                      <a:noFill/>
                    </a:lnL>
                    <a:lnR>
                      <a:noFill/>
                    </a:lnR>
                    <a:lnT>
                      <a:noFill/>
                    </a:lnT>
                    <a:lnB>
                      <a:noFill/>
                    </a:lnB>
                    <a:noFill/>
                  </a:tcPr>
                </a:tc>
                <a:tc>
                  <a:txBody>
                    <a:bodyPr/>
                    <a:lstStyle/>
                    <a:p>
                      <a:pPr>
                        <a:buNone/>
                      </a:pPr>
                      <a:r>
                        <a:rPr lang="en-US"/>
                        <a:t>Secures remote communication</a:t>
                      </a:r>
                    </a:p>
                  </a:txBody>
                  <a:tcPr anchor="ctr">
                    <a:lnL>
                      <a:noFill/>
                    </a:lnL>
                    <a:lnR>
                      <a:noFill/>
                    </a:lnR>
                    <a:lnT>
                      <a:noFill/>
                    </a:lnT>
                    <a:lnB>
                      <a:noFill/>
                    </a:lnB>
                    <a:noFill/>
                  </a:tcPr>
                </a:tc>
                <a:extLst>
                  <a:ext uri="{0D108BD9-81ED-4DB2-BD59-A6C34878D82A}">
                    <a16:rowId xmlns:a16="http://schemas.microsoft.com/office/drawing/2014/main" val="10006"/>
                  </a:ext>
                </a:extLst>
              </a:tr>
              <a:tr h="519415">
                <a:tc>
                  <a:txBody>
                    <a:bodyPr/>
                    <a:lstStyle/>
                    <a:p>
                      <a:pPr>
                        <a:buNone/>
                      </a:pPr>
                      <a:r>
                        <a:rPr lang="en-US"/>
                        <a:t>Disable unused ports/services</a:t>
                      </a:r>
                    </a:p>
                  </a:txBody>
                  <a:tcPr anchor="ctr">
                    <a:lnL>
                      <a:noFill/>
                    </a:lnL>
                    <a:lnR>
                      <a:noFill/>
                    </a:lnR>
                    <a:lnT>
                      <a:noFill/>
                    </a:lnT>
                    <a:lnB>
                      <a:noFill/>
                    </a:lnB>
                    <a:noFill/>
                  </a:tcPr>
                </a:tc>
                <a:tc>
                  <a:txBody>
                    <a:bodyPr/>
                    <a:lstStyle/>
                    <a:p>
                      <a:pPr>
                        <a:buNone/>
                      </a:pPr>
                      <a:r>
                        <a:rPr lang="en-US"/>
                        <a:t>Reduces attack surface</a:t>
                      </a:r>
                    </a:p>
                  </a:txBody>
                  <a:tcPr anchor="ctr">
                    <a:lnL>
                      <a:noFill/>
                    </a:lnL>
                    <a:lnR>
                      <a:noFill/>
                    </a:lnR>
                    <a:lnT>
                      <a:noFill/>
                    </a:lnT>
                    <a:lnB>
                      <a:noFill/>
                    </a:lnB>
                    <a:noFill/>
                  </a:tcPr>
                </a:tc>
                <a:extLst>
                  <a:ext uri="{0D108BD9-81ED-4DB2-BD59-A6C34878D82A}">
                    <a16:rowId xmlns:a16="http://schemas.microsoft.com/office/drawing/2014/main" val="10007"/>
                  </a:ext>
                </a:extLst>
              </a:tr>
              <a:tr h="519415">
                <a:tc>
                  <a:txBody>
                    <a:bodyPr/>
                    <a:lstStyle/>
                    <a:p>
                      <a:pPr>
                        <a:buNone/>
                      </a:pPr>
                      <a:r>
                        <a:rPr lang="en-US"/>
                        <a:t>Conduct regular security training</a:t>
                      </a:r>
                    </a:p>
                  </a:txBody>
                  <a:tcPr anchor="ctr">
                    <a:lnL>
                      <a:noFill/>
                    </a:lnL>
                    <a:lnR>
                      <a:noFill/>
                    </a:lnR>
                    <a:lnT>
                      <a:noFill/>
                    </a:lnT>
                    <a:lnB>
                      <a:noFill/>
                    </a:lnB>
                    <a:noFill/>
                  </a:tcPr>
                </a:tc>
                <a:tc>
                  <a:txBody>
                    <a:bodyPr/>
                    <a:lstStyle/>
                    <a:p>
                      <a:pPr>
                        <a:buNone/>
                      </a:pPr>
                      <a:r>
                        <a:rPr lang="en-US" dirty="0"/>
                        <a:t>Improves employee awareness</a:t>
                      </a:r>
                    </a:p>
                  </a:txBody>
                  <a:tcPr anchor="ctr">
                    <a:lnL>
                      <a:noFill/>
                    </a:lnL>
                    <a:lnR>
                      <a:noFill/>
                    </a:lnR>
                    <a:lnT>
                      <a:noFill/>
                    </a:lnT>
                    <a:lnB>
                      <a:no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Simple Analogy</a:t>
            </a:r>
            <a:br>
              <a:rPr lang="en-US" b="1" dirty="0"/>
            </a:br>
            <a:r>
              <a:rPr lang="en-US" sz="2200" dirty="0"/>
              <a:t>Think of cybersecurity like protecting buildings in Enugu:</a:t>
            </a:r>
            <a:br>
              <a:rPr lang="en-US" sz="2200" dirty="0"/>
            </a:br>
            <a:endParaRPr lang="en-US" sz="2200" dirty="0"/>
          </a:p>
        </p:txBody>
      </p:sp>
      <p:graphicFrame>
        <p:nvGraphicFramePr>
          <p:cNvPr id="4" name="Content Placeholder 3"/>
          <p:cNvGraphicFramePr>
            <a:graphicFrameLocks noGrp="1"/>
          </p:cNvGraphicFramePr>
          <p:nvPr>
            <p:ph idx="1"/>
          </p:nvPr>
        </p:nvGraphicFramePr>
        <p:xfrm>
          <a:off x="1295402" y="2414428"/>
          <a:ext cx="10047268" cy="3770613"/>
        </p:xfrm>
        <a:graphic>
          <a:graphicData uri="http://schemas.openxmlformats.org/drawingml/2006/table">
            <a:tbl>
              <a:tblPr/>
              <a:tblGrid>
                <a:gridCol w="5023634">
                  <a:extLst>
                    <a:ext uri="{9D8B030D-6E8A-4147-A177-3AD203B41FA5}">
                      <a16:colId xmlns:a16="http://schemas.microsoft.com/office/drawing/2014/main" val="20000"/>
                    </a:ext>
                  </a:extLst>
                </a:gridCol>
                <a:gridCol w="5023634">
                  <a:extLst>
                    <a:ext uri="{9D8B030D-6E8A-4147-A177-3AD203B41FA5}">
                      <a16:colId xmlns:a16="http://schemas.microsoft.com/office/drawing/2014/main" val="20001"/>
                    </a:ext>
                  </a:extLst>
                </a:gridCol>
              </a:tblGrid>
              <a:tr h="538659">
                <a:tc>
                  <a:txBody>
                    <a:bodyPr/>
                    <a:lstStyle/>
                    <a:p>
                      <a:pPr>
                        <a:buNone/>
                      </a:pPr>
                      <a:r>
                        <a:rPr lang="en-US" sz="2000" b="1" u="sng"/>
                        <a:t>Security Action</a:t>
                      </a:r>
                    </a:p>
                  </a:txBody>
                  <a:tcPr anchor="ctr">
                    <a:lnL>
                      <a:noFill/>
                    </a:lnL>
                    <a:lnR>
                      <a:noFill/>
                    </a:lnR>
                    <a:lnT>
                      <a:noFill/>
                    </a:lnT>
                    <a:lnB>
                      <a:noFill/>
                    </a:lnB>
                    <a:noFill/>
                  </a:tcPr>
                </a:tc>
                <a:tc>
                  <a:txBody>
                    <a:bodyPr/>
                    <a:lstStyle/>
                    <a:p>
                      <a:pPr>
                        <a:buNone/>
                      </a:pPr>
                      <a:r>
                        <a:rPr lang="en-US" sz="2000" b="1" u="sng" dirty="0"/>
                        <a:t>Real-Life Meaning</a:t>
                      </a:r>
                    </a:p>
                  </a:txBody>
                  <a:tcPr anchor="ctr">
                    <a:lnL>
                      <a:noFill/>
                    </a:lnL>
                    <a:lnR>
                      <a:noFill/>
                    </a:lnR>
                    <a:lnT>
                      <a:noFill/>
                    </a:lnT>
                    <a:lnB>
                      <a:noFill/>
                    </a:lnB>
                    <a:noFill/>
                  </a:tcPr>
                </a:tc>
                <a:extLst>
                  <a:ext uri="{0D108BD9-81ED-4DB2-BD59-A6C34878D82A}">
                    <a16:rowId xmlns:a16="http://schemas.microsoft.com/office/drawing/2014/main" val="10000"/>
                  </a:ext>
                </a:extLst>
              </a:tr>
              <a:tr h="538659">
                <a:tc>
                  <a:txBody>
                    <a:bodyPr/>
                    <a:lstStyle/>
                    <a:p>
                      <a:pPr>
                        <a:buNone/>
                      </a:pPr>
                      <a:r>
                        <a:rPr lang="en-US"/>
                        <a:t>Firewall</a:t>
                      </a:r>
                    </a:p>
                  </a:txBody>
                  <a:tcPr anchor="ctr">
                    <a:lnL>
                      <a:noFill/>
                    </a:lnL>
                    <a:lnR>
                      <a:noFill/>
                    </a:lnR>
                    <a:lnT>
                      <a:noFill/>
                    </a:lnT>
                    <a:lnB>
                      <a:noFill/>
                    </a:lnB>
                    <a:noFill/>
                  </a:tcPr>
                </a:tc>
                <a:tc>
                  <a:txBody>
                    <a:bodyPr/>
                    <a:lstStyle/>
                    <a:p>
                      <a:pPr>
                        <a:buNone/>
                      </a:pPr>
                      <a:r>
                        <a:rPr lang="en-US" dirty="0"/>
                        <a:t>Security gate</a:t>
                      </a:r>
                    </a:p>
                  </a:txBody>
                  <a:tcPr anchor="ctr">
                    <a:lnL>
                      <a:noFill/>
                    </a:lnL>
                    <a:lnR>
                      <a:noFill/>
                    </a:lnR>
                    <a:lnT>
                      <a:noFill/>
                    </a:lnT>
                    <a:lnB>
                      <a:noFill/>
                    </a:lnB>
                    <a:noFill/>
                  </a:tcPr>
                </a:tc>
                <a:extLst>
                  <a:ext uri="{0D108BD9-81ED-4DB2-BD59-A6C34878D82A}">
                    <a16:rowId xmlns:a16="http://schemas.microsoft.com/office/drawing/2014/main" val="10001"/>
                  </a:ext>
                </a:extLst>
              </a:tr>
              <a:tr h="538659">
                <a:tc>
                  <a:txBody>
                    <a:bodyPr/>
                    <a:lstStyle/>
                    <a:p>
                      <a:pPr>
                        <a:buNone/>
                      </a:pPr>
                      <a:r>
                        <a:rPr lang="en-US"/>
                        <a:t>Antivirus</a:t>
                      </a:r>
                    </a:p>
                  </a:txBody>
                  <a:tcPr anchor="ctr">
                    <a:lnL>
                      <a:noFill/>
                    </a:lnL>
                    <a:lnR>
                      <a:noFill/>
                    </a:lnR>
                    <a:lnT>
                      <a:noFill/>
                    </a:lnT>
                    <a:lnB>
                      <a:noFill/>
                    </a:lnB>
                    <a:noFill/>
                  </a:tcPr>
                </a:tc>
                <a:tc>
                  <a:txBody>
                    <a:bodyPr/>
                    <a:lstStyle/>
                    <a:p>
                      <a:pPr>
                        <a:buNone/>
                      </a:pPr>
                      <a:r>
                        <a:rPr lang="en-US" dirty="0"/>
                        <a:t>Security patrol</a:t>
                      </a:r>
                    </a:p>
                  </a:txBody>
                  <a:tcPr anchor="ctr">
                    <a:lnL>
                      <a:noFill/>
                    </a:lnL>
                    <a:lnR>
                      <a:noFill/>
                    </a:lnR>
                    <a:lnT>
                      <a:noFill/>
                    </a:lnT>
                    <a:lnB>
                      <a:noFill/>
                    </a:lnB>
                    <a:noFill/>
                  </a:tcPr>
                </a:tc>
                <a:extLst>
                  <a:ext uri="{0D108BD9-81ED-4DB2-BD59-A6C34878D82A}">
                    <a16:rowId xmlns:a16="http://schemas.microsoft.com/office/drawing/2014/main" val="10002"/>
                  </a:ext>
                </a:extLst>
              </a:tr>
              <a:tr h="538659">
                <a:tc>
                  <a:txBody>
                    <a:bodyPr/>
                    <a:lstStyle/>
                    <a:p>
                      <a:pPr>
                        <a:buNone/>
                      </a:pPr>
                      <a:r>
                        <a:rPr lang="en-US"/>
                        <a:t>Passwords</a:t>
                      </a:r>
                    </a:p>
                  </a:txBody>
                  <a:tcPr anchor="ctr">
                    <a:lnL>
                      <a:noFill/>
                    </a:lnL>
                    <a:lnR>
                      <a:noFill/>
                    </a:lnR>
                    <a:lnT>
                      <a:noFill/>
                    </a:lnT>
                    <a:lnB>
                      <a:noFill/>
                    </a:lnB>
                    <a:noFill/>
                  </a:tcPr>
                </a:tc>
                <a:tc>
                  <a:txBody>
                    <a:bodyPr/>
                    <a:lstStyle/>
                    <a:p>
                      <a:pPr>
                        <a:buNone/>
                      </a:pPr>
                      <a:r>
                        <a:rPr lang="en-US"/>
                        <a:t>Door locks</a:t>
                      </a:r>
                    </a:p>
                  </a:txBody>
                  <a:tcPr anchor="ctr">
                    <a:lnL>
                      <a:noFill/>
                    </a:lnL>
                    <a:lnR>
                      <a:noFill/>
                    </a:lnR>
                    <a:lnT>
                      <a:noFill/>
                    </a:lnT>
                    <a:lnB>
                      <a:noFill/>
                    </a:lnB>
                    <a:noFill/>
                  </a:tcPr>
                </a:tc>
                <a:extLst>
                  <a:ext uri="{0D108BD9-81ED-4DB2-BD59-A6C34878D82A}">
                    <a16:rowId xmlns:a16="http://schemas.microsoft.com/office/drawing/2014/main" val="10003"/>
                  </a:ext>
                </a:extLst>
              </a:tr>
              <a:tr h="538659">
                <a:tc>
                  <a:txBody>
                    <a:bodyPr/>
                    <a:lstStyle/>
                    <a:p>
                      <a:pPr>
                        <a:buNone/>
                      </a:pPr>
                      <a:r>
                        <a:rPr lang="en-US"/>
                        <a:t>MFA</a:t>
                      </a:r>
                    </a:p>
                  </a:txBody>
                  <a:tcPr anchor="ctr">
                    <a:lnL>
                      <a:noFill/>
                    </a:lnL>
                    <a:lnR>
                      <a:noFill/>
                    </a:lnR>
                    <a:lnT>
                      <a:noFill/>
                    </a:lnT>
                    <a:lnB>
                      <a:noFill/>
                    </a:lnB>
                    <a:noFill/>
                  </a:tcPr>
                </a:tc>
                <a:tc>
                  <a:txBody>
                    <a:bodyPr/>
                    <a:lstStyle/>
                    <a:p>
                      <a:pPr>
                        <a:buNone/>
                      </a:pPr>
                      <a:r>
                        <a:rPr lang="en-US"/>
                        <a:t>Extra gate verification</a:t>
                      </a:r>
                    </a:p>
                  </a:txBody>
                  <a:tcPr anchor="ctr">
                    <a:lnL>
                      <a:noFill/>
                    </a:lnL>
                    <a:lnR>
                      <a:noFill/>
                    </a:lnR>
                    <a:lnT>
                      <a:noFill/>
                    </a:lnT>
                    <a:lnB>
                      <a:noFill/>
                    </a:lnB>
                    <a:noFill/>
                  </a:tcPr>
                </a:tc>
                <a:extLst>
                  <a:ext uri="{0D108BD9-81ED-4DB2-BD59-A6C34878D82A}">
                    <a16:rowId xmlns:a16="http://schemas.microsoft.com/office/drawing/2014/main" val="10004"/>
                  </a:ext>
                </a:extLst>
              </a:tr>
              <a:tr h="538659">
                <a:tc>
                  <a:txBody>
                    <a:bodyPr/>
                    <a:lstStyle/>
                    <a:p>
                      <a:pPr>
                        <a:buNone/>
                      </a:pPr>
                      <a:r>
                        <a:rPr lang="en-US"/>
                        <a:t>Encryption</a:t>
                      </a:r>
                    </a:p>
                  </a:txBody>
                  <a:tcPr anchor="ctr">
                    <a:lnL>
                      <a:noFill/>
                    </a:lnL>
                    <a:lnR>
                      <a:noFill/>
                    </a:lnR>
                    <a:lnT>
                      <a:noFill/>
                    </a:lnT>
                    <a:lnB>
                      <a:noFill/>
                    </a:lnB>
                    <a:noFill/>
                  </a:tcPr>
                </a:tc>
                <a:tc>
                  <a:txBody>
                    <a:bodyPr/>
                    <a:lstStyle/>
                    <a:p>
                      <a:pPr>
                        <a:buNone/>
                      </a:pPr>
                      <a:r>
                        <a:rPr lang="en-US"/>
                        <a:t>Locked safe</a:t>
                      </a:r>
                    </a:p>
                  </a:txBody>
                  <a:tcPr anchor="ctr">
                    <a:lnL>
                      <a:noFill/>
                    </a:lnL>
                    <a:lnR>
                      <a:noFill/>
                    </a:lnR>
                    <a:lnT>
                      <a:noFill/>
                    </a:lnT>
                    <a:lnB>
                      <a:noFill/>
                    </a:lnB>
                    <a:noFill/>
                  </a:tcPr>
                </a:tc>
                <a:extLst>
                  <a:ext uri="{0D108BD9-81ED-4DB2-BD59-A6C34878D82A}">
                    <a16:rowId xmlns:a16="http://schemas.microsoft.com/office/drawing/2014/main" val="10005"/>
                  </a:ext>
                </a:extLst>
              </a:tr>
              <a:tr h="538659">
                <a:tc>
                  <a:txBody>
                    <a:bodyPr/>
                    <a:lstStyle/>
                    <a:p>
                      <a:pPr>
                        <a:buNone/>
                      </a:pPr>
                      <a:r>
                        <a:rPr lang="en-US"/>
                        <a:t>Updates</a:t>
                      </a:r>
                    </a:p>
                  </a:txBody>
                  <a:tcPr anchor="ctr">
                    <a:lnL>
                      <a:noFill/>
                    </a:lnL>
                    <a:lnR>
                      <a:noFill/>
                    </a:lnR>
                    <a:lnT>
                      <a:noFill/>
                    </a:lnT>
                    <a:lnB>
                      <a:noFill/>
                    </a:lnB>
                    <a:noFill/>
                  </a:tcPr>
                </a:tc>
                <a:tc>
                  <a:txBody>
                    <a:bodyPr/>
                    <a:lstStyle/>
                    <a:p>
                      <a:pPr>
                        <a:buNone/>
                      </a:pPr>
                      <a:r>
                        <a:rPr lang="en-US" dirty="0"/>
                        <a:t>Repairing weak doors/windows</a:t>
                      </a:r>
                    </a:p>
                  </a:txBody>
                  <a:tcPr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b="1" u="sng" dirty="0">
                <a:effectLst>
                  <a:outerShdw blurRad="38100" dist="38100" dir="2700000" algn="tl">
                    <a:srgbClr val="000000">
                      <a:alpha val="43137"/>
                    </a:srgbClr>
                  </a:outerShdw>
                </a:effectLst>
              </a:rPr>
              <a:t>Final Summary</a:t>
            </a:r>
            <a:br>
              <a:rPr lang="en-US" b="1" dirty="0"/>
            </a:br>
            <a:endParaRPr lang="en-US" dirty="0"/>
          </a:p>
        </p:txBody>
      </p:sp>
      <p:sp>
        <p:nvSpPr>
          <p:cNvPr id="3" name="Content Placeholder 2"/>
          <p:cNvSpPr>
            <a:spLocks noGrp="1"/>
          </p:cNvSpPr>
          <p:nvPr>
            <p:ph idx="1"/>
          </p:nvPr>
        </p:nvSpPr>
        <p:spPr/>
        <p:txBody>
          <a:bodyPr/>
          <a:lstStyle/>
          <a:p>
            <a:r>
              <a:rPr lang="en-US" sz="2800" dirty="0"/>
              <a:t>Security hardening reduces risks by applying protective controls such as firewalls, encryption, updates, authentication, monitoring, and user awareness. Proper hardening improves confidentiality, integrity, and availability of systems and networks.</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TotalTime>
  <Words>3550</Words>
  <Application>Microsoft Office PowerPoint</Application>
  <PresentationFormat>Widescreen</PresentationFormat>
  <Paragraphs>864</Paragraphs>
  <Slides>73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Arial</vt:lpstr>
      <vt:lpstr>Arial Unicode MS</vt:lpstr>
      <vt:lpstr>Garamond</vt:lpstr>
      <vt:lpstr>Organic</vt:lpstr>
      <vt:lpstr>1.Create a network diagram showing:</vt:lpstr>
      <vt:lpstr>Diagram</vt:lpstr>
      <vt:lpstr>PowerPoint Presentation</vt:lpstr>
      <vt:lpstr>PowerPoint Presentation</vt:lpstr>
      <vt:lpstr>2.Match the following technologies to their correct OSI layer: </vt:lpstr>
      <vt:lpstr>PowerPoint Presentation</vt:lpstr>
      <vt:lpstr>Simple Way To Understand It </vt:lpstr>
      <vt:lpstr>PowerPoint Presentation</vt:lpstr>
      <vt:lpstr>3.Create a table containing: </vt:lpstr>
      <vt:lpstr>PowerPoint Presentation</vt:lpstr>
      <vt:lpstr>PowerPoint Presentation</vt:lpstr>
      <vt:lpstr>Simple Understanding </vt:lpstr>
      <vt:lpstr>To understand it more</vt:lpstr>
      <vt:lpstr>4.Identify which protocols are secure and insecure and explain why organizations should avoid insecure protocols.  </vt:lpstr>
      <vt:lpstr>PowerPoint Presentation</vt:lpstr>
      <vt:lpstr>Simple Explanation </vt:lpstr>
      <vt:lpstr>What is Encryption? </vt:lpstr>
      <vt:lpstr>5A Create a comparison table for IPv4 , IPv6 showing: </vt:lpstr>
      <vt:lpstr>PowerPoint Presentation</vt:lpstr>
      <vt:lpstr>Simple Understanding </vt:lpstr>
      <vt:lpstr>5B.Identify the following; </vt:lpstr>
      <vt:lpstr>1. Your Private IP Address </vt:lpstr>
      <vt:lpstr>2. Your Public IP Address</vt:lpstr>
      <vt:lpstr>3. Role of NAT (Network Address Translation) </vt:lpstr>
      <vt:lpstr>🔄 How NAT Works</vt:lpstr>
      <vt:lpstr>Real-Life Analogy</vt:lpstr>
      <vt:lpstr>6.Identify the subnet mask for a given CIDR notation</vt:lpstr>
      <vt:lpstr>Subnetting (CIDR → Network Details)</vt:lpstr>
      <vt:lpstr>What is CIDR and Subnetting? </vt:lpstr>
      <vt:lpstr>PowerPoint Presentation</vt:lpstr>
      <vt:lpstr>Find the Network Address </vt:lpstr>
      <vt:lpstr>Find the Broadcast Address </vt:lpstr>
      <vt:lpstr>Find Available Hosts </vt:lpstr>
      <vt:lpstr>Breakdown</vt:lpstr>
      <vt:lpstr>Another way to understand it</vt:lpstr>
      <vt:lpstr>7. Create a comparison table for:   </vt:lpstr>
      <vt:lpstr>PowerPoint Presentation</vt:lpstr>
      <vt:lpstr>PowerPoint Presentation</vt:lpstr>
      <vt:lpstr>8. Create a report explaining:  </vt:lpstr>
      <vt:lpstr>VPN Report </vt:lpstr>
      <vt:lpstr>PowerPoint Presentation</vt:lpstr>
      <vt:lpstr>PowerPoint Presentation</vt:lpstr>
      <vt:lpstr>PowerPoint Presentation</vt:lpstr>
      <vt:lpstr>PowerPoint Presentation</vt:lpstr>
      <vt:lpstr>PowerPoint Presentation</vt:lpstr>
      <vt:lpstr>PowerPoint Presentation</vt:lpstr>
      <vt:lpstr>Conclusion </vt:lpstr>
      <vt:lpstr>9.Create a comparison table containing: </vt:lpstr>
      <vt:lpstr>PowerPoint Presentation</vt:lpstr>
      <vt:lpstr>Real life analogy</vt:lpstr>
      <vt:lpstr>PowerPoint Presentation</vt:lpstr>
      <vt:lpstr>10.Create a diagram showing: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Real-Life Analogy   Imagine sending confidential business documents across Enugu: </vt:lpstr>
      <vt:lpstr>In conclusion</vt:lpstr>
      <vt:lpstr>12. Create a security hardening checklist for:  </vt:lpstr>
      <vt:lpstr>PowerPoint Presentation</vt:lpstr>
      <vt:lpstr>💻 1. Personal Computer Security Checklist</vt:lpstr>
      <vt:lpstr>🏫 2. School Network Security Checklist</vt:lpstr>
      <vt:lpstr>🏢 3. Company Workstation Security Checklist</vt:lpstr>
      <vt:lpstr>Simple Analogy Think of cybersecurity like protecting buildings in Enugu: </vt:lpstr>
      <vt:lpstr>Final 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Agboike</dc:creator>
  <cp:lastModifiedBy>DELL</cp:lastModifiedBy>
  <cp:revision>47</cp:revision>
  <dcterms:created xsi:type="dcterms:W3CDTF">2026-05-08T23:09:00Z</dcterms:created>
  <dcterms:modified xsi:type="dcterms:W3CDTF">2026-07-09T10:04:09Z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64724BBD7B2E4BB0BD4BED2B73808F12_12</vt:lpwstr>
  </property>
  <property fmtid="{D5CDD505-2E9C-101B-9397-08002B2CF9AE}" pid="3" name="KSOProductBuildVer">
    <vt:lpwstr>1033-12.1.0.25862</vt:lpwstr>
  </property>
</Properties>
</file>