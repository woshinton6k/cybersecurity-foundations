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1"/>
  </p:notesMasterIdLst>
  <p:sldIdLst>
    <p:sldId id="384"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55" r:id="rId71"/>
    <p:sldId id="356" r:id="rId72"/>
    <p:sldId id="357" r:id="rId73"/>
    <p:sldId id="358" r:id="rId74"/>
    <p:sldId id="359" r:id="rId75"/>
    <p:sldId id="360" r:id="rId76"/>
    <p:sldId id="361" r:id="rId77"/>
    <p:sldId id="362" r:id="rId78"/>
    <p:sldId id="363" r:id="rId79"/>
    <p:sldId id="364" r:id="rId80"/>
    <p:sldId id="382" r:id="rId81"/>
    <p:sldId id="383" r:id="rId82"/>
    <p:sldId id="324" r:id="rId83"/>
    <p:sldId id="325" r:id="rId84"/>
    <p:sldId id="326" r:id="rId85"/>
    <p:sldId id="327" r:id="rId86"/>
    <p:sldId id="328" r:id="rId87"/>
    <p:sldId id="329" r:id="rId88"/>
    <p:sldId id="330" r:id="rId89"/>
    <p:sldId id="331" r:id="rId90"/>
    <p:sldId id="332" r:id="rId91"/>
    <p:sldId id="333" r:id="rId92"/>
    <p:sldId id="334" r:id="rId93"/>
    <p:sldId id="335" r:id="rId94"/>
    <p:sldId id="336" r:id="rId95"/>
    <p:sldId id="337" r:id="rId96"/>
    <p:sldId id="338" r:id="rId97"/>
    <p:sldId id="339" r:id="rId98"/>
    <p:sldId id="340" r:id="rId99"/>
    <p:sldId id="341" r:id="rId100"/>
    <p:sldId id="342" r:id="rId101"/>
    <p:sldId id="343" r:id="rId102"/>
    <p:sldId id="344" r:id="rId103"/>
    <p:sldId id="345" r:id="rId104"/>
    <p:sldId id="346" r:id="rId105"/>
    <p:sldId id="347" r:id="rId106"/>
    <p:sldId id="348" r:id="rId107"/>
    <p:sldId id="349" r:id="rId108"/>
    <p:sldId id="350" r:id="rId109"/>
    <p:sldId id="351" r:id="rId110"/>
    <p:sldId id="352" r:id="rId111"/>
    <p:sldId id="353" r:id="rId112"/>
    <p:sldId id="35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90013" autoAdjust="0"/>
  </p:normalViewPr>
  <p:slideViewPr>
    <p:cSldViewPr snapToGrid="0">
      <p:cViewPr varScale="1">
        <p:scale>
          <a:sx n="77" d="100"/>
          <a:sy n="77" d="100"/>
        </p:scale>
        <p:origin x="91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notesMaster" Target="notesMasters/notesMaster1.xml"/><Relationship Id="rId132" Type="http://schemas.openxmlformats.org/officeDocument/2006/relationships/presProps" Target="presProps.xml"/><Relationship Id="rId133" Type="http://schemas.openxmlformats.org/officeDocument/2006/relationships/viewProps" Target="viewProps.xml"/><Relationship Id="rId134" Type="http://schemas.openxmlformats.org/officeDocument/2006/relationships/theme" Target="theme/theme1.xml"/><Relationship Id="rId1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2ACCEB-D636-4C3C-AC20-C5FC5CCA5448}" type="datetimeFigureOut">
              <a:rPr lang="en-GB" smtClean="0"/>
              <a:t>18/08/2026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2C472D-3E7B-4FF8-B131-2908E388994E}" type="slidenum">
              <a:rPr lang="en-GB" smtClean="0"/>
              <a:t>‹#›</a:t>
            </a:fld>
            <a:endParaRPr lang="en-GB"/>
          </a:p>
        </p:txBody>
      </p:sp>
    </p:spTree>
    <p:extLst>
      <p:ext uri="{BB962C8B-B14F-4D97-AF65-F5344CB8AC3E}">
        <p14:creationId xmlns:p14="http://schemas.microsoft.com/office/powerpoint/2010/main" val="3426459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22C472D-3E7B-4FF8-B131-2908E388994E}" type="slidenum">
              <a:rPr lang="en-GB" smtClean="0"/>
              <a:t>74</a:t>
            </a:fld>
            <a:endParaRPr lang="en-GB"/>
          </a:p>
        </p:txBody>
      </p:sp>
    </p:spTree>
    <p:extLst>
      <p:ext uri="{BB962C8B-B14F-4D97-AF65-F5344CB8AC3E}">
        <p14:creationId xmlns:p14="http://schemas.microsoft.com/office/powerpoint/2010/main" val="3509471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22C472D-3E7B-4FF8-B131-2908E388994E}" type="slidenum">
              <a:rPr lang="en-GB" smtClean="0"/>
              <a:t>86</a:t>
            </a:fld>
            <a:endParaRPr lang="en-GB"/>
          </a:p>
        </p:txBody>
      </p:sp>
    </p:spTree>
    <p:extLst>
      <p:ext uri="{BB962C8B-B14F-4D97-AF65-F5344CB8AC3E}">
        <p14:creationId xmlns:p14="http://schemas.microsoft.com/office/powerpoint/2010/main" val="704586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22C472D-3E7B-4FF8-B131-2908E388994E}" type="slidenum">
              <a:rPr lang="en-GB" smtClean="0"/>
              <a:t>105</a:t>
            </a:fld>
            <a:endParaRPr lang="en-GB"/>
          </a:p>
        </p:txBody>
      </p:sp>
    </p:spTree>
    <p:extLst>
      <p:ext uri="{BB962C8B-B14F-4D97-AF65-F5344CB8AC3E}">
        <p14:creationId xmlns:p14="http://schemas.microsoft.com/office/powerpoint/2010/main" val="18531386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22C472D-3E7B-4FF8-B131-2908E388994E}" type="slidenum">
              <a:rPr lang="en-GB" smtClean="0"/>
              <a:t>106</a:t>
            </a:fld>
            <a:endParaRPr lang="en-GB"/>
          </a:p>
        </p:txBody>
      </p:sp>
    </p:spTree>
    <p:extLst>
      <p:ext uri="{BB962C8B-B14F-4D97-AF65-F5344CB8AC3E}">
        <p14:creationId xmlns:p14="http://schemas.microsoft.com/office/powerpoint/2010/main" val="1679158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22C472D-3E7B-4FF8-B131-2908E388994E}" type="slidenum">
              <a:rPr lang="en-GB" smtClean="0"/>
              <a:t>114</a:t>
            </a:fld>
            <a:endParaRPr lang="en-GB"/>
          </a:p>
        </p:txBody>
      </p:sp>
    </p:spTree>
    <p:extLst>
      <p:ext uri="{BB962C8B-B14F-4D97-AF65-F5344CB8AC3E}">
        <p14:creationId xmlns:p14="http://schemas.microsoft.com/office/powerpoint/2010/main" val="721846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8786B-099E-2B89-B8E6-5F9E5C691F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D74463D-D07A-0742-1CD9-BB09E38E2F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A98B454-507A-2AA1-967A-3A60181621AC}"/>
              </a:ext>
            </a:extLst>
          </p:cNvPr>
          <p:cNvSpPr>
            <a:spLocks noGrp="1"/>
          </p:cNvSpPr>
          <p:nvPr>
            <p:ph type="dt" sz="half" idx="10"/>
          </p:nvPr>
        </p:nvSpPr>
        <p:spPr/>
        <p:txBody>
          <a:bodyPr/>
          <a:lstStyle/>
          <a:p>
            <a:fld id="{328E9CEA-ECC5-4589-8116-1E14327DB538}" type="datetimeFigureOut">
              <a:rPr lang="en-GB" smtClean="0"/>
              <a:t>18/08/2026</a:t>
            </a:fld>
            <a:endParaRPr lang="en-GB"/>
          </a:p>
        </p:txBody>
      </p:sp>
      <p:sp>
        <p:nvSpPr>
          <p:cNvPr id="5" name="Footer Placeholder 4">
            <a:extLst>
              <a:ext uri="{FF2B5EF4-FFF2-40B4-BE49-F238E27FC236}">
                <a16:creationId xmlns:a16="http://schemas.microsoft.com/office/drawing/2014/main" id="{F5770C23-5C74-839C-E7B2-C749EFACA4E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8FCC2F-CCCC-B76A-9326-469685C18DB2}"/>
              </a:ext>
            </a:extLst>
          </p:cNvPr>
          <p:cNvSpPr>
            <a:spLocks noGrp="1"/>
          </p:cNvSpPr>
          <p:nvPr>
            <p:ph type="sldNum" sz="quarter" idx="12"/>
          </p:nvPr>
        </p:nvSpPr>
        <p:spPr/>
        <p:txBody>
          <a:bodyPr/>
          <a:lstStyle/>
          <a:p>
            <a:fld id="{200D8DE8-03B8-4CAF-BA91-05CDCE1629CC}" type="slidenum">
              <a:rPr lang="en-GB" smtClean="0"/>
              <a:t>‹#›</a:t>
            </a:fld>
            <a:endParaRPr lang="en-GB"/>
          </a:p>
        </p:txBody>
      </p:sp>
    </p:spTree>
    <p:extLst>
      <p:ext uri="{BB962C8B-B14F-4D97-AF65-F5344CB8AC3E}">
        <p14:creationId xmlns:p14="http://schemas.microsoft.com/office/powerpoint/2010/main" val="2554885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AD252-2258-6153-99DD-00151EAC4C7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A8D651D-B5BC-0AB9-C3AE-65656EA8CD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4A3575A-35BC-9A21-9704-39F8A198F104}"/>
              </a:ext>
            </a:extLst>
          </p:cNvPr>
          <p:cNvSpPr>
            <a:spLocks noGrp="1"/>
          </p:cNvSpPr>
          <p:nvPr>
            <p:ph type="dt" sz="half" idx="10"/>
          </p:nvPr>
        </p:nvSpPr>
        <p:spPr/>
        <p:txBody>
          <a:bodyPr/>
          <a:lstStyle/>
          <a:p>
            <a:fld id="{328E9CEA-ECC5-4589-8116-1E14327DB538}" type="datetimeFigureOut">
              <a:rPr lang="en-GB" smtClean="0"/>
              <a:t>18/08/2026</a:t>
            </a:fld>
            <a:endParaRPr lang="en-GB"/>
          </a:p>
        </p:txBody>
      </p:sp>
      <p:sp>
        <p:nvSpPr>
          <p:cNvPr id="5" name="Footer Placeholder 4">
            <a:extLst>
              <a:ext uri="{FF2B5EF4-FFF2-40B4-BE49-F238E27FC236}">
                <a16:creationId xmlns:a16="http://schemas.microsoft.com/office/drawing/2014/main" id="{75FCA040-A080-41A2-90A1-90CB5684289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390520-20B8-A2D1-CC3E-F665624A0453}"/>
              </a:ext>
            </a:extLst>
          </p:cNvPr>
          <p:cNvSpPr>
            <a:spLocks noGrp="1"/>
          </p:cNvSpPr>
          <p:nvPr>
            <p:ph type="sldNum" sz="quarter" idx="12"/>
          </p:nvPr>
        </p:nvSpPr>
        <p:spPr/>
        <p:txBody>
          <a:bodyPr/>
          <a:lstStyle/>
          <a:p>
            <a:fld id="{200D8DE8-03B8-4CAF-BA91-05CDCE1629CC}" type="slidenum">
              <a:rPr lang="en-GB" smtClean="0"/>
              <a:t>‹#›</a:t>
            </a:fld>
            <a:endParaRPr lang="en-GB"/>
          </a:p>
        </p:txBody>
      </p:sp>
    </p:spTree>
    <p:extLst>
      <p:ext uri="{BB962C8B-B14F-4D97-AF65-F5344CB8AC3E}">
        <p14:creationId xmlns:p14="http://schemas.microsoft.com/office/powerpoint/2010/main" val="38741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DED02-D85C-A5C2-C9B3-9EE0A0066E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A75C953-E321-9BB1-7E2A-A173E5CDB6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7D5F7A-D6D0-A277-9EB8-1FEA3878AD63}"/>
              </a:ext>
            </a:extLst>
          </p:cNvPr>
          <p:cNvSpPr>
            <a:spLocks noGrp="1"/>
          </p:cNvSpPr>
          <p:nvPr>
            <p:ph type="dt" sz="half" idx="10"/>
          </p:nvPr>
        </p:nvSpPr>
        <p:spPr/>
        <p:txBody>
          <a:bodyPr/>
          <a:lstStyle/>
          <a:p>
            <a:fld id="{328E9CEA-ECC5-4589-8116-1E14327DB538}" type="datetimeFigureOut">
              <a:rPr lang="en-GB" smtClean="0"/>
              <a:t>18/08/2026</a:t>
            </a:fld>
            <a:endParaRPr lang="en-GB"/>
          </a:p>
        </p:txBody>
      </p:sp>
      <p:sp>
        <p:nvSpPr>
          <p:cNvPr id="5" name="Footer Placeholder 4">
            <a:extLst>
              <a:ext uri="{FF2B5EF4-FFF2-40B4-BE49-F238E27FC236}">
                <a16:creationId xmlns:a16="http://schemas.microsoft.com/office/drawing/2014/main" id="{D8392AF9-842E-2849-62D7-96CB3D51A8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36A647-A9C9-7796-2029-72E3653A613E}"/>
              </a:ext>
            </a:extLst>
          </p:cNvPr>
          <p:cNvSpPr>
            <a:spLocks noGrp="1"/>
          </p:cNvSpPr>
          <p:nvPr>
            <p:ph type="sldNum" sz="quarter" idx="12"/>
          </p:nvPr>
        </p:nvSpPr>
        <p:spPr/>
        <p:txBody>
          <a:bodyPr/>
          <a:lstStyle/>
          <a:p>
            <a:fld id="{200D8DE8-03B8-4CAF-BA91-05CDCE1629CC}" type="slidenum">
              <a:rPr lang="en-GB" smtClean="0"/>
              <a:t>‹#›</a:t>
            </a:fld>
            <a:endParaRPr lang="en-GB"/>
          </a:p>
        </p:txBody>
      </p:sp>
    </p:spTree>
    <p:extLst>
      <p:ext uri="{BB962C8B-B14F-4D97-AF65-F5344CB8AC3E}">
        <p14:creationId xmlns:p14="http://schemas.microsoft.com/office/powerpoint/2010/main" val="1198064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3AB1B-AACF-6C72-EC19-107FE3D063F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993A3C1-9833-A0A9-3D95-4A59389EC8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AFCE824-FF9B-8874-D9DB-FB16016A94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6382AE7-9FB0-0A2A-7A7C-E4701B3542E3}"/>
              </a:ext>
            </a:extLst>
          </p:cNvPr>
          <p:cNvSpPr>
            <a:spLocks noGrp="1"/>
          </p:cNvSpPr>
          <p:nvPr>
            <p:ph type="dt" sz="half" idx="10"/>
          </p:nvPr>
        </p:nvSpPr>
        <p:spPr/>
        <p:txBody>
          <a:bodyPr/>
          <a:lstStyle/>
          <a:p>
            <a:fld id="{328E9CEA-ECC5-4589-8116-1E14327DB538}" type="datetimeFigureOut">
              <a:rPr lang="en-GB" smtClean="0"/>
              <a:t>18/08/2026</a:t>
            </a:fld>
            <a:endParaRPr lang="en-GB"/>
          </a:p>
        </p:txBody>
      </p:sp>
      <p:sp>
        <p:nvSpPr>
          <p:cNvPr id="6" name="Footer Placeholder 5">
            <a:extLst>
              <a:ext uri="{FF2B5EF4-FFF2-40B4-BE49-F238E27FC236}">
                <a16:creationId xmlns:a16="http://schemas.microsoft.com/office/drawing/2014/main" id="{3C1D5257-24DB-5533-666C-C58B667A0AB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B005D54-1B6D-82E8-1190-8AAA2B503D1B}"/>
              </a:ext>
            </a:extLst>
          </p:cNvPr>
          <p:cNvSpPr>
            <a:spLocks noGrp="1"/>
          </p:cNvSpPr>
          <p:nvPr>
            <p:ph type="sldNum" sz="quarter" idx="12"/>
          </p:nvPr>
        </p:nvSpPr>
        <p:spPr/>
        <p:txBody>
          <a:bodyPr/>
          <a:lstStyle/>
          <a:p>
            <a:fld id="{200D8DE8-03B8-4CAF-BA91-05CDCE1629CC}" type="slidenum">
              <a:rPr lang="en-GB" smtClean="0"/>
              <a:t>‹#›</a:t>
            </a:fld>
            <a:endParaRPr lang="en-GB"/>
          </a:p>
        </p:txBody>
      </p:sp>
    </p:spTree>
    <p:extLst>
      <p:ext uri="{BB962C8B-B14F-4D97-AF65-F5344CB8AC3E}">
        <p14:creationId xmlns:p14="http://schemas.microsoft.com/office/powerpoint/2010/main" val="172634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6FBD8-4140-F663-7583-1A07AEA0F14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F6A9E03-398E-3DC8-AE3D-DACE3897E5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D55606-E51D-A7D3-2853-831A22DB13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BD1F1A9-36C8-6A24-3469-7155D9ACF2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AF4882-169E-178F-96D7-29E82D6668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369D762-D314-7253-B2E8-772F07FD3C1F}"/>
              </a:ext>
            </a:extLst>
          </p:cNvPr>
          <p:cNvSpPr>
            <a:spLocks noGrp="1"/>
          </p:cNvSpPr>
          <p:nvPr>
            <p:ph type="dt" sz="half" idx="10"/>
          </p:nvPr>
        </p:nvSpPr>
        <p:spPr/>
        <p:txBody>
          <a:bodyPr/>
          <a:lstStyle/>
          <a:p>
            <a:fld id="{328E9CEA-ECC5-4589-8116-1E14327DB538}" type="datetimeFigureOut">
              <a:rPr lang="en-GB" smtClean="0"/>
              <a:t>18/08/2026</a:t>
            </a:fld>
            <a:endParaRPr lang="en-GB"/>
          </a:p>
        </p:txBody>
      </p:sp>
      <p:sp>
        <p:nvSpPr>
          <p:cNvPr id="8" name="Footer Placeholder 7">
            <a:extLst>
              <a:ext uri="{FF2B5EF4-FFF2-40B4-BE49-F238E27FC236}">
                <a16:creationId xmlns:a16="http://schemas.microsoft.com/office/drawing/2014/main" id="{5643BC85-B520-8F65-DE10-3709DA5B986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D4AAB3A-A033-8A7F-5ECC-B51117B27C9E}"/>
              </a:ext>
            </a:extLst>
          </p:cNvPr>
          <p:cNvSpPr>
            <a:spLocks noGrp="1"/>
          </p:cNvSpPr>
          <p:nvPr>
            <p:ph type="sldNum" sz="quarter" idx="12"/>
          </p:nvPr>
        </p:nvSpPr>
        <p:spPr/>
        <p:txBody>
          <a:bodyPr/>
          <a:lstStyle/>
          <a:p>
            <a:fld id="{200D8DE8-03B8-4CAF-BA91-05CDCE1629CC}" type="slidenum">
              <a:rPr lang="en-GB" smtClean="0"/>
              <a:t>‹#›</a:t>
            </a:fld>
            <a:endParaRPr lang="en-GB"/>
          </a:p>
        </p:txBody>
      </p:sp>
    </p:spTree>
    <p:extLst>
      <p:ext uri="{BB962C8B-B14F-4D97-AF65-F5344CB8AC3E}">
        <p14:creationId xmlns:p14="http://schemas.microsoft.com/office/powerpoint/2010/main" val="3679885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15E53-9464-EDFE-D2EF-04B3688BD95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7658E3F-5011-228D-5366-83E70A0224BA}"/>
              </a:ext>
            </a:extLst>
          </p:cNvPr>
          <p:cNvSpPr>
            <a:spLocks noGrp="1"/>
          </p:cNvSpPr>
          <p:nvPr>
            <p:ph type="dt" sz="half" idx="10"/>
          </p:nvPr>
        </p:nvSpPr>
        <p:spPr/>
        <p:txBody>
          <a:bodyPr/>
          <a:lstStyle/>
          <a:p>
            <a:fld id="{328E9CEA-ECC5-4589-8116-1E14327DB538}" type="datetimeFigureOut">
              <a:rPr lang="en-GB" smtClean="0"/>
              <a:t>18/08/2026</a:t>
            </a:fld>
            <a:endParaRPr lang="en-GB"/>
          </a:p>
        </p:txBody>
      </p:sp>
      <p:sp>
        <p:nvSpPr>
          <p:cNvPr id="4" name="Footer Placeholder 3">
            <a:extLst>
              <a:ext uri="{FF2B5EF4-FFF2-40B4-BE49-F238E27FC236}">
                <a16:creationId xmlns:a16="http://schemas.microsoft.com/office/drawing/2014/main" id="{779467E0-B71A-DB05-E54F-419B97E1D34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41F5BEE-4DC8-23DE-F1D1-6B78DA49FC9C}"/>
              </a:ext>
            </a:extLst>
          </p:cNvPr>
          <p:cNvSpPr>
            <a:spLocks noGrp="1"/>
          </p:cNvSpPr>
          <p:nvPr>
            <p:ph type="sldNum" sz="quarter" idx="12"/>
          </p:nvPr>
        </p:nvSpPr>
        <p:spPr/>
        <p:txBody>
          <a:bodyPr/>
          <a:lstStyle/>
          <a:p>
            <a:fld id="{200D8DE8-03B8-4CAF-BA91-05CDCE1629CC}" type="slidenum">
              <a:rPr lang="en-GB" smtClean="0"/>
              <a:t>‹#›</a:t>
            </a:fld>
            <a:endParaRPr lang="en-GB"/>
          </a:p>
        </p:txBody>
      </p:sp>
    </p:spTree>
    <p:extLst>
      <p:ext uri="{BB962C8B-B14F-4D97-AF65-F5344CB8AC3E}">
        <p14:creationId xmlns:p14="http://schemas.microsoft.com/office/powerpoint/2010/main" val="3419735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E82212-C779-F162-BEE4-E93D0C2813D0}"/>
              </a:ext>
            </a:extLst>
          </p:cNvPr>
          <p:cNvSpPr>
            <a:spLocks noGrp="1"/>
          </p:cNvSpPr>
          <p:nvPr>
            <p:ph type="dt" sz="half" idx="10"/>
          </p:nvPr>
        </p:nvSpPr>
        <p:spPr/>
        <p:txBody>
          <a:bodyPr/>
          <a:lstStyle/>
          <a:p>
            <a:fld id="{328E9CEA-ECC5-4589-8116-1E14327DB538}" type="datetimeFigureOut">
              <a:rPr lang="en-GB" smtClean="0"/>
              <a:t>18/08/2026</a:t>
            </a:fld>
            <a:endParaRPr lang="en-GB"/>
          </a:p>
        </p:txBody>
      </p:sp>
      <p:sp>
        <p:nvSpPr>
          <p:cNvPr id="3" name="Footer Placeholder 2">
            <a:extLst>
              <a:ext uri="{FF2B5EF4-FFF2-40B4-BE49-F238E27FC236}">
                <a16:creationId xmlns:a16="http://schemas.microsoft.com/office/drawing/2014/main" id="{6EFE68CC-2DCC-5142-A56A-F29674D80FE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116E811-A30A-68C5-38C6-5D274A0477ED}"/>
              </a:ext>
            </a:extLst>
          </p:cNvPr>
          <p:cNvSpPr>
            <a:spLocks noGrp="1"/>
          </p:cNvSpPr>
          <p:nvPr>
            <p:ph type="sldNum" sz="quarter" idx="12"/>
          </p:nvPr>
        </p:nvSpPr>
        <p:spPr/>
        <p:txBody>
          <a:bodyPr/>
          <a:lstStyle/>
          <a:p>
            <a:fld id="{200D8DE8-03B8-4CAF-BA91-05CDCE1629CC}" type="slidenum">
              <a:rPr lang="en-GB" smtClean="0"/>
              <a:t>‹#›</a:t>
            </a:fld>
            <a:endParaRPr lang="en-GB"/>
          </a:p>
        </p:txBody>
      </p:sp>
    </p:spTree>
    <p:extLst>
      <p:ext uri="{BB962C8B-B14F-4D97-AF65-F5344CB8AC3E}">
        <p14:creationId xmlns:p14="http://schemas.microsoft.com/office/powerpoint/2010/main" val="3499224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434DC-F773-7D4F-94C2-9166AAD9EB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A106B8D-D8F3-FE8E-6B0F-323E90817D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5DAED46-AE03-6035-6AAA-1F5E9F4278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3411CD-122D-F5EF-17FB-36FA328E9739}"/>
              </a:ext>
            </a:extLst>
          </p:cNvPr>
          <p:cNvSpPr>
            <a:spLocks noGrp="1"/>
          </p:cNvSpPr>
          <p:nvPr>
            <p:ph type="dt" sz="half" idx="10"/>
          </p:nvPr>
        </p:nvSpPr>
        <p:spPr/>
        <p:txBody>
          <a:bodyPr/>
          <a:lstStyle/>
          <a:p>
            <a:fld id="{328E9CEA-ECC5-4589-8116-1E14327DB538}" type="datetimeFigureOut">
              <a:rPr lang="en-GB" smtClean="0"/>
              <a:t>18/08/2026</a:t>
            </a:fld>
            <a:endParaRPr lang="en-GB"/>
          </a:p>
        </p:txBody>
      </p:sp>
      <p:sp>
        <p:nvSpPr>
          <p:cNvPr id="6" name="Footer Placeholder 5">
            <a:extLst>
              <a:ext uri="{FF2B5EF4-FFF2-40B4-BE49-F238E27FC236}">
                <a16:creationId xmlns:a16="http://schemas.microsoft.com/office/drawing/2014/main" id="{BD177C42-AA45-A1D5-887A-983F1E0157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2CF8312-43D6-00D0-0EBA-3C4904026BC6}"/>
              </a:ext>
            </a:extLst>
          </p:cNvPr>
          <p:cNvSpPr>
            <a:spLocks noGrp="1"/>
          </p:cNvSpPr>
          <p:nvPr>
            <p:ph type="sldNum" sz="quarter" idx="12"/>
          </p:nvPr>
        </p:nvSpPr>
        <p:spPr/>
        <p:txBody>
          <a:bodyPr/>
          <a:lstStyle/>
          <a:p>
            <a:fld id="{200D8DE8-03B8-4CAF-BA91-05CDCE1629CC}" type="slidenum">
              <a:rPr lang="en-GB" smtClean="0"/>
              <a:t>‹#›</a:t>
            </a:fld>
            <a:endParaRPr lang="en-GB"/>
          </a:p>
        </p:txBody>
      </p:sp>
    </p:spTree>
    <p:extLst>
      <p:ext uri="{BB962C8B-B14F-4D97-AF65-F5344CB8AC3E}">
        <p14:creationId xmlns:p14="http://schemas.microsoft.com/office/powerpoint/2010/main" val="2007042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C50C0-2883-BA33-C66F-CFBC922A22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FC3E13C-0FAC-383F-F751-7011E16823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244BDFF-F2A0-B8A2-8F51-B998FA898A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2FEF8A-890D-007C-F179-9EEA011F141F}"/>
              </a:ext>
            </a:extLst>
          </p:cNvPr>
          <p:cNvSpPr>
            <a:spLocks noGrp="1"/>
          </p:cNvSpPr>
          <p:nvPr>
            <p:ph type="dt" sz="half" idx="10"/>
          </p:nvPr>
        </p:nvSpPr>
        <p:spPr/>
        <p:txBody>
          <a:bodyPr/>
          <a:lstStyle/>
          <a:p>
            <a:fld id="{328E9CEA-ECC5-4589-8116-1E14327DB538}" type="datetimeFigureOut">
              <a:rPr lang="en-GB" smtClean="0"/>
              <a:t>18/08/2026</a:t>
            </a:fld>
            <a:endParaRPr lang="en-GB"/>
          </a:p>
        </p:txBody>
      </p:sp>
      <p:sp>
        <p:nvSpPr>
          <p:cNvPr id="6" name="Footer Placeholder 5">
            <a:extLst>
              <a:ext uri="{FF2B5EF4-FFF2-40B4-BE49-F238E27FC236}">
                <a16:creationId xmlns:a16="http://schemas.microsoft.com/office/drawing/2014/main" id="{7F509105-40C9-34A3-D059-0BCE173F1E0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8790952-2E6F-120A-F2DB-063D4FCD4905}"/>
              </a:ext>
            </a:extLst>
          </p:cNvPr>
          <p:cNvSpPr>
            <a:spLocks noGrp="1"/>
          </p:cNvSpPr>
          <p:nvPr>
            <p:ph type="sldNum" sz="quarter" idx="12"/>
          </p:nvPr>
        </p:nvSpPr>
        <p:spPr/>
        <p:txBody>
          <a:bodyPr/>
          <a:lstStyle/>
          <a:p>
            <a:fld id="{200D8DE8-03B8-4CAF-BA91-05CDCE1629CC}" type="slidenum">
              <a:rPr lang="en-GB" smtClean="0"/>
              <a:t>‹#›</a:t>
            </a:fld>
            <a:endParaRPr lang="en-GB"/>
          </a:p>
        </p:txBody>
      </p:sp>
    </p:spTree>
    <p:extLst>
      <p:ext uri="{BB962C8B-B14F-4D97-AF65-F5344CB8AC3E}">
        <p14:creationId xmlns:p14="http://schemas.microsoft.com/office/powerpoint/2010/main" val="2928387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EBF79-EBD6-84AD-2B66-A46ADC69580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FB36E7F-483E-29BC-6368-66426C14A8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98DB6EA-D54D-0B77-3F2B-5127A8DC59CA}"/>
              </a:ext>
            </a:extLst>
          </p:cNvPr>
          <p:cNvSpPr>
            <a:spLocks noGrp="1"/>
          </p:cNvSpPr>
          <p:nvPr>
            <p:ph type="dt" sz="half" idx="10"/>
          </p:nvPr>
        </p:nvSpPr>
        <p:spPr/>
        <p:txBody>
          <a:bodyPr/>
          <a:lstStyle/>
          <a:p>
            <a:fld id="{328E9CEA-ECC5-4589-8116-1E14327DB538}" type="datetimeFigureOut">
              <a:rPr lang="en-GB" smtClean="0"/>
              <a:t>18/08/2026</a:t>
            </a:fld>
            <a:endParaRPr lang="en-GB"/>
          </a:p>
        </p:txBody>
      </p:sp>
      <p:sp>
        <p:nvSpPr>
          <p:cNvPr id="5" name="Footer Placeholder 4">
            <a:extLst>
              <a:ext uri="{FF2B5EF4-FFF2-40B4-BE49-F238E27FC236}">
                <a16:creationId xmlns:a16="http://schemas.microsoft.com/office/drawing/2014/main" id="{7527C89B-F40C-06D0-C794-A6B0E7E8A2E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4FB721F-0A4F-C428-C3C4-19BD236ED862}"/>
              </a:ext>
            </a:extLst>
          </p:cNvPr>
          <p:cNvSpPr>
            <a:spLocks noGrp="1"/>
          </p:cNvSpPr>
          <p:nvPr>
            <p:ph type="sldNum" sz="quarter" idx="12"/>
          </p:nvPr>
        </p:nvSpPr>
        <p:spPr/>
        <p:txBody>
          <a:bodyPr/>
          <a:lstStyle/>
          <a:p>
            <a:fld id="{200D8DE8-03B8-4CAF-BA91-05CDCE1629CC}" type="slidenum">
              <a:rPr lang="en-GB" smtClean="0"/>
              <a:t>‹#›</a:t>
            </a:fld>
            <a:endParaRPr lang="en-GB"/>
          </a:p>
        </p:txBody>
      </p:sp>
    </p:spTree>
    <p:extLst>
      <p:ext uri="{BB962C8B-B14F-4D97-AF65-F5344CB8AC3E}">
        <p14:creationId xmlns:p14="http://schemas.microsoft.com/office/powerpoint/2010/main" val="1249439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099D94-8495-27DA-DD1A-4BFA9D0EAF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DF6E72E-692C-2174-4545-7D60218808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0015022-D2F1-F08F-6665-C57A17DDF789}"/>
              </a:ext>
            </a:extLst>
          </p:cNvPr>
          <p:cNvSpPr>
            <a:spLocks noGrp="1"/>
          </p:cNvSpPr>
          <p:nvPr>
            <p:ph type="dt" sz="half" idx="10"/>
          </p:nvPr>
        </p:nvSpPr>
        <p:spPr/>
        <p:txBody>
          <a:bodyPr/>
          <a:lstStyle/>
          <a:p>
            <a:fld id="{328E9CEA-ECC5-4589-8116-1E14327DB538}" type="datetimeFigureOut">
              <a:rPr lang="en-GB" smtClean="0"/>
              <a:t>18/08/2026</a:t>
            </a:fld>
            <a:endParaRPr lang="en-GB"/>
          </a:p>
        </p:txBody>
      </p:sp>
      <p:sp>
        <p:nvSpPr>
          <p:cNvPr id="5" name="Footer Placeholder 4">
            <a:extLst>
              <a:ext uri="{FF2B5EF4-FFF2-40B4-BE49-F238E27FC236}">
                <a16:creationId xmlns:a16="http://schemas.microsoft.com/office/drawing/2014/main" id="{A2386E7C-6F60-C8A8-CB2B-FC5DA8FF2E4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7747AC-736A-4630-F160-51427EC9E47B}"/>
              </a:ext>
            </a:extLst>
          </p:cNvPr>
          <p:cNvSpPr>
            <a:spLocks noGrp="1"/>
          </p:cNvSpPr>
          <p:nvPr>
            <p:ph type="sldNum" sz="quarter" idx="12"/>
          </p:nvPr>
        </p:nvSpPr>
        <p:spPr/>
        <p:txBody>
          <a:bodyPr/>
          <a:lstStyle/>
          <a:p>
            <a:fld id="{200D8DE8-03B8-4CAF-BA91-05CDCE1629CC}" type="slidenum">
              <a:rPr lang="en-GB" smtClean="0"/>
              <a:t>‹#›</a:t>
            </a:fld>
            <a:endParaRPr lang="en-GB"/>
          </a:p>
        </p:txBody>
      </p:sp>
    </p:spTree>
    <p:extLst>
      <p:ext uri="{BB962C8B-B14F-4D97-AF65-F5344CB8AC3E}">
        <p14:creationId xmlns:p14="http://schemas.microsoft.com/office/powerpoint/2010/main" val="29598085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0BA539-558D-6CBD-5462-C7650CDDB3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2458B8D-C228-EA32-C28C-76AEDDC666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F8687E1-F1E2-8007-A5EA-9F34B78262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8E9CEA-ECC5-4589-8116-1E14327DB538}" type="datetimeFigureOut">
              <a:rPr lang="en-GB" smtClean="0"/>
              <a:t>18/08/2026</a:t>
            </a:fld>
            <a:endParaRPr lang="en-GB"/>
          </a:p>
        </p:txBody>
      </p:sp>
      <p:sp>
        <p:nvSpPr>
          <p:cNvPr id="5" name="Footer Placeholder 4">
            <a:extLst>
              <a:ext uri="{FF2B5EF4-FFF2-40B4-BE49-F238E27FC236}">
                <a16:creationId xmlns:a16="http://schemas.microsoft.com/office/drawing/2014/main" id="{72CAD3A6-2CD1-EC35-2591-29484D1604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A9920FE-E1DD-0E6C-1F5D-0711C9970B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0D8DE8-03B8-4CAF-BA91-05CDCE1629CC}" type="slidenum">
              <a:rPr lang="en-GB" smtClean="0"/>
              <a:t>‹#›</a:t>
            </a:fld>
            <a:endParaRPr lang="en-GB"/>
          </a:p>
        </p:txBody>
      </p:sp>
    </p:spTree>
    <p:extLst>
      <p:ext uri="{BB962C8B-B14F-4D97-AF65-F5344CB8AC3E}">
        <p14:creationId xmlns:p14="http://schemas.microsoft.com/office/powerpoint/2010/main" val="4213682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5.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61DB9-4E60-2436-6182-B553B3C29C7C}"/>
              </a:ext>
            </a:extLst>
          </p:cNvPr>
          <p:cNvSpPr>
            <a:spLocks noGrp="1"/>
          </p:cNvSpPr>
          <p:nvPr>
            <p:ph type="title"/>
          </p:nvPr>
        </p:nvSpPr>
        <p:spPr>
          <a:xfrm>
            <a:off x="838200" y="365125"/>
            <a:ext cx="10515600" cy="2723515"/>
          </a:xfrm>
        </p:spPr>
        <p:txBody>
          <a:bodyPr>
            <a:normAutofit/>
          </a:bodyPr>
          <a:lstStyle/>
          <a:p>
            <a:pPr algn="ctr"/>
            <a:r>
              <a:rPr lang="en-US" sz="6000" b="1" i="1" u="sng" dirty="0">
                <a:solidFill>
                  <a:schemeClr val="accent1"/>
                </a:solidFill>
                <a:effectLst>
                  <a:outerShdw blurRad="38100" dist="38100" dir="2700000" algn="tl">
                    <a:srgbClr val="000000">
                      <a:alpha val="43137"/>
                    </a:srgbClr>
                  </a:outerShdw>
                </a:effectLst>
              </a:rPr>
              <a:t>CYBER SECURITY BASICS PROJECT</a:t>
            </a:r>
            <a:endParaRPr lang="en-GB" sz="6000" b="1" i="1" u="sng" dirty="0">
              <a:solidFill>
                <a:schemeClr val="accent1"/>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96718762-DA31-9C4B-0C86-3D8D9379D4F0}"/>
              </a:ext>
            </a:extLst>
          </p:cNvPr>
          <p:cNvSpPr>
            <a:spLocks noGrp="1"/>
          </p:cNvSpPr>
          <p:nvPr>
            <p:ph idx="1"/>
          </p:nvPr>
        </p:nvSpPr>
        <p:spPr>
          <a:xfrm>
            <a:off x="838200" y="3007359"/>
            <a:ext cx="10347960" cy="3169603"/>
          </a:xfrm>
        </p:spPr>
        <p:txBody>
          <a:bodyPr>
            <a:normAutofit/>
          </a:bodyPr>
          <a:lstStyle/>
          <a:p>
            <a:pPr marL="0" indent="0" algn="ctr">
              <a:buNone/>
            </a:pPr>
            <a:endParaRPr lang="en-US" sz="4000" b="1" i="1" dirty="0">
              <a:solidFill>
                <a:srgbClr val="002060"/>
              </a:solidFill>
              <a:effectLst>
                <a:outerShdw blurRad="38100" dist="38100" dir="2700000" algn="tl">
                  <a:srgbClr val="000000">
                    <a:alpha val="43137"/>
                  </a:srgbClr>
                </a:outerShdw>
              </a:effectLst>
            </a:endParaRPr>
          </a:p>
          <a:p>
            <a:pPr marL="0" indent="0" algn="ctr">
              <a:buNone/>
            </a:pPr>
            <a:endParaRPr lang="en-US" sz="4000" b="1" i="1" dirty="0">
              <a:solidFill>
                <a:srgbClr val="002060"/>
              </a:solidFill>
              <a:effectLst>
                <a:outerShdw blurRad="38100" dist="38100" dir="2700000" algn="tl">
                  <a:srgbClr val="000000">
                    <a:alpha val="43137"/>
                  </a:srgbClr>
                </a:outerShdw>
              </a:effectLst>
            </a:endParaRPr>
          </a:p>
          <a:p>
            <a:pPr marL="0" indent="0" algn="ctr">
              <a:buNone/>
            </a:pPr>
            <a:r>
              <a:rPr lang="en-US" sz="4000" b="1" i="1" dirty="0">
                <a:solidFill>
                  <a:srgbClr val="002060"/>
                </a:solidFill>
                <a:effectLst>
                  <a:outerShdw blurRad="38100" dist="38100" dir="2700000" algn="tl">
                    <a:srgbClr val="000000">
                      <a:alpha val="43137"/>
                    </a:srgbClr>
                  </a:outerShdw>
                </a:effectLst>
              </a:rPr>
              <a:t>BY: JOEL AGBOIKE</a:t>
            </a:r>
            <a:endParaRPr lang="en-GB" sz="4000" b="1" i="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19766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2D0AC-B14F-DCA8-F129-407D93D957D9}"/>
              </a:ext>
            </a:extLst>
          </p:cNvPr>
          <p:cNvSpPr>
            <a:spLocks noGrp="1"/>
          </p:cNvSpPr>
          <p:nvPr>
            <p:ph type="ctrTitle"/>
          </p:nvPr>
        </p:nvSpPr>
        <p:spPr>
          <a:xfrm>
            <a:off x="1524000" y="1"/>
            <a:ext cx="9144000" cy="2407920"/>
          </a:xfrm>
        </p:spPr>
        <p:txBody>
          <a:bodyPr>
            <a:normAutofit/>
          </a:bodyPr>
          <a:lstStyle/>
          <a:p>
            <a:r>
              <a:rPr lang="en-US" sz="4000" b="1" dirty="0">
                <a:solidFill>
                  <a:schemeClr val="accent1"/>
                </a:solidFill>
              </a:rPr>
              <a:t>SECTION 1 — LINUX PRACTICAL </a:t>
            </a:r>
            <a:br>
              <a:rPr lang="en-US" sz="4000" b="1" dirty="0">
                <a:solidFill>
                  <a:schemeClr val="accent1"/>
                </a:solidFill>
              </a:rPr>
            </a:br>
            <a:br>
              <a:rPr lang="en-US" sz="4000" b="1" dirty="0"/>
            </a:br>
            <a:r>
              <a:rPr lang="en-US" sz="4000" dirty="0"/>
              <a:t> </a:t>
            </a:r>
            <a:r>
              <a:rPr lang="en-US" sz="4000" b="1" u="sng" dirty="0">
                <a:solidFill>
                  <a:srgbClr val="C00000"/>
                </a:solidFill>
              </a:rPr>
              <a:t>Task 1 — User and Directory Information</a:t>
            </a:r>
            <a:endParaRPr lang="en-GB" sz="4000" b="1" u="sng" dirty="0">
              <a:solidFill>
                <a:srgbClr val="C00000"/>
              </a:solidFill>
            </a:endParaRPr>
          </a:p>
        </p:txBody>
      </p:sp>
      <p:sp>
        <p:nvSpPr>
          <p:cNvPr id="3" name="Subtitle 2">
            <a:extLst>
              <a:ext uri="{FF2B5EF4-FFF2-40B4-BE49-F238E27FC236}">
                <a16:creationId xmlns:a16="http://schemas.microsoft.com/office/drawing/2014/main" id="{B93F1FA1-D71B-EC23-DB0A-165ABA66F42A}"/>
              </a:ext>
            </a:extLst>
          </p:cNvPr>
          <p:cNvSpPr>
            <a:spLocks noGrp="1"/>
          </p:cNvSpPr>
          <p:nvPr>
            <p:ph type="subTitle" idx="1"/>
          </p:nvPr>
        </p:nvSpPr>
        <p:spPr>
          <a:xfrm>
            <a:off x="807720" y="2682240"/>
            <a:ext cx="9860280" cy="4175760"/>
          </a:xfrm>
        </p:spPr>
        <p:txBody>
          <a:bodyPr/>
          <a:lstStyle/>
          <a:p>
            <a:r>
              <a:rPr lang="en-US" sz="3200" b="1" u="sng" dirty="0"/>
              <a:t>Assignment</a:t>
            </a:r>
          </a:p>
          <a:p>
            <a:endParaRPr lang="en-US" sz="3200" b="1" u="sng" dirty="0"/>
          </a:p>
          <a:p>
            <a:pPr marL="457200" indent="-457200">
              <a:buAutoNum type="arabicPeriod"/>
            </a:pPr>
            <a:r>
              <a:rPr lang="en-US" dirty="0"/>
              <a:t>Display your current working directory.</a:t>
            </a:r>
          </a:p>
          <a:p>
            <a:r>
              <a:rPr lang="en-US" dirty="0"/>
              <a:t>2. Display the current logged-in user.</a:t>
            </a:r>
          </a:p>
          <a:p>
            <a:r>
              <a:rPr lang="en-US" dirty="0"/>
              <a:t>3. List files in the current directory.</a:t>
            </a:r>
            <a:endParaRPr lang="en-GB" dirty="0"/>
          </a:p>
        </p:txBody>
      </p:sp>
    </p:spTree>
    <p:extLst>
      <p:ext uri="{BB962C8B-B14F-4D97-AF65-F5344CB8AC3E}">
        <p14:creationId xmlns:p14="http://schemas.microsoft.com/office/powerpoint/2010/main" val="706634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87325-778F-AD1E-021C-4294CAED665F}"/>
              </a:ext>
            </a:extLst>
          </p:cNvPr>
          <p:cNvSpPr>
            <a:spLocks noGrp="1"/>
          </p:cNvSpPr>
          <p:nvPr>
            <p:ph type="title"/>
          </p:nvPr>
        </p:nvSpPr>
        <p:spPr/>
        <p:txBody>
          <a:bodyPr/>
          <a:lstStyle/>
          <a:p>
            <a:r>
              <a:rPr lang="en-US" dirty="0"/>
              <a:t>1,2&amp;3</a:t>
            </a:r>
            <a:endParaRPr lang="en-GB" dirty="0"/>
          </a:p>
        </p:txBody>
      </p:sp>
      <p:pic>
        <p:nvPicPr>
          <p:cNvPr id="5" name="Content Placeholder 4">
            <a:extLst>
              <a:ext uri="{FF2B5EF4-FFF2-40B4-BE49-F238E27FC236}">
                <a16:creationId xmlns:a16="http://schemas.microsoft.com/office/drawing/2014/main" id="{E1073EE4-707C-6412-1667-F4F9CAB4F9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 y="1825624"/>
            <a:ext cx="11795760" cy="5032375"/>
          </a:xfrm>
        </p:spPr>
      </p:pic>
    </p:spTree>
    <p:extLst>
      <p:ext uri="{BB962C8B-B14F-4D97-AF65-F5344CB8AC3E}">
        <p14:creationId xmlns:p14="http://schemas.microsoft.com/office/powerpoint/2010/main" val="2949506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C6B7C-014A-8BE4-7B3B-A4E93B5220C2}"/>
              </a:ext>
            </a:extLst>
          </p:cNvPr>
          <p:cNvSpPr>
            <a:spLocks noGrp="1"/>
          </p:cNvSpPr>
          <p:nvPr>
            <p:ph type="title"/>
          </p:nvPr>
        </p:nvSpPr>
        <p:spPr/>
        <p:txBody>
          <a:bodyPr/>
          <a:lstStyle/>
          <a:p>
            <a:pPr algn="r"/>
            <a:r>
              <a:rPr lang="en-US" sz="4000" b="1" u="sng" dirty="0">
                <a:solidFill>
                  <a:srgbClr val="FF0000"/>
                </a:solidFill>
                <a:effectLst>
                  <a:outerShdw blurRad="38100" dist="38100" dir="2700000" algn="tl">
                    <a:srgbClr val="000000">
                      <a:alpha val="43137"/>
                    </a:srgbClr>
                  </a:outerShdw>
                </a:effectLst>
              </a:rPr>
              <a:t>Task 2 — Directory Navigation</a:t>
            </a:r>
            <a:r>
              <a:rPr lang="en-US" dirty="0"/>
              <a:t>				</a:t>
            </a:r>
            <a:endParaRPr lang="en-GB" sz="2800" b="1" i="1" dirty="0"/>
          </a:p>
        </p:txBody>
      </p:sp>
      <p:sp>
        <p:nvSpPr>
          <p:cNvPr id="3" name="Content Placeholder 2">
            <a:extLst>
              <a:ext uri="{FF2B5EF4-FFF2-40B4-BE49-F238E27FC236}">
                <a16:creationId xmlns:a16="http://schemas.microsoft.com/office/drawing/2014/main" id="{A9DA66F4-3196-0958-8626-92FC53B0816C}"/>
              </a:ext>
            </a:extLst>
          </p:cNvPr>
          <p:cNvSpPr>
            <a:spLocks noGrp="1"/>
          </p:cNvSpPr>
          <p:nvPr>
            <p:ph idx="1"/>
          </p:nvPr>
        </p:nvSpPr>
        <p:spPr/>
        <p:txBody>
          <a:bodyPr/>
          <a:lstStyle/>
          <a:p>
            <a:endParaRPr lang="en-US" dirty="0"/>
          </a:p>
          <a:p>
            <a:r>
              <a:rPr lang="en-US" b="1" i="1" dirty="0"/>
              <a:t>                                             Assignment</a:t>
            </a:r>
          </a:p>
          <a:p>
            <a:endParaRPr lang="en-US" dirty="0"/>
          </a:p>
          <a:p>
            <a:pPr algn="ctr"/>
            <a:r>
              <a:rPr lang="en-US" sz="1800" dirty="0"/>
              <a:t>1. Move into a directory.</a:t>
            </a:r>
          </a:p>
          <a:p>
            <a:pPr algn="ctr"/>
            <a:r>
              <a:rPr lang="en-US" sz="1800" dirty="0"/>
              <a:t>2. Return to the previous directory.</a:t>
            </a:r>
          </a:p>
          <a:p>
            <a:pPr algn="ctr"/>
            <a:r>
              <a:rPr lang="en-US" sz="1800" dirty="0"/>
              <a:t>3. Move into another </a:t>
            </a:r>
            <a:r>
              <a:rPr lang="en-US" sz="1800"/>
              <a:t>directory.</a:t>
            </a:r>
          </a:p>
          <a:p>
            <a:pPr algn="ctr"/>
            <a:r>
              <a:rPr lang="en-US" sz="1800"/>
              <a:t>4</a:t>
            </a:r>
            <a:r>
              <a:rPr lang="en-US" sz="1800" dirty="0"/>
              <a:t>. List the files inside it.</a:t>
            </a:r>
            <a:endParaRPr lang="en-GB" sz="1800" dirty="0"/>
          </a:p>
        </p:txBody>
      </p:sp>
    </p:spTree>
    <p:extLst>
      <p:ext uri="{BB962C8B-B14F-4D97-AF65-F5344CB8AC3E}">
        <p14:creationId xmlns:p14="http://schemas.microsoft.com/office/powerpoint/2010/main" val="26330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B8833-937A-317F-A3EE-B3823744A0FB}"/>
              </a:ext>
            </a:extLst>
          </p:cNvPr>
          <p:cNvSpPr>
            <a:spLocks noGrp="1"/>
          </p:cNvSpPr>
          <p:nvPr>
            <p:ph type="title"/>
          </p:nvPr>
        </p:nvSpPr>
        <p:spPr/>
        <p:txBody>
          <a:bodyPr/>
          <a:lstStyle/>
          <a:p>
            <a:r>
              <a:rPr lang="en-US" dirty="0"/>
              <a:t>1,2,3&amp;4</a:t>
            </a:r>
            <a:endParaRPr lang="en-GB" dirty="0"/>
          </a:p>
        </p:txBody>
      </p:sp>
      <p:pic>
        <p:nvPicPr>
          <p:cNvPr id="9" name="Content Placeholder 8">
            <a:extLst>
              <a:ext uri="{FF2B5EF4-FFF2-40B4-BE49-F238E27FC236}">
                <a16:creationId xmlns:a16="http://schemas.microsoft.com/office/drawing/2014/main" id="{9B1E91BE-3897-2EF1-7DCD-DB2AB74EBF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825624"/>
            <a:ext cx="12192000" cy="5140783"/>
          </a:xfrm>
        </p:spPr>
      </p:pic>
    </p:spTree>
    <p:extLst>
      <p:ext uri="{BB962C8B-B14F-4D97-AF65-F5344CB8AC3E}">
        <p14:creationId xmlns:p14="http://schemas.microsoft.com/office/powerpoint/2010/main" val="375296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FD33A-0190-8BE2-03FD-ADDC7E8F514E}"/>
              </a:ext>
            </a:extLst>
          </p:cNvPr>
          <p:cNvSpPr>
            <a:spLocks noGrp="1"/>
          </p:cNvSpPr>
          <p:nvPr>
            <p:ph type="title"/>
          </p:nvPr>
        </p:nvSpPr>
        <p:spPr/>
        <p:txBody>
          <a:bodyPr/>
          <a:lstStyle/>
          <a:p>
            <a:pPr algn="ctr"/>
            <a:r>
              <a:rPr lang="en-US" b="1" u="sng" dirty="0">
                <a:solidFill>
                  <a:srgbClr val="FF0000"/>
                </a:solidFill>
                <a:effectLst>
                  <a:outerShdw blurRad="38100" dist="38100" dir="2700000" algn="tl">
                    <a:srgbClr val="000000">
                      <a:alpha val="43137"/>
                    </a:srgbClr>
                  </a:outerShdw>
                </a:effectLst>
              </a:rPr>
              <a:t>Task 3 — File and Folder Creation</a:t>
            </a:r>
            <a:endParaRPr lang="en-GB" b="1" u="sng" dirty="0">
              <a:solidFill>
                <a:srgbClr val="FF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7BED7DE1-0F45-11E4-4B0F-F91615D0058C}"/>
              </a:ext>
            </a:extLst>
          </p:cNvPr>
          <p:cNvSpPr>
            <a:spLocks noGrp="1"/>
          </p:cNvSpPr>
          <p:nvPr>
            <p:ph idx="1"/>
          </p:nvPr>
        </p:nvSpPr>
        <p:spPr/>
        <p:txBody>
          <a:bodyPr/>
          <a:lstStyle/>
          <a:p>
            <a:pPr algn="ctr"/>
            <a:r>
              <a:rPr lang="en-US" dirty="0"/>
              <a:t> </a:t>
            </a:r>
            <a:r>
              <a:rPr lang="en-US" b="1" i="1" dirty="0"/>
              <a:t>Assignment</a:t>
            </a:r>
          </a:p>
          <a:p>
            <a:pPr algn="ctr"/>
            <a:endParaRPr lang="en-US" b="1" i="1" dirty="0"/>
          </a:p>
          <a:p>
            <a:pPr algn="ctr"/>
            <a:r>
              <a:rPr lang="en-US" sz="2000" dirty="0"/>
              <a:t>1. Create a folder for a project.</a:t>
            </a:r>
          </a:p>
          <a:p>
            <a:pPr algn="ctr"/>
            <a:r>
              <a:rPr lang="en-US" sz="2000" dirty="0"/>
              <a:t>2. Create multiple files inside the folder.</a:t>
            </a:r>
          </a:p>
          <a:p>
            <a:pPr algn="ctr"/>
            <a:r>
              <a:rPr lang="en-US" sz="2000" dirty="0"/>
              <a:t>3. Display detailed file information.</a:t>
            </a:r>
          </a:p>
          <a:p>
            <a:pPr algn="ctr"/>
            <a:r>
              <a:rPr lang="en-US" sz="2000" dirty="0"/>
              <a:t>4. Display hidden files.</a:t>
            </a:r>
            <a:endParaRPr lang="en-GB" sz="2000" dirty="0"/>
          </a:p>
        </p:txBody>
      </p:sp>
    </p:spTree>
    <p:extLst>
      <p:ext uri="{BB962C8B-B14F-4D97-AF65-F5344CB8AC3E}">
        <p14:creationId xmlns:p14="http://schemas.microsoft.com/office/powerpoint/2010/main" val="3954076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6827C-094C-3593-A7E9-3AAF8F6787E9}"/>
              </a:ext>
            </a:extLst>
          </p:cNvPr>
          <p:cNvSpPr>
            <a:spLocks noGrp="1"/>
          </p:cNvSpPr>
          <p:nvPr>
            <p:ph type="title"/>
          </p:nvPr>
        </p:nvSpPr>
        <p:spPr/>
        <p:txBody>
          <a:bodyPr/>
          <a:lstStyle/>
          <a:p>
            <a:r>
              <a:rPr lang="en-US" dirty="0"/>
              <a:t>1,2,3&amp;4</a:t>
            </a:r>
            <a:endParaRPr lang="en-GB" dirty="0"/>
          </a:p>
        </p:txBody>
      </p:sp>
      <p:pic>
        <p:nvPicPr>
          <p:cNvPr id="5" name="Content Placeholder 4">
            <a:extLst>
              <a:ext uri="{FF2B5EF4-FFF2-40B4-BE49-F238E27FC236}">
                <a16:creationId xmlns:a16="http://schemas.microsoft.com/office/drawing/2014/main" id="{28931D7E-25C4-B51C-0B18-0AA4D9F991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825624"/>
            <a:ext cx="12192000" cy="5032375"/>
          </a:xfrm>
        </p:spPr>
      </p:pic>
    </p:spTree>
    <p:extLst>
      <p:ext uri="{BB962C8B-B14F-4D97-AF65-F5344CB8AC3E}">
        <p14:creationId xmlns:p14="http://schemas.microsoft.com/office/powerpoint/2010/main" val="2578667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F3485-93BD-63EB-6572-B9F58BF2C524}"/>
              </a:ext>
            </a:extLst>
          </p:cNvPr>
          <p:cNvSpPr>
            <a:spLocks noGrp="1"/>
          </p:cNvSpPr>
          <p:nvPr>
            <p:ph type="title"/>
          </p:nvPr>
        </p:nvSpPr>
        <p:spPr/>
        <p:txBody>
          <a:bodyPr/>
          <a:lstStyle/>
          <a:p>
            <a:pPr algn="ctr"/>
            <a:r>
              <a:rPr lang="en-US" b="1" u="sng" dirty="0">
                <a:solidFill>
                  <a:srgbClr val="C00000"/>
                </a:solidFill>
              </a:rPr>
              <a:t>Task 4 — Viewing File Content</a:t>
            </a:r>
            <a:endParaRPr lang="en-GB" b="1" u="sng" dirty="0">
              <a:solidFill>
                <a:srgbClr val="C00000"/>
              </a:solidFill>
            </a:endParaRPr>
          </a:p>
        </p:txBody>
      </p:sp>
      <p:sp>
        <p:nvSpPr>
          <p:cNvPr id="3" name="Content Placeholder 2">
            <a:extLst>
              <a:ext uri="{FF2B5EF4-FFF2-40B4-BE49-F238E27FC236}">
                <a16:creationId xmlns:a16="http://schemas.microsoft.com/office/drawing/2014/main" id="{B75BE442-7CED-B877-F34D-1F3F81B1CB2F}"/>
              </a:ext>
            </a:extLst>
          </p:cNvPr>
          <p:cNvSpPr>
            <a:spLocks noGrp="1"/>
          </p:cNvSpPr>
          <p:nvPr>
            <p:ph idx="1"/>
          </p:nvPr>
        </p:nvSpPr>
        <p:spPr/>
        <p:txBody>
          <a:bodyPr/>
          <a:lstStyle/>
          <a:p>
            <a:pPr algn="ctr"/>
            <a:r>
              <a:rPr lang="en-US" dirty="0"/>
              <a:t> </a:t>
            </a:r>
            <a:r>
              <a:rPr lang="en-US" b="1" i="1" dirty="0"/>
              <a:t>Assignment</a:t>
            </a:r>
          </a:p>
          <a:p>
            <a:pPr algn="ctr"/>
            <a:endParaRPr lang="en-US" b="1" i="1" dirty="0"/>
          </a:p>
          <a:p>
            <a:pPr algn="ctr"/>
            <a:r>
              <a:rPr lang="en-US" dirty="0"/>
              <a:t>1. Create a text file.</a:t>
            </a:r>
          </a:p>
          <a:p>
            <a:pPr algn="ctr"/>
            <a:r>
              <a:rPr lang="en-US" dirty="0"/>
              <a:t>2. Add multiple lines into the file.</a:t>
            </a:r>
          </a:p>
          <a:p>
            <a:pPr algn="ctr"/>
            <a:r>
              <a:rPr lang="en-US" dirty="0"/>
              <a:t>3. Display the full content.</a:t>
            </a:r>
          </a:p>
          <a:p>
            <a:pPr algn="ctr"/>
            <a:r>
              <a:rPr lang="en-US" dirty="0"/>
              <a:t>4. Display only the beginning of the file.</a:t>
            </a:r>
          </a:p>
          <a:p>
            <a:pPr algn="ctr"/>
            <a:r>
              <a:rPr lang="en-US" dirty="0"/>
              <a:t>5. Display only the end of the file.</a:t>
            </a:r>
          </a:p>
          <a:p>
            <a:pPr algn="ctr"/>
            <a:r>
              <a:rPr lang="en-US" dirty="0"/>
              <a:t>6. Open the file</a:t>
            </a:r>
            <a:endParaRPr lang="en-GB" dirty="0"/>
          </a:p>
        </p:txBody>
      </p:sp>
    </p:spTree>
    <p:extLst>
      <p:ext uri="{BB962C8B-B14F-4D97-AF65-F5344CB8AC3E}">
        <p14:creationId xmlns:p14="http://schemas.microsoft.com/office/powerpoint/2010/main" val="2230509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17899-DC75-B2F8-5569-7F906154FD5F}"/>
              </a:ext>
            </a:extLst>
          </p:cNvPr>
          <p:cNvSpPr>
            <a:spLocks noGrp="1"/>
          </p:cNvSpPr>
          <p:nvPr>
            <p:ph type="title"/>
          </p:nvPr>
        </p:nvSpPr>
        <p:spPr/>
        <p:txBody>
          <a:bodyPr/>
          <a:lstStyle/>
          <a:p>
            <a:r>
              <a:rPr lang="en-US" dirty="0"/>
              <a:t>1,2&amp;3</a:t>
            </a:r>
            <a:endParaRPr lang="en-GB" dirty="0"/>
          </a:p>
        </p:txBody>
      </p:sp>
      <p:pic>
        <p:nvPicPr>
          <p:cNvPr id="5" name="Content Placeholder 4">
            <a:extLst>
              <a:ext uri="{FF2B5EF4-FFF2-40B4-BE49-F238E27FC236}">
                <a16:creationId xmlns:a16="http://schemas.microsoft.com/office/drawing/2014/main" id="{FE3C68C7-63B9-FE85-F982-1E0D800D2D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867" y="1775724"/>
            <a:ext cx="11994036" cy="5032375"/>
          </a:xfrm>
        </p:spPr>
      </p:pic>
    </p:spTree>
    <p:extLst>
      <p:ext uri="{BB962C8B-B14F-4D97-AF65-F5344CB8AC3E}">
        <p14:creationId xmlns:p14="http://schemas.microsoft.com/office/powerpoint/2010/main" val="1406108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CDA92-30CD-E61B-07A0-F6EED50E39D9}"/>
              </a:ext>
            </a:extLst>
          </p:cNvPr>
          <p:cNvSpPr>
            <a:spLocks noGrp="1"/>
          </p:cNvSpPr>
          <p:nvPr>
            <p:ph type="title"/>
          </p:nvPr>
        </p:nvSpPr>
        <p:spPr/>
        <p:txBody>
          <a:bodyPr/>
          <a:lstStyle/>
          <a:p>
            <a:r>
              <a:rPr lang="en-US" dirty="0"/>
              <a:t>4&amp;5</a:t>
            </a:r>
            <a:endParaRPr lang="en-GB" dirty="0"/>
          </a:p>
        </p:txBody>
      </p:sp>
      <p:pic>
        <p:nvPicPr>
          <p:cNvPr id="5" name="Content Placeholder 4">
            <a:extLst>
              <a:ext uri="{FF2B5EF4-FFF2-40B4-BE49-F238E27FC236}">
                <a16:creationId xmlns:a16="http://schemas.microsoft.com/office/drawing/2014/main" id="{9E2A8E68-A6BA-ED25-6516-588478751D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825624"/>
            <a:ext cx="12192000" cy="5032375"/>
          </a:xfrm>
        </p:spPr>
      </p:pic>
    </p:spTree>
    <p:extLst>
      <p:ext uri="{BB962C8B-B14F-4D97-AF65-F5344CB8AC3E}">
        <p14:creationId xmlns:p14="http://schemas.microsoft.com/office/powerpoint/2010/main" val="3008164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A6CB9-25ED-1A95-D3DB-E9C9498311B0}"/>
              </a:ext>
            </a:extLst>
          </p:cNvPr>
          <p:cNvSpPr>
            <a:spLocks noGrp="1"/>
          </p:cNvSpPr>
          <p:nvPr>
            <p:ph type="title"/>
          </p:nvPr>
        </p:nvSpPr>
        <p:spPr/>
        <p:txBody>
          <a:bodyPr/>
          <a:lstStyle/>
          <a:p>
            <a:r>
              <a:rPr lang="en-US" dirty="0"/>
              <a:t>6</a:t>
            </a:r>
            <a:br>
              <a:rPr lang="en-US" dirty="0"/>
            </a:br>
            <a:r>
              <a:rPr lang="en-US" dirty="0"/>
              <a:t>using; nano </a:t>
            </a:r>
            <a:r>
              <a:rPr lang="en-GB" dirty="0"/>
              <a:t>assignment.txt</a:t>
            </a:r>
          </a:p>
        </p:txBody>
      </p:sp>
      <p:pic>
        <p:nvPicPr>
          <p:cNvPr id="5" name="Content Placeholder 4">
            <a:extLst>
              <a:ext uri="{FF2B5EF4-FFF2-40B4-BE49-F238E27FC236}">
                <a16:creationId xmlns:a16="http://schemas.microsoft.com/office/drawing/2014/main" id="{13594D04-92BA-3D12-F760-23F68774A7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825624"/>
            <a:ext cx="12192000" cy="5032375"/>
          </a:xfrm>
        </p:spPr>
      </p:pic>
    </p:spTree>
    <p:extLst>
      <p:ext uri="{BB962C8B-B14F-4D97-AF65-F5344CB8AC3E}">
        <p14:creationId xmlns:p14="http://schemas.microsoft.com/office/powerpoint/2010/main" val="550910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75E81-7950-23B1-FF19-E752C4578E63}"/>
              </a:ext>
            </a:extLst>
          </p:cNvPr>
          <p:cNvSpPr>
            <a:spLocks noGrp="1"/>
          </p:cNvSpPr>
          <p:nvPr>
            <p:ph type="title"/>
          </p:nvPr>
        </p:nvSpPr>
        <p:spPr/>
        <p:txBody>
          <a:bodyPr/>
          <a:lstStyle/>
          <a:p>
            <a:r>
              <a:rPr lang="en-US" b="1" u="sng" dirty="0"/>
              <a:t>NB:</a:t>
            </a:r>
            <a:br>
              <a:rPr lang="en-US" dirty="0"/>
            </a:br>
            <a:r>
              <a:rPr lang="en-US" dirty="0"/>
              <a:t>I used; cat &lt;&lt; 'EOF' &gt; assignment.txt</a:t>
            </a:r>
            <a:endParaRPr lang="en-GB" dirty="0"/>
          </a:p>
        </p:txBody>
      </p:sp>
      <p:sp>
        <p:nvSpPr>
          <p:cNvPr id="4" name="Rectangle 1">
            <a:extLst>
              <a:ext uri="{FF2B5EF4-FFF2-40B4-BE49-F238E27FC236}">
                <a16:creationId xmlns:a16="http://schemas.microsoft.com/office/drawing/2014/main" id="{DE0700C7-7DD2-EE96-AF15-1D0062F7978A}"/>
              </a:ext>
            </a:extLst>
          </p:cNvPr>
          <p:cNvSpPr>
            <a:spLocks noGrp="1" noChangeArrowheads="1"/>
          </p:cNvSpPr>
          <p:nvPr>
            <p:ph idx="1"/>
          </p:nvPr>
        </p:nvSpPr>
        <p:spPr bwMode="auto">
          <a:xfrm>
            <a:off x="838200" y="2416247"/>
            <a:ext cx="11138306"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Unicode MS"/>
              </a:rPr>
              <a:t>cat</a:t>
            </a:r>
            <a:r>
              <a:rPr kumimoji="0" lang="en-US" altLang="en-US" sz="2000" b="0" i="0" u="none" strike="noStrike" cap="none" normalizeH="0" baseline="0" dirty="0">
                <a:ln>
                  <a:noFill/>
                </a:ln>
                <a:solidFill>
                  <a:schemeClr val="tx1"/>
                </a:solidFill>
                <a:effectLst/>
              </a:rPr>
              <a:t>: This command normally reads files, but when used alone, it reads whatever you type directly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into the terminal.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Unicode MS"/>
              </a:rPr>
              <a:t>&gt;</a:t>
            </a:r>
            <a:r>
              <a:rPr kumimoji="0" lang="en-US" altLang="en-US" sz="2000" b="1" i="0" u="none" strike="noStrike" cap="none" normalizeH="0" baseline="0" dirty="0">
                <a:ln>
                  <a:noFill/>
                </a:ln>
                <a:solidFill>
                  <a:schemeClr val="tx1"/>
                </a:solidFill>
                <a:effectLst/>
              </a:rPr>
              <a:t> </a:t>
            </a:r>
            <a:r>
              <a:rPr kumimoji="0" lang="en-US" altLang="en-US" sz="2000" b="1" i="0" u="none" strike="noStrike" cap="none" normalizeH="0" baseline="0" dirty="0">
                <a:ln>
                  <a:noFill/>
                </a:ln>
                <a:solidFill>
                  <a:schemeClr val="tx1"/>
                </a:solidFill>
                <a:effectLst/>
                <a:latin typeface="Arial Unicode MS"/>
              </a:rPr>
              <a:t>assignment.txt</a:t>
            </a:r>
            <a:r>
              <a:rPr kumimoji="0" lang="en-US" altLang="en-US" sz="2000" b="0" i="0" u="none" strike="noStrike" cap="none" normalizeH="0" baseline="0" dirty="0">
                <a:ln>
                  <a:noFill/>
                </a:ln>
                <a:solidFill>
                  <a:schemeClr val="tx1"/>
                </a:solidFill>
                <a:effectLst/>
              </a:rPr>
              <a:t>: This redirects the output. Instead of spitting your text back out onto the screen,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 it sends it straight into a file named </a:t>
            </a:r>
            <a:r>
              <a:rPr kumimoji="0" lang="en-US" altLang="en-US" sz="2000" b="0" i="0" u="none" strike="noStrike" cap="none" normalizeH="0" baseline="0" dirty="0">
                <a:ln>
                  <a:noFill/>
                </a:ln>
                <a:solidFill>
                  <a:schemeClr val="tx1"/>
                </a:solidFill>
                <a:effectLst/>
                <a:latin typeface="Arial Unicode MS"/>
              </a:rPr>
              <a:t>assignment.txt</a:t>
            </a:r>
            <a:r>
              <a:rPr kumimoji="0" lang="en-US" altLang="en-US" sz="2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Unicode MS"/>
              </a:rPr>
              <a:t>&lt;&lt;</a:t>
            </a:r>
            <a:r>
              <a:rPr kumimoji="0" lang="en-US" altLang="en-US" sz="2000" b="0" i="0" u="none" strike="noStrike" cap="none" normalizeH="0" baseline="0" dirty="0">
                <a:ln>
                  <a:noFill/>
                </a:ln>
                <a:solidFill>
                  <a:schemeClr val="tx1"/>
                </a:solidFill>
                <a:effectLst/>
              </a:rPr>
              <a:t>: This is the </a:t>
            </a:r>
            <a:r>
              <a:rPr kumimoji="0" lang="en-US" altLang="en-US" sz="2000" b="1" i="0" u="none" strike="noStrike" cap="none" normalizeH="0" baseline="0" dirty="0">
                <a:ln>
                  <a:noFill/>
                </a:ln>
                <a:solidFill>
                  <a:schemeClr val="tx1"/>
                </a:solidFill>
                <a:effectLst/>
                <a:latin typeface="Arial" panose="020B0604020202020204" pitchFamily="34" charset="0"/>
              </a:rPr>
              <a:t>Heredoc operator</a:t>
            </a:r>
            <a:r>
              <a:rPr kumimoji="0" lang="en-US" altLang="en-US" sz="2000" b="0" i="0" u="none" strike="noStrike" cap="none" normalizeH="0" baseline="0" dirty="0">
                <a:ln>
                  <a:noFill/>
                </a:ln>
                <a:solidFill>
                  <a:schemeClr val="tx1"/>
                </a:solidFill>
                <a:effectLst/>
                <a:latin typeface="Arial" panose="020B0604020202020204" pitchFamily="34" charset="0"/>
              </a:rPr>
              <a:t>. It tells the shell: "Get ready, input stream coming up!“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Unicode MS"/>
              </a:rPr>
              <a:t>'EOF'</a:t>
            </a:r>
            <a:r>
              <a:rPr kumimoji="0" lang="en-US" altLang="en-US" sz="2000" b="0" i="0" u="none" strike="noStrike" cap="none" normalizeH="0" baseline="0" dirty="0">
                <a:ln>
                  <a:noFill/>
                </a:ln>
                <a:solidFill>
                  <a:schemeClr val="tx1"/>
                </a:solidFill>
                <a:effectLst/>
              </a:rPr>
              <a:t>: This is your custom </a:t>
            </a:r>
            <a:r>
              <a:rPr kumimoji="0" lang="en-US" altLang="en-US" sz="2000" b="1" i="0" u="none" strike="noStrike" cap="none" normalizeH="0" baseline="0" dirty="0">
                <a:ln>
                  <a:noFill/>
                </a:ln>
                <a:solidFill>
                  <a:schemeClr val="tx1"/>
                </a:solidFill>
                <a:effectLst/>
                <a:latin typeface="Arial" panose="020B0604020202020204" pitchFamily="34" charset="0"/>
              </a:rPr>
              <a:t>stop sign</a:t>
            </a:r>
            <a:r>
              <a:rPr kumimoji="0" lang="en-US" altLang="en-US" sz="2000" b="0" i="0" u="none" strike="noStrike" cap="none" normalizeH="0" baseline="0" dirty="0">
                <a:ln>
                  <a:noFill/>
                </a:ln>
                <a:solidFill>
                  <a:schemeClr val="tx1"/>
                </a:solidFill>
                <a:effectLst/>
                <a:latin typeface="Arial" panose="020B0604020202020204" pitchFamily="34" charset="0"/>
              </a:rPr>
              <a:t>. You are telling Linux, </a:t>
            </a:r>
            <a:r>
              <a:rPr kumimoji="0" lang="en-US" altLang="en-US" sz="2000" b="0" i="1" u="none" strike="noStrike" cap="none" normalizeH="0" baseline="0" dirty="0">
                <a:ln>
                  <a:noFill/>
                </a:ln>
                <a:solidFill>
                  <a:schemeClr val="tx1"/>
                </a:solidFill>
                <a:effectLst/>
                <a:latin typeface="Arial" panose="020B0604020202020204" pitchFamily="34" charset="0"/>
              </a:rPr>
              <a:t>"Keep recording everything I type until</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1" u="none" strike="noStrike" cap="none" normalizeH="0" baseline="0" dirty="0">
                <a:ln>
                  <a:noFill/>
                </a:ln>
                <a:solidFill>
                  <a:schemeClr val="tx1"/>
                </a:solidFill>
                <a:effectLst/>
                <a:latin typeface="Arial" panose="020B0604020202020204" pitchFamily="34" charset="0"/>
              </a:rPr>
              <a:t> you see a line that contains exactly this word."</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07745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780F9-475A-897A-ABE4-EB42B8180B00}"/>
              </a:ext>
            </a:extLst>
          </p:cNvPr>
          <p:cNvSpPr>
            <a:spLocks noGrp="1"/>
          </p:cNvSpPr>
          <p:nvPr>
            <p:ph type="title"/>
          </p:nvPr>
        </p:nvSpPr>
        <p:spPr/>
        <p:txBody>
          <a:bodyPr>
            <a:noAutofit/>
          </a:bodyPr>
          <a:lstStyle/>
          <a:p>
            <a:r>
              <a:rPr lang="en-US" sz="2000" b="1" u="sng" dirty="0"/>
              <a:t>Why use EOF? Can it be any word?</a:t>
            </a:r>
            <a:br>
              <a:rPr lang="en-US" sz="2000" b="1" u="sng" dirty="0"/>
            </a:br>
            <a:r>
              <a:rPr lang="en-US" sz="2000" b="1" dirty="0"/>
              <a:t>Yes!</a:t>
            </a:r>
            <a:r>
              <a:rPr lang="en-US" sz="2000" dirty="0"/>
              <a:t> EOF is just an industry-standard convention. Linux doesn't care what the word is, as long as the starting word matches the ending word perfectly.</a:t>
            </a:r>
            <a:br>
              <a:rPr lang="en-US" sz="2000" dirty="0"/>
            </a:br>
            <a:r>
              <a:rPr lang="en-US" sz="2000" dirty="0"/>
              <a:t>For example, this works exactly the same way:</a:t>
            </a:r>
            <a:br>
              <a:rPr lang="en-US" sz="2000" dirty="0"/>
            </a:br>
            <a:endParaRPr lang="en-GB" sz="2000" dirty="0"/>
          </a:p>
        </p:txBody>
      </p:sp>
      <p:sp>
        <p:nvSpPr>
          <p:cNvPr id="4" name="Rectangle 1">
            <a:extLst>
              <a:ext uri="{FF2B5EF4-FFF2-40B4-BE49-F238E27FC236}">
                <a16:creationId xmlns:a16="http://schemas.microsoft.com/office/drawing/2014/main" id="{5E84616D-7750-E029-46BC-08C97BBDF040}"/>
              </a:ext>
            </a:extLst>
          </p:cNvPr>
          <p:cNvSpPr>
            <a:spLocks noGrp="1" noChangeArrowheads="1"/>
          </p:cNvSpPr>
          <p:nvPr>
            <p:ph idx="1"/>
          </p:nvPr>
        </p:nvSpPr>
        <p:spPr bwMode="auto">
          <a:xfrm>
            <a:off x="838200" y="1323642"/>
            <a:ext cx="10149445"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1800" dirty="0">
                <a:latin typeface="Arial Unicode MS"/>
              </a:rPr>
              <a:t>cat &lt;&lt; ‘WOSH' &gt; recipe.txt</a:t>
            </a:r>
          </a:p>
          <a:p>
            <a:pPr marL="0" lvl="0" indent="0" eaLnBrk="0" fontAlgn="base" hangingPunct="0">
              <a:lnSpc>
                <a:spcPct val="100000"/>
              </a:lnSpc>
              <a:spcBef>
                <a:spcPct val="0"/>
              </a:spcBef>
              <a:spcAft>
                <a:spcPct val="0"/>
              </a:spcAft>
              <a:buNone/>
            </a:pPr>
            <a:r>
              <a:rPr lang="en-US" altLang="en-US" sz="1800" dirty="0">
                <a:latin typeface="Arial Unicode MS"/>
              </a:rPr>
              <a:t>Flour</a:t>
            </a:r>
          </a:p>
          <a:p>
            <a:pPr marL="0" lvl="0" indent="0" eaLnBrk="0" fontAlgn="base" hangingPunct="0">
              <a:lnSpc>
                <a:spcPct val="100000"/>
              </a:lnSpc>
              <a:spcBef>
                <a:spcPct val="0"/>
              </a:spcBef>
              <a:spcAft>
                <a:spcPct val="0"/>
              </a:spcAft>
              <a:buNone/>
            </a:pPr>
            <a:r>
              <a:rPr lang="en-US" altLang="en-US" sz="1800" dirty="0">
                <a:latin typeface="Arial Unicode MS"/>
              </a:rPr>
              <a:t>Sugar</a:t>
            </a:r>
          </a:p>
          <a:p>
            <a:pPr marL="0" lvl="0" indent="0" eaLnBrk="0" fontAlgn="base" hangingPunct="0">
              <a:lnSpc>
                <a:spcPct val="100000"/>
              </a:lnSpc>
              <a:spcBef>
                <a:spcPct val="0"/>
              </a:spcBef>
              <a:spcAft>
                <a:spcPct val="0"/>
              </a:spcAft>
              <a:buNone/>
            </a:pPr>
            <a:r>
              <a:rPr lang="en-US" altLang="en-US" sz="1800" dirty="0">
                <a:latin typeface="Arial Unicode MS"/>
              </a:rPr>
              <a:t>Eggs</a:t>
            </a:r>
          </a:p>
          <a:p>
            <a:pPr marL="0" lvl="0" indent="0" eaLnBrk="0" fontAlgn="base" hangingPunct="0">
              <a:lnSpc>
                <a:spcPct val="100000"/>
              </a:lnSpc>
              <a:spcBef>
                <a:spcPct val="0"/>
              </a:spcBef>
              <a:spcAft>
                <a:spcPct val="0"/>
              </a:spcAft>
              <a:buNone/>
            </a:pPr>
            <a:r>
              <a:rPr lang="en-US" altLang="en-US" sz="1800" dirty="0">
                <a:latin typeface="Arial Unicode MS"/>
              </a:rPr>
              <a:t>WOSH </a:t>
            </a:r>
          </a:p>
          <a:p>
            <a:pPr marL="0" lv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Unicode MS"/>
            </a:endParaRPr>
          </a:p>
          <a:p>
            <a:pPr marL="0" lvl="0" indent="0" eaLnBrk="0" fontAlgn="base" hangingPunct="0">
              <a:lnSpc>
                <a:spcPct val="10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The moment you hit Enter on that final </a:t>
            </a:r>
            <a:r>
              <a:rPr lang="en-US" altLang="en-US" sz="1800" dirty="0">
                <a:latin typeface="Arial Unicode MS"/>
              </a:rPr>
              <a:t>WOSH</a:t>
            </a:r>
            <a:r>
              <a:rPr kumimoji="0" lang="en-US" altLang="en-US" sz="1800" b="0" i="0" u="none" strike="noStrike" cap="none" normalizeH="0" baseline="0" dirty="0">
                <a:ln>
                  <a:noFill/>
                </a:ln>
                <a:solidFill>
                  <a:schemeClr val="tx1"/>
                </a:solidFill>
                <a:effectLst/>
              </a:rPr>
              <a:t> or </a:t>
            </a:r>
            <a:r>
              <a:rPr kumimoji="0" lang="en-US" altLang="en-US" sz="1800" b="0" i="0" u="none" strike="noStrike" cap="none" normalizeH="0" baseline="0" dirty="0">
                <a:ln>
                  <a:noFill/>
                </a:ln>
                <a:solidFill>
                  <a:schemeClr val="tx1"/>
                </a:solidFill>
                <a:effectLst/>
                <a:latin typeface="Arial Unicode MS"/>
              </a:rPr>
              <a:t>EOF</a:t>
            </a:r>
            <a:r>
              <a:rPr kumimoji="0" lang="en-US" altLang="en-US" sz="1800" b="0" i="0" u="none" strike="noStrike" cap="none" normalizeH="0" baseline="0" dirty="0">
                <a:ln>
                  <a:noFill/>
                </a:ln>
                <a:solidFill>
                  <a:schemeClr val="tx1"/>
                </a:solidFill>
                <a:effectLst/>
              </a:rPr>
              <a:t> line, Linux realizes you are done, closes the file,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 and hands control of the terminal back to you.</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b="1" u="sng" dirty="0">
                <a:solidFill>
                  <a:srgbClr val="C00000"/>
                </a:solidFill>
                <a:latin typeface="Arial" panose="020B0604020202020204" pitchFamily="34" charset="0"/>
              </a:rPr>
              <a:t>Again</a:t>
            </a:r>
            <a:r>
              <a:rPr kumimoji="0" lang="en-US" altLang="en-US" sz="1800" b="1" i="0" u="sng" strike="noStrike" cap="none" normalizeH="0" baseline="0" dirty="0">
                <a:ln>
                  <a:noFill/>
                </a:ln>
                <a:solidFill>
                  <a:srgbClr val="C00000"/>
                </a:solidFill>
                <a:effectLst/>
                <a:latin typeface="Arial" panose="020B0604020202020204" pitchFamily="34" charset="0"/>
              </a:rPr>
              <a:t>:</a:t>
            </a:r>
            <a:r>
              <a:rPr kumimoji="0" lang="en-US" altLang="en-US" sz="1800" b="1" i="0" u="none" strike="noStrike" cap="none" normalizeH="0" baseline="0" dirty="0">
                <a:ln>
                  <a:noFill/>
                </a:ln>
                <a:solidFill>
                  <a:schemeClr val="tx1"/>
                </a:solidFill>
                <a:effectLst/>
                <a:latin typeface="Arial" panose="020B0604020202020204" pitchFamily="34" charset="0"/>
              </a:rPr>
              <a:t> The Quotes Matter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You might have noticed I put single quotes around the first </a:t>
            </a:r>
            <a:r>
              <a:rPr kumimoji="0" lang="en-US" altLang="en-US" sz="1800" b="0" i="0" u="none" strike="noStrike" cap="none" normalizeH="0" baseline="0" dirty="0">
                <a:ln>
                  <a:noFill/>
                </a:ln>
                <a:solidFill>
                  <a:schemeClr val="tx1"/>
                </a:solidFill>
                <a:effectLst/>
                <a:latin typeface="Arial Unicode MS"/>
              </a:rPr>
              <a:t>'EOF'</a:t>
            </a:r>
            <a:r>
              <a:rPr kumimoji="0" lang="en-US" altLang="en-US" sz="1800" b="0" i="0" u="none" strike="noStrike" cap="none" normalizeH="0" baseline="0" dirty="0">
                <a:ln>
                  <a:noFill/>
                </a:ln>
                <a:solidFill>
                  <a:schemeClr val="tx1"/>
                </a:solidFill>
                <a:effectLst/>
              </a:rPr>
              <a:t>. Here is why that matters: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With Quotes (</a:t>
            </a:r>
            <a:r>
              <a:rPr kumimoji="0" lang="en-US" altLang="en-US" sz="1800" b="1" i="0" u="none" strike="noStrike" cap="none" normalizeH="0" baseline="0" dirty="0">
                <a:ln>
                  <a:noFill/>
                </a:ln>
                <a:solidFill>
                  <a:schemeClr val="tx1"/>
                </a:solidFill>
                <a:effectLst/>
                <a:latin typeface="Arial Unicode MS"/>
              </a:rPr>
              <a:t>'EOF'</a:t>
            </a:r>
            <a:r>
              <a:rPr kumimoji="0" lang="en-US" altLang="en-US" sz="1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latin typeface="Arial" panose="020B0604020202020204" pitchFamily="34" charset="0"/>
              </a:rPr>
              <a:t>: Linux treats everything you type 100% literally. If you type </a:t>
            </a:r>
            <a:r>
              <a:rPr kumimoji="0" lang="en-US" altLang="en-US" sz="1800" b="0" i="0" u="none" strike="noStrike" cap="none" normalizeH="0" baseline="0" dirty="0">
                <a:ln>
                  <a:noFill/>
                </a:ln>
                <a:solidFill>
                  <a:schemeClr val="tx1"/>
                </a:solidFill>
                <a:effectLst/>
                <a:latin typeface="Arial Unicode MS"/>
              </a:rPr>
              <a:t>$USER</a:t>
            </a: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it writes literally </a:t>
            </a:r>
            <a:r>
              <a:rPr kumimoji="0" lang="en-US" altLang="en-US" sz="1800" b="0" i="0" u="none" strike="noStrike" cap="none" normalizeH="0" baseline="0" dirty="0">
                <a:ln>
                  <a:noFill/>
                </a:ln>
                <a:solidFill>
                  <a:schemeClr val="tx1"/>
                </a:solidFill>
                <a:effectLst/>
                <a:latin typeface="Arial Unicode MS"/>
              </a:rPr>
              <a:t>$USER</a:t>
            </a:r>
            <a:r>
              <a:rPr kumimoji="0" lang="en-US" altLang="en-US" sz="1800" b="0" i="0" u="none" strike="noStrike" cap="none" normalizeH="0" baseline="0" dirty="0">
                <a:ln>
                  <a:noFill/>
                </a:ln>
                <a:solidFill>
                  <a:schemeClr val="tx1"/>
                </a:solidFill>
                <a:effectLst/>
              </a:rPr>
              <a:t> into the file.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Without Quotes (</a:t>
            </a:r>
            <a:r>
              <a:rPr kumimoji="0" lang="en-US" altLang="en-US" sz="1800" b="1" i="0" u="none" strike="noStrike" cap="none" normalizeH="0" baseline="0" dirty="0">
                <a:ln>
                  <a:noFill/>
                </a:ln>
                <a:solidFill>
                  <a:schemeClr val="tx1"/>
                </a:solidFill>
                <a:effectLst/>
                <a:latin typeface="Arial Unicode MS"/>
              </a:rPr>
              <a:t>EOF</a:t>
            </a:r>
            <a:r>
              <a:rPr kumimoji="0" lang="en-US" altLang="en-US" sz="1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latin typeface="Arial" panose="020B0604020202020204" pitchFamily="34" charset="0"/>
              </a:rPr>
              <a:t>: Linux will actually evaluate variables on the fly. If you type </a:t>
            </a:r>
            <a:r>
              <a:rPr kumimoji="0" lang="en-US" altLang="en-US" sz="1800" b="0" i="0" u="none" strike="noStrike" cap="none" normalizeH="0" baseline="0" dirty="0">
                <a:ln>
                  <a:noFill/>
                </a:ln>
                <a:solidFill>
                  <a:schemeClr val="tx1"/>
                </a:solidFill>
                <a:effectLst/>
                <a:latin typeface="Arial Unicode MS"/>
              </a:rPr>
              <a:t>$USER</a:t>
            </a: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it will secretly swap that out for your actual account username inside the file before saving it.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59227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E9368-99F2-C77B-B979-A97D3889E357}"/>
              </a:ext>
            </a:extLst>
          </p:cNvPr>
          <p:cNvSpPr>
            <a:spLocks noGrp="1"/>
          </p:cNvSpPr>
          <p:nvPr>
            <p:ph type="title"/>
          </p:nvPr>
        </p:nvSpPr>
        <p:spPr/>
        <p:txBody>
          <a:bodyPr/>
          <a:lstStyle/>
          <a:p>
            <a:pPr algn="ctr"/>
            <a:r>
              <a:rPr lang="en-US" b="1" u="sng" dirty="0">
                <a:solidFill>
                  <a:srgbClr val="C00000"/>
                </a:solidFill>
                <a:effectLst>
                  <a:outerShdw blurRad="38100" dist="38100" dir="2700000" algn="tl">
                    <a:srgbClr val="000000">
                      <a:alpha val="43137"/>
                    </a:srgbClr>
                  </a:outerShdw>
                </a:effectLst>
              </a:rPr>
              <a:t>Task 5 — Searching Inside Files</a:t>
            </a:r>
            <a:endParaRPr lang="en-GB" b="1" u="sng"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8F51D072-7471-ABA9-1B58-9550BEA4D93F}"/>
              </a:ext>
            </a:extLst>
          </p:cNvPr>
          <p:cNvSpPr>
            <a:spLocks noGrp="1"/>
          </p:cNvSpPr>
          <p:nvPr>
            <p:ph idx="1"/>
          </p:nvPr>
        </p:nvSpPr>
        <p:spPr/>
        <p:txBody>
          <a:bodyPr/>
          <a:lstStyle/>
          <a:p>
            <a:pPr marL="0" indent="0" algn="ctr">
              <a:buNone/>
            </a:pPr>
            <a:r>
              <a:rPr lang="en-US" b="1" i="1" dirty="0"/>
              <a:t>Assignment</a:t>
            </a:r>
          </a:p>
          <a:p>
            <a:pPr marL="0" indent="0" algn="ctr">
              <a:buNone/>
            </a:pPr>
            <a:endParaRPr lang="en-US" b="1" i="1" dirty="0"/>
          </a:p>
          <a:p>
            <a:pPr marL="514350" indent="-514350" algn="ctr">
              <a:buAutoNum type="arabicPeriod"/>
            </a:pPr>
            <a:r>
              <a:rPr lang="en-US" dirty="0"/>
              <a:t>Create a file containing multiple usernames.</a:t>
            </a:r>
          </a:p>
          <a:p>
            <a:pPr marL="0" indent="0" algn="ctr">
              <a:buNone/>
            </a:pPr>
            <a:r>
              <a:rPr lang="en-US" dirty="0"/>
              <a:t>2. Search for a specific username.</a:t>
            </a:r>
          </a:p>
          <a:p>
            <a:pPr marL="0" indent="0" algn="ctr">
              <a:buNone/>
            </a:pPr>
            <a:r>
              <a:rPr lang="en-US" dirty="0"/>
              <a:t>3. Combine commands</a:t>
            </a:r>
            <a:endParaRPr lang="en-GB" dirty="0"/>
          </a:p>
        </p:txBody>
      </p:sp>
    </p:spTree>
    <p:extLst>
      <p:ext uri="{BB962C8B-B14F-4D97-AF65-F5344CB8AC3E}">
        <p14:creationId xmlns:p14="http://schemas.microsoft.com/office/powerpoint/2010/main" val="1404579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1CA32-2B62-FB57-CEB9-6D235739A2B2}"/>
              </a:ext>
            </a:extLst>
          </p:cNvPr>
          <p:cNvSpPr>
            <a:spLocks noGrp="1"/>
          </p:cNvSpPr>
          <p:nvPr>
            <p:ph type="title"/>
          </p:nvPr>
        </p:nvSpPr>
        <p:spPr/>
        <p:txBody>
          <a:bodyPr/>
          <a:lstStyle/>
          <a:p>
            <a:r>
              <a:rPr lang="en-US" dirty="0"/>
              <a:t>1</a:t>
            </a:r>
            <a:endParaRPr lang="en-GB" dirty="0"/>
          </a:p>
        </p:txBody>
      </p:sp>
      <p:pic>
        <p:nvPicPr>
          <p:cNvPr id="5" name="Content Placeholder 4">
            <a:extLst>
              <a:ext uri="{FF2B5EF4-FFF2-40B4-BE49-F238E27FC236}">
                <a16:creationId xmlns:a16="http://schemas.microsoft.com/office/drawing/2014/main" id="{6A924A8F-E60A-C0DB-1D71-6FDA7A962B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90688"/>
            <a:ext cx="12122870" cy="5131356"/>
          </a:xfrm>
        </p:spPr>
      </p:pic>
    </p:spTree>
    <p:extLst>
      <p:ext uri="{BB962C8B-B14F-4D97-AF65-F5344CB8AC3E}">
        <p14:creationId xmlns:p14="http://schemas.microsoft.com/office/powerpoint/2010/main" val="2726856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FE77D-D775-7939-F25D-FE9BD551A633}"/>
              </a:ext>
            </a:extLst>
          </p:cNvPr>
          <p:cNvSpPr>
            <a:spLocks noGrp="1"/>
          </p:cNvSpPr>
          <p:nvPr>
            <p:ph type="title"/>
          </p:nvPr>
        </p:nvSpPr>
        <p:spPr>
          <a:xfrm>
            <a:off x="838200" y="365125"/>
            <a:ext cx="10455111" cy="1325563"/>
          </a:xfrm>
        </p:spPr>
        <p:txBody>
          <a:bodyPr/>
          <a:lstStyle/>
          <a:p>
            <a:r>
              <a:rPr lang="en-US" dirty="0"/>
              <a:t>nano multiple_usernames1.txt</a:t>
            </a:r>
            <a:endParaRPr lang="en-GB" dirty="0"/>
          </a:p>
        </p:txBody>
      </p:sp>
      <p:pic>
        <p:nvPicPr>
          <p:cNvPr id="5" name="Content Placeholder 4">
            <a:extLst>
              <a:ext uri="{FF2B5EF4-FFF2-40B4-BE49-F238E27FC236}">
                <a16:creationId xmlns:a16="http://schemas.microsoft.com/office/drawing/2014/main" id="{246F2D5F-72FD-155E-A08B-01DB3159CC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825624"/>
            <a:ext cx="12192000" cy="5032375"/>
          </a:xfrm>
        </p:spPr>
      </p:pic>
    </p:spTree>
    <p:extLst>
      <p:ext uri="{BB962C8B-B14F-4D97-AF65-F5344CB8AC3E}">
        <p14:creationId xmlns:p14="http://schemas.microsoft.com/office/powerpoint/2010/main" val="2322926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F970A-4FD6-D4F5-9574-695632713DF3}"/>
              </a:ext>
            </a:extLst>
          </p:cNvPr>
          <p:cNvSpPr>
            <a:spLocks noGrp="1"/>
          </p:cNvSpPr>
          <p:nvPr>
            <p:ph type="title"/>
          </p:nvPr>
        </p:nvSpPr>
        <p:spPr/>
        <p:txBody>
          <a:bodyPr>
            <a:normAutofit fontScale="90000"/>
          </a:bodyPr>
          <a:lstStyle/>
          <a:p>
            <a:r>
              <a:rPr lang="en-US" sz="2700" b="1" dirty="0"/>
              <a:t>2. Search for a specific username</a:t>
            </a:r>
            <a:br>
              <a:rPr lang="en-US" sz="2700" b="1" dirty="0"/>
            </a:br>
            <a:br>
              <a:rPr lang="en-US" sz="2700" b="1" dirty="0"/>
            </a:br>
            <a:r>
              <a:rPr lang="en-US" sz="2700" dirty="0"/>
              <a:t>To search for a specific pattern inside a file, we use grep (</a:t>
            </a:r>
            <a:r>
              <a:rPr lang="en-US" sz="2700" b="1" dirty="0"/>
              <a:t>g</a:t>
            </a:r>
            <a:r>
              <a:rPr lang="en-US" sz="2700" dirty="0"/>
              <a:t>lobally search for a </a:t>
            </a:r>
            <a:r>
              <a:rPr lang="en-US" sz="2700" b="1" dirty="0"/>
              <a:t>r</a:t>
            </a:r>
            <a:r>
              <a:rPr lang="en-US" sz="2700" dirty="0"/>
              <a:t>egular </a:t>
            </a:r>
            <a:r>
              <a:rPr lang="en-US" sz="2700" b="1" dirty="0"/>
              <a:t>e</a:t>
            </a:r>
            <a:r>
              <a:rPr lang="en-US" sz="2700" dirty="0"/>
              <a:t>xpression and </a:t>
            </a:r>
            <a:r>
              <a:rPr lang="en-US" sz="2700" b="1" dirty="0"/>
              <a:t>p</a:t>
            </a:r>
            <a:r>
              <a:rPr lang="en-US" sz="2700" dirty="0"/>
              <a:t>rint). Now, let’s look for “</a:t>
            </a:r>
            <a:r>
              <a:rPr lang="en-US" sz="2700" dirty="0" err="1"/>
              <a:t>bigwosh</a:t>
            </a:r>
            <a:r>
              <a:rPr lang="en-US" sz="2700" dirty="0"/>
              <a:t>":</a:t>
            </a:r>
            <a:br>
              <a:rPr lang="en-US" dirty="0"/>
            </a:br>
            <a:endParaRPr lang="en-GB" dirty="0"/>
          </a:p>
        </p:txBody>
      </p:sp>
      <p:pic>
        <p:nvPicPr>
          <p:cNvPr id="5" name="Content Placeholder 4">
            <a:extLst>
              <a:ext uri="{FF2B5EF4-FFF2-40B4-BE49-F238E27FC236}">
                <a16:creationId xmlns:a16="http://schemas.microsoft.com/office/drawing/2014/main" id="{0F0C441C-9177-D00A-FB49-D34C733C88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4779" y="3761294"/>
            <a:ext cx="11123629" cy="2375555"/>
          </a:xfrm>
        </p:spPr>
      </p:pic>
    </p:spTree>
    <p:extLst>
      <p:ext uri="{BB962C8B-B14F-4D97-AF65-F5344CB8AC3E}">
        <p14:creationId xmlns:p14="http://schemas.microsoft.com/office/powerpoint/2010/main" val="1654149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961B3-F020-FB43-BE56-74CEF0C97995}"/>
              </a:ext>
            </a:extLst>
          </p:cNvPr>
          <p:cNvSpPr>
            <a:spLocks noGrp="1"/>
          </p:cNvSpPr>
          <p:nvPr>
            <p:ph type="title"/>
          </p:nvPr>
        </p:nvSpPr>
        <p:spPr>
          <a:xfrm>
            <a:off x="838200" y="365124"/>
            <a:ext cx="10515600" cy="2632599"/>
          </a:xfrm>
        </p:spPr>
        <p:txBody>
          <a:bodyPr>
            <a:normAutofit/>
          </a:bodyPr>
          <a:lstStyle/>
          <a:p>
            <a:r>
              <a:rPr lang="en-US" sz="1800" b="1" dirty="0"/>
              <a:t>3. Combine commands (Piping)</a:t>
            </a:r>
            <a:br>
              <a:rPr lang="en-US" sz="1800" b="1" dirty="0"/>
            </a:br>
            <a:r>
              <a:rPr lang="en-US" sz="1800" dirty="0"/>
              <a:t>In Linux, "combining commands" almost always means using the </a:t>
            </a:r>
            <a:r>
              <a:rPr lang="en-US" sz="1800" b="1" dirty="0"/>
              <a:t>pipe operator (|)</a:t>
            </a:r>
            <a:r>
              <a:rPr lang="en-US" sz="1800" dirty="0"/>
              <a:t>. it grabs the output of the first command and shoves it directly into the input of the second command.</a:t>
            </a:r>
            <a:br>
              <a:rPr lang="en-US" sz="1800" dirty="0"/>
            </a:br>
            <a:br>
              <a:rPr lang="en-US" sz="1800" dirty="0"/>
            </a:br>
            <a:r>
              <a:rPr lang="en-US" sz="2000" b="1" dirty="0"/>
              <a:t>Approach A: The Classic Pipeline (View and Filter)</a:t>
            </a:r>
            <a:br>
              <a:rPr lang="en-US" sz="2000" b="1" dirty="0"/>
            </a:br>
            <a:r>
              <a:rPr lang="en-US" sz="2000" dirty="0"/>
              <a:t>Instead of telling grep to read the file directly, you can use cat to output the text and pipe it into grep to filter for any username containing "admin":</a:t>
            </a:r>
            <a:br>
              <a:rPr lang="en-US" sz="1800" dirty="0"/>
            </a:br>
            <a:endParaRPr lang="en-GB" sz="1800" dirty="0"/>
          </a:p>
        </p:txBody>
      </p:sp>
      <p:pic>
        <p:nvPicPr>
          <p:cNvPr id="9" name="Content Placeholder 8">
            <a:extLst>
              <a:ext uri="{FF2B5EF4-FFF2-40B4-BE49-F238E27FC236}">
                <a16:creationId xmlns:a16="http://schemas.microsoft.com/office/drawing/2014/main" id="{17CD54B5-0985-0A9A-9C6A-56D28BC42D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94407" y="3607945"/>
            <a:ext cx="6004875" cy="2485457"/>
          </a:xfrm>
        </p:spPr>
      </p:pic>
    </p:spTree>
    <p:extLst>
      <p:ext uri="{BB962C8B-B14F-4D97-AF65-F5344CB8AC3E}">
        <p14:creationId xmlns:p14="http://schemas.microsoft.com/office/powerpoint/2010/main" val="4069723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0116A-8CB8-0EA6-6BB5-27541165F58E}"/>
              </a:ext>
            </a:extLst>
          </p:cNvPr>
          <p:cNvSpPr>
            <a:spLocks noGrp="1"/>
          </p:cNvSpPr>
          <p:nvPr>
            <p:ph type="title"/>
          </p:nvPr>
        </p:nvSpPr>
        <p:spPr>
          <a:xfrm>
            <a:off x="838200" y="365125"/>
            <a:ext cx="10515600" cy="2321514"/>
          </a:xfrm>
        </p:spPr>
        <p:txBody>
          <a:bodyPr>
            <a:normAutofit fontScale="90000"/>
          </a:bodyPr>
          <a:lstStyle/>
          <a:p>
            <a:r>
              <a:rPr lang="en-US" b="1" dirty="0"/>
              <a:t>Approach B: The Pro Pipeline (Filter and Count)</a:t>
            </a:r>
            <a:br>
              <a:rPr lang="en-US" b="1" dirty="0"/>
            </a:br>
            <a:r>
              <a:rPr lang="en-US" dirty="0"/>
              <a:t>If you want to look even sharper, combine grep with </a:t>
            </a:r>
            <a:r>
              <a:rPr lang="en-US" dirty="0" err="1"/>
              <a:t>wc</a:t>
            </a:r>
            <a:r>
              <a:rPr lang="en-US" dirty="0"/>
              <a:t> -l (</a:t>
            </a:r>
            <a:r>
              <a:rPr lang="en-US" b="1" dirty="0"/>
              <a:t>w</a:t>
            </a:r>
            <a:r>
              <a:rPr lang="en-US" dirty="0"/>
              <a:t>ord </a:t>
            </a:r>
            <a:r>
              <a:rPr lang="en-US" b="1" dirty="0"/>
              <a:t>c</a:t>
            </a:r>
            <a:r>
              <a:rPr lang="en-US" dirty="0"/>
              <a:t>ount, </a:t>
            </a:r>
            <a:r>
              <a:rPr lang="en-US" b="1" dirty="0"/>
              <a:t>l</a:t>
            </a:r>
            <a:r>
              <a:rPr lang="en-US" dirty="0"/>
              <a:t>ines flag) to count exactly how many system admins are in that file:</a:t>
            </a:r>
            <a:br>
              <a:rPr lang="en-US" dirty="0"/>
            </a:br>
            <a:endParaRPr lang="en-GB" dirty="0"/>
          </a:p>
        </p:txBody>
      </p:sp>
      <p:pic>
        <p:nvPicPr>
          <p:cNvPr id="5" name="Content Placeholder 4">
            <a:extLst>
              <a:ext uri="{FF2B5EF4-FFF2-40B4-BE49-F238E27FC236}">
                <a16:creationId xmlns:a16="http://schemas.microsoft.com/office/drawing/2014/main" id="{423DF9E9-6769-2D8F-9989-BC8C338BB0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64090" y="3799003"/>
            <a:ext cx="6740165" cy="2479250"/>
          </a:xfrm>
        </p:spPr>
      </p:pic>
    </p:spTree>
    <p:extLst>
      <p:ext uri="{BB962C8B-B14F-4D97-AF65-F5344CB8AC3E}">
        <p14:creationId xmlns:p14="http://schemas.microsoft.com/office/powerpoint/2010/main" val="34493251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A1BE8-51BB-B27D-8CFF-8535FD4139A6}"/>
              </a:ext>
            </a:extLst>
          </p:cNvPr>
          <p:cNvSpPr>
            <a:spLocks noGrp="1"/>
          </p:cNvSpPr>
          <p:nvPr>
            <p:ph type="title"/>
          </p:nvPr>
        </p:nvSpPr>
        <p:spPr/>
        <p:txBody>
          <a:bodyPr/>
          <a:lstStyle/>
          <a:p>
            <a:r>
              <a:rPr lang="en-US" b="1" u="sng" dirty="0">
                <a:solidFill>
                  <a:srgbClr val="C00000"/>
                </a:solidFill>
                <a:effectLst>
                  <a:outerShdw blurRad="38100" dist="38100" dir="2700000" algn="tl">
                    <a:srgbClr val="000000">
                      <a:alpha val="43137"/>
                    </a:srgbClr>
                  </a:outerShdw>
                </a:effectLst>
              </a:rPr>
              <a:t>Task 6 — Searching for Files and Directories</a:t>
            </a:r>
            <a:endParaRPr lang="en-GB" b="1" u="sng"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26786D16-9A96-C283-0F37-49ABDFF5311C}"/>
              </a:ext>
            </a:extLst>
          </p:cNvPr>
          <p:cNvSpPr>
            <a:spLocks noGrp="1"/>
          </p:cNvSpPr>
          <p:nvPr>
            <p:ph idx="1"/>
          </p:nvPr>
        </p:nvSpPr>
        <p:spPr/>
        <p:txBody>
          <a:bodyPr/>
          <a:lstStyle/>
          <a:p>
            <a:pPr marL="0" indent="0" algn="ctr">
              <a:buNone/>
            </a:pPr>
            <a:r>
              <a:rPr lang="en-US" b="1" i="1" dirty="0"/>
              <a:t>Assignment</a:t>
            </a:r>
          </a:p>
          <a:p>
            <a:pPr marL="0" indent="0" algn="ctr">
              <a:buNone/>
            </a:pPr>
            <a:endParaRPr lang="en-US" b="1" i="1" dirty="0"/>
          </a:p>
          <a:p>
            <a:pPr marL="0" indent="0" algn="ctr">
              <a:buNone/>
            </a:pPr>
            <a:r>
              <a:rPr lang="en-US" dirty="0"/>
              <a:t>               1. Create multiple files and folders.</a:t>
            </a:r>
          </a:p>
          <a:p>
            <a:pPr marL="0" indent="0" algn="ctr">
              <a:buNone/>
            </a:pPr>
            <a:r>
              <a:rPr lang="en-US" dirty="0"/>
              <a:t>2. Search for a specific file.</a:t>
            </a:r>
          </a:p>
          <a:p>
            <a:pPr marL="0" indent="0" algn="ctr">
              <a:buNone/>
            </a:pPr>
            <a:r>
              <a:rPr lang="en-US" dirty="0"/>
              <a:t>     3. Search for a specific folder.</a:t>
            </a:r>
            <a:endParaRPr lang="en-GB" dirty="0"/>
          </a:p>
        </p:txBody>
      </p:sp>
    </p:spTree>
    <p:extLst>
      <p:ext uri="{BB962C8B-B14F-4D97-AF65-F5344CB8AC3E}">
        <p14:creationId xmlns:p14="http://schemas.microsoft.com/office/powerpoint/2010/main" val="2512427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4ABE7-A357-9B90-E59B-6FC790B32445}"/>
              </a:ext>
            </a:extLst>
          </p:cNvPr>
          <p:cNvSpPr>
            <a:spLocks noGrp="1"/>
          </p:cNvSpPr>
          <p:nvPr>
            <p:ph type="title"/>
          </p:nvPr>
        </p:nvSpPr>
        <p:spPr/>
        <p:txBody>
          <a:bodyPr/>
          <a:lstStyle/>
          <a:p>
            <a:r>
              <a:rPr lang="en-US" dirty="0"/>
              <a:t>1,2&amp;3</a:t>
            </a:r>
            <a:endParaRPr lang="en-GB" dirty="0"/>
          </a:p>
        </p:txBody>
      </p:sp>
      <p:pic>
        <p:nvPicPr>
          <p:cNvPr id="5" name="Content Placeholder 4">
            <a:extLst>
              <a:ext uri="{FF2B5EF4-FFF2-40B4-BE49-F238E27FC236}">
                <a16:creationId xmlns:a16="http://schemas.microsoft.com/office/drawing/2014/main" id="{0F551C21-98C1-E631-B34F-641BD5EACC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825624"/>
            <a:ext cx="12192000" cy="5159637"/>
          </a:xfrm>
        </p:spPr>
      </p:pic>
    </p:spTree>
    <p:extLst>
      <p:ext uri="{BB962C8B-B14F-4D97-AF65-F5344CB8AC3E}">
        <p14:creationId xmlns:p14="http://schemas.microsoft.com/office/powerpoint/2010/main" val="490721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EE0F9-C425-8290-A90B-3648D074E28F}"/>
              </a:ext>
            </a:extLst>
          </p:cNvPr>
          <p:cNvSpPr>
            <a:spLocks noGrp="1"/>
          </p:cNvSpPr>
          <p:nvPr>
            <p:ph type="title"/>
          </p:nvPr>
        </p:nvSpPr>
        <p:spPr/>
        <p:txBody>
          <a:bodyPr/>
          <a:lstStyle/>
          <a:p>
            <a:pPr algn="ctr"/>
            <a:r>
              <a:rPr lang="en-US" b="1" u="sng" dirty="0">
                <a:solidFill>
                  <a:srgbClr val="C00000"/>
                </a:solidFill>
                <a:effectLst>
                  <a:outerShdw blurRad="38100" dist="38100" dir="2700000" algn="tl">
                    <a:srgbClr val="000000">
                      <a:alpha val="43137"/>
                    </a:srgbClr>
                  </a:outerShdw>
                </a:effectLst>
              </a:rPr>
              <a:t>Task 7 — Copying and Moving Files</a:t>
            </a:r>
            <a:endParaRPr lang="en-GB" b="1" u="sng"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9EFD9AEF-D54E-AB82-315B-22A0A766AE2E}"/>
              </a:ext>
            </a:extLst>
          </p:cNvPr>
          <p:cNvSpPr>
            <a:spLocks noGrp="1"/>
          </p:cNvSpPr>
          <p:nvPr>
            <p:ph idx="1"/>
          </p:nvPr>
        </p:nvSpPr>
        <p:spPr/>
        <p:txBody>
          <a:bodyPr>
            <a:normAutofit/>
          </a:bodyPr>
          <a:lstStyle/>
          <a:p>
            <a:pPr marL="0" indent="0" algn="ctr">
              <a:buNone/>
            </a:pPr>
            <a:r>
              <a:rPr lang="en-US" sz="2000" b="1" i="1" dirty="0"/>
              <a:t>Assignment</a:t>
            </a:r>
          </a:p>
          <a:p>
            <a:pPr algn="ctr"/>
            <a:endParaRPr lang="en-US" sz="2000" b="1" i="1" dirty="0"/>
          </a:p>
          <a:p>
            <a:pPr marL="0" indent="0" algn="ctr">
              <a:buNone/>
            </a:pPr>
            <a:r>
              <a:rPr lang="en-US" sz="2000" dirty="0"/>
              <a:t>1. Copy a file into another folder. </a:t>
            </a:r>
          </a:p>
          <a:p>
            <a:pPr marL="0" indent="0" algn="ctr">
              <a:buNone/>
            </a:pPr>
            <a:r>
              <a:rPr lang="en-US" sz="2000" dirty="0"/>
              <a:t>2. Rename a file.</a:t>
            </a:r>
          </a:p>
          <a:p>
            <a:pPr marL="0" indent="0" algn="ctr">
              <a:buNone/>
            </a:pPr>
            <a:r>
              <a:rPr lang="en-US" sz="2000" dirty="0"/>
              <a:t>3. Move a file into another directory.</a:t>
            </a:r>
            <a:endParaRPr lang="en-GB" sz="2000" dirty="0"/>
          </a:p>
        </p:txBody>
      </p:sp>
    </p:spTree>
    <p:extLst>
      <p:ext uri="{BB962C8B-B14F-4D97-AF65-F5344CB8AC3E}">
        <p14:creationId xmlns:p14="http://schemas.microsoft.com/office/powerpoint/2010/main" val="830269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B019A-3984-E829-C5F3-248812E1A901}"/>
              </a:ext>
            </a:extLst>
          </p:cNvPr>
          <p:cNvSpPr>
            <a:spLocks noGrp="1"/>
          </p:cNvSpPr>
          <p:nvPr>
            <p:ph type="title"/>
          </p:nvPr>
        </p:nvSpPr>
        <p:spPr/>
        <p:txBody>
          <a:bodyPr/>
          <a:lstStyle/>
          <a:p>
            <a:r>
              <a:rPr lang="en-US" dirty="0"/>
              <a:t>1</a:t>
            </a:r>
            <a:br>
              <a:rPr lang="en-US" dirty="0"/>
            </a:br>
            <a:r>
              <a:rPr lang="en-GB" dirty="0"/>
              <a:t>cp notes.txt backup/</a:t>
            </a:r>
          </a:p>
        </p:txBody>
      </p:sp>
      <p:pic>
        <p:nvPicPr>
          <p:cNvPr id="5" name="Content Placeholder 4">
            <a:extLst>
              <a:ext uri="{FF2B5EF4-FFF2-40B4-BE49-F238E27FC236}">
                <a16:creationId xmlns:a16="http://schemas.microsoft.com/office/drawing/2014/main" id="{222202CC-45E7-B621-1A6A-596C1915CD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825624"/>
            <a:ext cx="12191999" cy="5032375"/>
          </a:xfrm>
        </p:spPr>
      </p:pic>
    </p:spTree>
    <p:extLst>
      <p:ext uri="{BB962C8B-B14F-4D97-AF65-F5344CB8AC3E}">
        <p14:creationId xmlns:p14="http://schemas.microsoft.com/office/powerpoint/2010/main" val="3559954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DF6DA-304D-9DFF-F4E7-5D588B8891E7}"/>
              </a:ext>
            </a:extLst>
          </p:cNvPr>
          <p:cNvSpPr>
            <a:spLocks noGrp="1"/>
          </p:cNvSpPr>
          <p:nvPr>
            <p:ph type="title"/>
          </p:nvPr>
        </p:nvSpPr>
        <p:spPr/>
        <p:txBody>
          <a:bodyPr/>
          <a:lstStyle/>
          <a:p>
            <a:br>
              <a:rPr lang="en-US" dirty="0"/>
            </a:br>
            <a:endParaRPr lang="en-GB" dirty="0"/>
          </a:p>
        </p:txBody>
      </p:sp>
      <p:pic>
        <p:nvPicPr>
          <p:cNvPr id="5" name="Content Placeholder 4">
            <a:extLst>
              <a:ext uri="{FF2B5EF4-FFF2-40B4-BE49-F238E27FC236}">
                <a16:creationId xmlns:a16="http://schemas.microsoft.com/office/drawing/2014/main" id="{9BEEAB29-E76E-2E46-E858-DCC024B9F7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0821" y="2964485"/>
            <a:ext cx="5738421" cy="3770721"/>
          </a:xfrm>
        </p:spPr>
      </p:pic>
      <p:sp>
        <p:nvSpPr>
          <p:cNvPr id="6" name="Rectangle 1">
            <a:extLst>
              <a:ext uri="{FF2B5EF4-FFF2-40B4-BE49-F238E27FC236}">
                <a16:creationId xmlns:a16="http://schemas.microsoft.com/office/drawing/2014/main" id="{DB26FDF4-39CE-D5A4-E652-4A4A83EAB774}"/>
              </a:ext>
            </a:extLst>
          </p:cNvPr>
          <p:cNvSpPr>
            <a:spLocks noChangeArrowheads="1"/>
          </p:cNvSpPr>
          <p:nvPr/>
        </p:nvSpPr>
        <p:spPr bwMode="auto">
          <a:xfrm>
            <a:off x="688258" y="-142823"/>
            <a:ext cx="9046021"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2. Rename a file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In Linux, there is no separate "rename" command. Instead, you use the </a:t>
            </a:r>
            <a:r>
              <a:rPr kumimoji="0" lang="en-US" altLang="en-US" b="0" i="0" u="none" strike="noStrike" cap="none" normalizeH="0" baseline="0" dirty="0">
                <a:ln>
                  <a:noFill/>
                </a:ln>
                <a:solidFill>
                  <a:schemeClr val="tx1"/>
                </a:solidFill>
                <a:effectLst/>
                <a:latin typeface="Arial Unicode MS"/>
              </a:rPr>
              <a:t>mv</a:t>
            </a:r>
            <a:r>
              <a:rPr kumimoji="0" lang="en-US" altLang="en-US" b="0" i="0" u="none" strike="noStrike" cap="none" normalizeH="0" baseline="0" dirty="0">
                <a:ln>
                  <a:noFill/>
                </a:ln>
                <a:solidFill>
                  <a:schemeClr val="tx1"/>
                </a:solidFill>
                <a:effectLst/>
              </a:rPr>
              <a:t> (</a:t>
            </a:r>
            <a:r>
              <a:rPr kumimoji="0" lang="en-US" altLang="en-US" b="1" i="0" u="none" strike="noStrike" cap="none" normalizeH="0" baseline="0" dirty="0">
                <a:ln>
                  <a:noFill/>
                </a:ln>
                <a:solidFill>
                  <a:schemeClr val="tx1"/>
                </a:solidFill>
                <a:effectLst/>
                <a:latin typeface="Arial" panose="020B0604020202020204" pitchFamily="34" charset="0"/>
              </a:rPr>
              <a:t>m</a:t>
            </a:r>
            <a:r>
              <a:rPr kumimoji="0" lang="en-US" altLang="en-US" b="0" i="0" u="none" strike="noStrike" cap="none" normalizeH="0" baseline="0" dirty="0">
                <a:ln>
                  <a:noFill/>
                </a:ln>
                <a:solidFill>
                  <a:schemeClr val="tx1"/>
                </a:solidFill>
                <a:effectLst/>
                <a:latin typeface="Arial" panose="020B0604020202020204" pitchFamily="34" charset="0"/>
              </a:rPr>
              <a:t>o</a:t>
            </a:r>
            <a:r>
              <a:rPr kumimoji="0" lang="en-US" altLang="en-US" b="1" i="0" u="none" strike="noStrike" cap="none" normalizeH="0" baseline="0" dirty="0">
                <a:ln>
                  <a:noFill/>
                </a:ln>
                <a:solidFill>
                  <a:schemeClr val="tx1"/>
                </a:solidFill>
                <a:effectLst/>
                <a:latin typeface="Arial" panose="020B0604020202020204" pitchFamily="34" charset="0"/>
              </a:rPr>
              <a:t>v</a:t>
            </a:r>
            <a:r>
              <a:rPr kumimoji="0" lang="en-US" altLang="en-US" b="0" i="0" u="none" strike="noStrike" cap="none" normalizeH="0" baseline="0" dirty="0">
                <a:ln>
                  <a:noFill/>
                </a:ln>
                <a:solidFill>
                  <a:schemeClr val="tx1"/>
                </a:solidFill>
                <a:effectLst/>
                <a:latin typeface="Arial" panose="020B0604020202020204" pitchFamily="34" charset="0"/>
              </a:rPr>
              <a:t>e) command.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Think of renaming as moving a file from an old name to a new name in the exact same location: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mv notes.txt  </a:t>
            </a:r>
            <a:r>
              <a:rPr lang="en-US" altLang="en-US" dirty="0">
                <a:latin typeface="Arial Unicode MS"/>
              </a:rPr>
              <a:t>main_notes</a:t>
            </a:r>
            <a:r>
              <a:rPr kumimoji="0" lang="en-US" altLang="en-US" b="0" i="0" u="none" strike="noStrike" cap="none" normalizeH="0" baseline="0" dirty="0">
                <a:ln>
                  <a:noFill/>
                </a:ln>
                <a:solidFill>
                  <a:schemeClr val="tx1"/>
                </a:solidFill>
                <a:effectLst/>
                <a:latin typeface="Arial Unicode MS"/>
              </a:rPr>
              <a:t>.txt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4246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12D9A66-746E-BB0A-0526-F829E6E502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7776" y="1825625"/>
            <a:ext cx="8917757" cy="4773138"/>
          </a:xfrm>
        </p:spPr>
      </p:pic>
      <p:sp>
        <p:nvSpPr>
          <p:cNvPr id="6" name="Rectangle 1">
            <a:extLst>
              <a:ext uri="{FF2B5EF4-FFF2-40B4-BE49-F238E27FC236}">
                <a16:creationId xmlns:a16="http://schemas.microsoft.com/office/drawing/2014/main" id="{E8FC7BC8-60A6-DBFF-C483-D848BEADC316}"/>
              </a:ext>
            </a:extLst>
          </p:cNvPr>
          <p:cNvSpPr>
            <a:spLocks noGrp="1" noChangeArrowheads="1"/>
          </p:cNvSpPr>
          <p:nvPr>
            <p:ph type="title"/>
          </p:nvPr>
        </p:nvSpPr>
        <p:spPr bwMode="auto">
          <a:xfrm>
            <a:off x="838200" y="289243"/>
            <a:ext cx="940052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 Move a file into another directory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We use the exact same </a:t>
            </a:r>
            <a:r>
              <a:rPr kumimoji="0" lang="en-US" altLang="en-US" sz="1800" b="0" i="0" u="none" strike="noStrike" cap="none" normalizeH="0" baseline="0" dirty="0">
                <a:ln>
                  <a:noFill/>
                </a:ln>
                <a:solidFill>
                  <a:schemeClr val="tx1"/>
                </a:solidFill>
                <a:effectLst/>
                <a:latin typeface="Arial Unicode MS"/>
              </a:rPr>
              <a:t>mv</a:t>
            </a:r>
            <a:r>
              <a:rPr kumimoji="0" lang="en-US" altLang="en-US" sz="1800" b="0" i="0" u="none" strike="noStrike" cap="none" normalizeH="0" baseline="0" dirty="0">
                <a:ln>
                  <a:noFill/>
                </a:ln>
                <a:solidFill>
                  <a:schemeClr val="tx1"/>
                </a:solidFill>
                <a:effectLst/>
              </a:rPr>
              <a:t> command to actually relocate a file into a completely different folder.</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 Again, specify the file first, then the target destination: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Unicode MS"/>
              </a:rPr>
            </a:br>
            <a:r>
              <a:rPr kumimoji="0" lang="en-US" altLang="en-US" sz="1800" b="0" i="0" u="none" strike="noStrike" cap="none" normalizeH="0" baseline="0" dirty="0">
                <a:ln>
                  <a:noFill/>
                </a:ln>
                <a:solidFill>
                  <a:schemeClr val="tx1"/>
                </a:solidFill>
                <a:effectLst/>
                <a:latin typeface="Arial Unicode MS"/>
              </a:rPr>
              <a:t>mv backup</a:t>
            </a:r>
            <a:r>
              <a:rPr lang="en-US" altLang="en-US" sz="1800" dirty="0">
                <a:latin typeface="Arial Unicode MS"/>
              </a:rPr>
              <a:t>/</a:t>
            </a:r>
            <a:r>
              <a:rPr kumimoji="0" lang="en-US" altLang="en-US" sz="1800" b="0" i="0" u="none" strike="noStrike" cap="none" normalizeH="0" baseline="0" dirty="0">
                <a:ln>
                  <a:noFill/>
                </a:ln>
                <a:solidFill>
                  <a:schemeClr val="tx1"/>
                </a:solidFill>
                <a:effectLst/>
                <a:latin typeface="Arial Unicode MS"/>
              </a:rPr>
              <a:t>main_notes.txt  archive/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95848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4036F-989C-D14A-E992-2C37D6653C6F}"/>
              </a:ext>
            </a:extLst>
          </p:cNvPr>
          <p:cNvSpPr>
            <a:spLocks noGrp="1"/>
          </p:cNvSpPr>
          <p:nvPr>
            <p:ph type="title"/>
          </p:nvPr>
        </p:nvSpPr>
        <p:spPr/>
        <p:txBody>
          <a:bodyPr/>
          <a:lstStyle/>
          <a:p>
            <a:pPr algn="ctr"/>
            <a:r>
              <a:rPr lang="en-US" b="1" u="sng" dirty="0">
                <a:solidFill>
                  <a:srgbClr val="C00000"/>
                </a:solidFill>
                <a:effectLst>
                  <a:outerShdw blurRad="38100" dist="38100" dir="2700000" algn="tl">
                    <a:srgbClr val="000000">
                      <a:alpha val="43137"/>
                    </a:srgbClr>
                  </a:outerShdw>
                </a:effectLst>
              </a:rPr>
              <a:t>Task 8 — Removing Files and Folders</a:t>
            </a:r>
            <a:endParaRPr lang="en-GB" b="1" u="sng"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4907048A-7638-E872-EFBB-86768DF77A14}"/>
              </a:ext>
            </a:extLst>
          </p:cNvPr>
          <p:cNvSpPr>
            <a:spLocks noGrp="1"/>
          </p:cNvSpPr>
          <p:nvPr>
            <p:ph idx="1"/>
          </p:nvPr>
        </p:nvSpPr>
        <p:spPr/>
        <p:txBody>
          <a:bodyPr/>
          <a:lstStyle/>
          <a:p>
            <a:pPr marL="0" indent="0" algn="ctr">
              <a:buNone/>
            </a:pPr>
            <a:r>
              <a:rPr lang="en-US" b="1" i="1" dirty="0"/>
              <a:t>Assignment</a:t>
            </a:r>
          </a:p>
          <a:p>
            <a:pPr marL="0" indent="0" algn="ctr">
              <a:buNone/>
            </a:pPr>
            <a:endParaRPr lang="en-US" b="1" i="1" dirty="0"/>
          </a:p>
          <a:p>
            <a:pPr marL="514350" indent="-514350" algn="ctr">
              <a:buAutoNum type="arabicPeriod"/>
            </a:pPr>
            <a:r>
              <a:rPr lang="en-US" dirty="0"/>
              <a:t>Delete a file.</a:t>
            </a:r>
          </a:p>
          <a:p>
            <a:pPr marL="0" indent="0" algn="ctr">
              <a:buNone/>
            </a:pPr>
            <a:r>
              <a:rPr lang="en-US" dirty="0"/>
              <a:t>                2. Delete an empty folder.</a:t>
            </a:r>
            <a:endParaRPr lang="en-GB" dirty="0"/>
          </a:p>
        </p:txBody>
      </p:sp>
    </p:spTree>
    <p:extLst>
      <p:ext uri="{BB962C8B-B14F-4D97-AF65-F5344CB8AC3E}">
        <p14:creationId xmlns:p14="http://schemas.microsoft.com/office/powerpoint/2010/main" val="30033761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79E1-CAD1-3245-A4C3-E35C630B77CD}"/>
              </a:ext>
            </a:extLst>
          </p:cNvPr>
          <p:cNvSpPr>
            <a:spLocks noGrp="1"/>
          </p:cNvSpPr>
          <p:nvPr>
            <p:ph type="title"/>
          </p:nvPr>
        </p:nvSpPr>
        <p:spPr/>
        <p:txBody>
          <a:bodyPr/>
          <a:lstStyle/>
          <a:p>
            <a:r>
              <a:rPr lang="en-US" dirty="0"/>
              <a:t>1&amp;2</a:t>
            </a:r>
            <a:endParaRPr lang="en-GB" dirty="0"/>
          </a:p>
        </p:txBody>
      </p:sp>
      <p:pic>
        <p:nvPicPr>
          <p:cNvPr id="5" name="Content Placeholder 4">
            <a:extLst>
              <a:ext uri="{FF2B5EF4-FFF2-40B4-BE49-F238E27FC236}">
                <a16:creationId xmlns:a16="http://schemas.microsoft.com/office/drawing/2014/main" id="{048D484D-80A8-ADB7-0394-C58113DB9E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841" y="1825625"/>
            <a:ext cx="12107159" cy="5131356"/>
          </a:xfrm>
        </p:spPr>
      </p:pic>
    </p:spTree>
    <p:extLst>
      <p:ext uri="{BB962C8B-B14F-4D97-AF65-F5344CB8AC3E}">
        <p14:creationId xmlns:p14="http://schemas.microsoft.com/office/powerpoint/2010/main" val="42192003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D82C4-0146-E468-EF6F-FC28FF108920}"/>
              </a:ext>
            </a:extLst>
          </p:cNvPr>
          <p:cNvSpPr>
            <a:spLocks noGrp="1"/>
          </p:cNvSpPr>
          <p:nvPr>
            <p:ph type="title"/>
          </p:nvPr>
        </p:nvSpPr>
        <p:spPr/>
        <p:txBody>
          <a:bodyPr/>
          <a:lstStyle/>
          <a:p>
            <a:pPr algn="ctr"/>
            <a:r>
              <a:rPr lang="en-US" b="1" u="sng" dirty="0">
                <a:solidFill>
                  <a:srgbClr val="C00000"/>
                </a:solidFill>
                <a:effectLst>
                  <a:outerShdw blurRad="38100" dist="38100" dir="2700000" algn="tl">
                    <a:srgbClr val="000000">
                      <a:alpha val="43137"/>
                    </a:srgbClr>
                  </a:outerShdw>
                </a:effectLst>
              </a:rPr>
              <a:t>Task 9 — File Editing</a:t>
            </a:r>
            <a:endParaRPr lang="en-GB" b="1" u="sng"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D13FCF4C-F0F0-BA04-7327-9A7C2DB9F1A1}"/>
              </a:ext>
            </a:extLst>
          </p:cNvPr>
          <p:cNvSpPr>
            <a:spLocks noGrp="1"/>
          </p:cNvSpPr>
          <p:nvPr>
            <p:ph idx="1"/>
          </p:nvPr>
        </p:nvSpPr>
        <p:spPr/>
        <p:txBody>
          <a:bodyPr/>
          <a:lstStyle/>
          <a:p>
            <a:pPr marL="0" indent="0" algn="ctr">
              <a:buNone/>
            </a:pPr>
            <a:r>
              <a:rPr lang="en-US" dirty="0"/>
              <a:t> </a:t>
            </a:r>
            <a:r>
              <a:rPr lang="en-US" b="1" i="1" dirty="0"/>
              <a:t>Assignment</a:t>
            </a:r>
          </a:p>
          <a:p>
            <a:pPr algn="ctr"/>
            <a:endParaRPr lang="en-US" b="1" i="1" dirty="0"/>
          </a:p>
          <a:p>
            <a:pPr marL="0" indent="0" algn="ctr">
              <a:buNone/>
            </a:pPr>
            <a:r>
              <a:rPr lang="en-US" dirty="0"/>
              <a:t>1. Create a note using nano.</a:t>
            </a:r>
          </a:p>
          <a:p>
            <a:pPr marL="0" indent="0" algn="ctr">
              <a:buNone/>
            </a:pPr>
            <a:r>
              <a:rPr lang="en-US" dirty="0"/>
              <a:t>2. Save the file.</a:t>
            </a:r>
          </a:p>
          <a:p>
            <a:pPr marL="0" indent="0" algn="ctr">
              <a:buNone/>
            </a:pPr>
            <a:r>
              <a:rPr lang="en-US" dirty="0"/>
              <a:t>3. Exit the editor.</a:t>
            </a:r>
            <a:endParaRPr lang="en-GB" dirty="0"/>
          </a:p>
        </p:txBody>
      </p:sp>
    </p:spTree>
    <p:extLst>
      <p:ext uri="{BB962C8B-B14F-4D97-AF65-F5344CB8AC3E}">
        <p14:creationId xmlns:p14="http://schemas.microsoft.com/office/powerpoint/2010/main" val="3149789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B219B-D23A-3E17-95AD-531528595E88}"/>
              </a:ext>
            </a:extLst>
          </p:cNvPr>
          <p:cNvSpPr>
            <a:spLocks noGrp="1"/>
          </p:cNvSpPr>
          <p:nvPr>
            <p:ph type="title"/>
          </p:nvPr>
        </p:nvSpPr>
        <p:spPr>
          <a:xfrm>
            <a:off x="0" y="1"/>
            <a:ext cx="12192000" cy="3027540"/>
          </a:xfrm>
        </p:spPr>
        <p:txBody>
          <a:bodyPr>
            <a:normAutofit/>
          </a:bodyPr>
          <a:lstStyle/>
          <a:p>
            <a:r>
              <a:rPr lang="en-US" sz="2000" b="1" i="1" u="sng" dirty="0">
                <a:effectLst>
                  <a:outerShdw blurRad="38100" dist="38100" dir="2700000" algn="tl">
                    <a:srgbClr val="000000">
                      <a:alpha val="43137"/>
                    </a:srgbClr>
                  </a:outerShdw>
                </a:effectLst>
              </a:rPr>
              <a:t>Save the file</a:t>
            </a:r>
            <a:br>
              <a:rPr lang="en-US" sz="2000" b="1" dirty="0"/>
            </a:br>
            <a:r>
              <a:rPr lang="en-US" sz="2000" dirty="0"/>
              <a:t>Inside nano, you use keyboard shortcuts to save (also called "Writing Out" the file).</a:t>
            </a:r>
            <a:br>
              <a:rPr lang="en-US" sz="2000" dirty="0"/>
            </a:br>
            <a:r>
              <a:rPr lang="en-US" sz="2000" dirty="0"/>
              <a:t>Press </a:t>
            </a:r>
            <a:r>
              <a:rPr lang="en-US" sz="2000" b="1" dirty="0"/>
              <a:t>Ctrl + O</a:t>
            </a:r>
            <a:r>
              <a:rPr lang="en-US" sz="2000" dirty="0"/>
              <a:t> (the letter 'O').</a:t>
            </a:r>
            <a:br>
              <a:rPr lang="en-US" sz="2000" dirty="0"/>
            </a:br>
            <a:r>
              <a:rPr lang="en-US" sz="2000" dirty="0"/>
              <a:t>Press </a:t>
            </a:r>
            <a:r>
              <a:rPr lang="en-US" sz="2000" b="1" dirty="0"/>
              <a:t>Enter</a:t>
            </a:r>
            <a:r>
              <a:rPr lang="en-US" sz="2000" dirty="0"/>
              <a:t> on your keyboard to confirm. </a:t>
            </a:r>
            <a:br>
              <a:rPr lang="en-US" sz="2000" b="1" dirty="0"/>
            </a:br>
            <a:r>
              <a:rPr lang="en-US" sz="2000" b="1" dirty="0"/>
              <a:t> Exit the editor</a:t>
            </a:r>
            <a:br>
              <a:rPr lang="en-US" sz="2000" b="1" dirty="0"/>
            </a:br>
            <a:r>
              <a:rPr lang="en-US" sz="2000" dirty="0"/>
              <a:t>Now that your work is safely saved, you can leave the editor and return to your normal command prompt:</a:t>
            </a:r>
            <a:br>
              <a:rPr lang="en-US" sz="2000" dirty="0"/>
            </a:br>
            <a:r>
              <a:rPr lang="en-US" sz="2000" dirty="0"/>
              <a:t>Press </a:t>
            </a:r>
            <a:r>
              <a:rPr lang="en-US" sz="2000" b="1" dirty="0"/>
              <a:t>Ctrl + X</a:t>
            </a:r>
            <a:r>
              <a:rPr lang="en-US" sz="2000" dirty="0"/>
              <a:t>.</a:t>
            </a:r>
            <a:br>
              <a:rPr lang="en-US" sz="2000" dirty="0"/>
            </a:br>
            <a:r>
              <a:rPr lang="en-US" sz="2000" dirty="0"/>
              <a:t>The workspace will close instantly, and you'll be right back where you started.</a:t>
            </a:r>
            <a:br>
              <a:rPr lang="en-US" sz="1600" dirty="0"/>
            </a:br>
            <a:endParaRPr lang="en-GB" sz="1600" dirty="0"/>
          </a:p>
        </p:txBody>
      </p:sp>
      <p:pic>
        <p:nvPicPr>
          <p:cNvPr id="5" name="Content Placeholder 4">
            <a:extLst>
              <a:ext uri="{FF2B5EF4-FFF2-40B4-BE49-F238E27FC236}">
                <a16:creationId xmlns:a16="http://schemas.microsoft.com/office/drawing/2014/main" id="{9A90290B-6C66-0DBE-043D-5700E889ED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46515" y="3027542"/>
            <a:ext cx="8845485" cy="3830457"/>
          </a:xfrm>
        </p:spPr>
      </p:pic>
      <p:pic>
        <p:nvPicPr>
          <p:cNvPr id="7" name="Picture 6">
            <a:extLst>
              <a:ext uri="{FF2B5EF4-FFF2-40B4-BE49-F238E27FC236}">
                <a16:creationId xmlns:a16="http://schemas.microsoft.com/office/drawing/2014/main" id="{B16218FB-A719-CF9C-4C9C-D0639D4D28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27543"/>
            <a:ext cx="4296252" cy="3830457"/>
          </a:xfrm>
          <a:prstGeom prst="rect">
            <a:avLst/>
          </a:prstGeom>
        </p:spPr>
      </p:pic>
    </p:spTree>
    <p:extLst>
      <p:ext uri="{BB962C8B-B14F-4D97-AF65-F5344CB8AC3E}">
        <p14:creationId xmlns:p14="http://schemas.microsoft.com/office/powerpoint/2010/main" val="21612311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B7FED-4222-4A1D-5722-2BD9D575DDC1}"/>
              </a:ext>
            </a:extLst>
          </p:cNvPr>
          <p:cNvSpPr>
            <a:spLocks noGrp="1"/>
          </p:cNvSpPr>
          <p:nvPr>
            <p:ph type="title"/>
          </p:nvPr>
        </p:nvSpPr>
        <p:spPr/>
        <p:txBody>
          <a:bodyPr/>
          <a:lstStyle/>
          <a:p>
            <a:pPr algn="ctr"/>
            <a:r>
              <a:rPr lang="en-US" b="1" u="sng" dirty="0">
                <a:solidFill>
                  <a:srgbClr val="C00000"/>
                </a:solidFill>
              </a:rPr>
              <a:t>Task 10 — File Permissions</a:t>
            </a:r>
            <a:endParaRPr lang="en-GB" b="1" u="sng" dirty="0">
              <a:solidFill>
                <a:srgbClr val="C00000"/>
              </a:solidFill>
            </a:endParaRPr>
          </a:p>
        </p:txBody>
      </p:sp>
      <p:sp>
        <p:nvSpPr>
          <p:cNvPr id="3" name="Content Placeholder 2">
            <a:extLst>
              <a:ext uri="{FF2B5EF4-FFF2-40B4-BE49-F238E27FC236}">
                <a16:creationId xmlns:a16="http://schemas.microsoft.com/office/drawing/2014/main" id="{2264D758-5C37-8676-D3C3-8861D56CAB6E}"/>
              </a:ext>
            </a:extLst>
          </p:cNvPr>
          <p:cNvSpPr>
            <a:spLocks noGrp="1"/>
          </p:cNvSpPr>
          <p:nvPr>
            <p:ph idx="1"/>
          </p:nvPr>
        </p:nvSpPr>
        <p:spPr/>
        <p:txBody>
          <a:bodyPr/>
          <a:lstStyle/>
          <a:p>
            <a:pPr marL="0" indent="0" algn="ctr">
              <a:buNone/>
            </a:pPr>
            <a:r>
              <a:rPr lang="en-US" b="1" dirty="0">
                <a:effectLst>
                  <a:outerShdw blurRad="38100" dist="38100" dir="2700000" algn="tl">
                    <a:srgbClr val="000000">
                      <a:alpha val="43137"/>
                    </a:srgbClr>
                  </a:outerShdw>
                </a:effectLst>
              </a:rPr>
              <a:t>Assignment</a:t>
            </a:r>
          </a:p>
          <a:p>
            <a:pPr marL="0" indent="0" algn="ctr">
              <a:buNone/>
            </a:pPr>
            <a:endParaRPr lang="en-US" b="1" dirty="0">
              <a:effectLst>
                <a:outerShdw blurRad="38100" dist="38100" dir="2700000" algn="tl">
                  <a:srgbClr val="000000">
                    <a:alpha val="43137"/>
                  </a:srgbClr>
                </a:outerShdw>
              </a:effectLst>
            </a:endParaRPr>
          </a:p>
          <a:p>
            <a:pPr marL="514350" indent="-514350" algn="ctr">
              <a:buAutoNum type="arabicPeriod"/>
            </a:pPr>
            <a:r>
              <a:rPr lang="en-US" dirty="0"/>
              <a:t>View its permissions.</a:t>
            </a:r>
          </a:p>
          <a:p>
            <a:pPr marL="0" indent="0" algn="ctr">
              <a:buNone/>
            </a:pPr>
            <a:r>
              <a:rPr lang="en-US" dirty="0"/>
              <a:t>2. Create a file.</a:t>
            </a:r>
          </a:p>
          <a:p>
            <a:pPr marL="0" indent="0" algn="ctr">
              <a:buNone/>
            </a:pPr>
            <a:r>
              <a:rPr lang="en-US" dirty="0"/>
              <a:t>3. Change the permissions.</a:t>
            </a:r>
          </a:p>
          <a:p>
            <a:pPr marL="0" indent="0" algn="ctr">
              <a:buNone/>
            </a:pPr>
            <a:r>
              <a:rPr lang="en-US" dirty="0"/>
              <a:t>4. Verify the changes.</a:t>
            </a:r>
            <a:endParaRPr lang="en-GB" dirty="0"/>
          </a:p>
        </p:txBody>
      </p:sp>
    </p:spTree>
    <p:extLst>
      <p:ext uri="{BB962C8B-B14F-4D97-AF65-F5344CB8AC3E}">
        <p14:creationId xmlns:p14="http://schemas.microsoft.com/office/powerpoint/2010/main" val="21370477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ABBD-5E08-3261-AA07-6524A36249DD}"/>
              </a:ext>
            </a:extLst>
          </p:cNvPr>
          <p:cNvSpPr>
            <a:spLocks noGrp="1"/>
          </p:cNvSpPr>
          <p:nvPr>
            <p:ph type="title"/>
          </p:nvPr>
        </p:nvSpPr>
        <p:spPr>
          <a:xfrm>
            <a:off x="0" y="0"/>
            <a:ext cx="12192000" cy="3751869"/>
          </a:xfrm>
        </p:spPr>
        <p:txBody>
          <a:bodyPr>
            <a:normAutofit/>
          </a:bodyPr>
          <a:lstStyle/>
          <a:p>
            <a:r>
              <a:rPr lang="en-US" sz="2400" dirty="0"/>
              <a:t>Understanding file permissions trips up a lot of people because the output looks like a random string of dashes and letters. To make this task easy, we will use the </a:t>
            </a:r>
            <a:r>
              <a:rPr lang="en-US" dirty="0" err="1"/>
              <a:t>chmod</a:t>
            </a:r>
            <a:r>
              <a:rPr lang="en-US" sz="2400" dirty="0"/>
              <a:t> (</a:t>
            </a:r>
            <a:r>
              <a:rPr lang="en-US" sz="2400" b="1" dirty="0"/>
              <a:t>ch</a:t>
            </a:r>
            <a:r>
              <a:rPr lang="en-US" sz="2400" dirty="0"/>
              <a:t>ange </a:t>
            </a:r>
            <a:r>
              <a:rPr lang="en-US" sz="2400" b="1" dirty="0"/>
              <a:t>mod</a:t>
            </a:r>
            <a:r>
              <a:rPr lang="en-US" sz="2400" dirty="0"/>
              <a:t>e) command.</a:t>
            </a:r>
            <a:br>
              <a:rPr lang="en-US" sz="2400" dirty="0"/>
            </a:br>
            <a:r>
              <a:rPr lang="en-US" sz="2400" dirty="0"/>
              <a:t>Before we start, keep this visual reference in mind when looking at your terminal output:</a:t>
            </a:r>
            <a:br>
              <a:rPr lang="en-US" sz="2400" dirty="0"/>
            </a:br>
            <a:endParaRPr lang="en-GB" sz="2400" dirty="0"/>
          </a:p>
        </p:txBody>
      </p:sp>
      <p:pic>
        <p:nvPicPr>
          <p:cNvPr id="5" name="Content Placeholder 4">
            <a:extLst>
              <a:ext uri="{FF2B5EF4-FFF2-40B4-BE49-F238E27FC236}">
                <a16:creationId xmlns:a16="http://schemas.microsoft.com/office/drawing/2014/main" id="{05A609B4-3AFA-9533-B8CF-F6076C4E86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1597" y="2846895"/>
            <a:ext cx="9681328" cy="3497344"/>
          </a:xfrm>
        </p:spPr>
      </p:pic>
      <p:sp>
        <p:nvSpPr>
          <p:cNvPr id="7" name="TextBox 6">
            <a:extLst>
              <a:ext uri="{FF2B5EF4-FFF2-40B4-BE49-F238E27FC236}">
                <a16:creationId xmlns:a16="http://schemas.microsoft.com/office/drawing/2014/main" id="{39BFA334-A945-96E0-B9A1-6071E1F0ACC8}"/>
              </a:ext>
            </a:extLst>
          </p:cNvPr>
          <p:cNvSpPr txBox="1"/>
          <p:nvPr/>
        </p:nvSpPr>
        <p:spPr>
          <a:xfrm>
            <a:off x="3278171" y="6488668"/>
            <a:ext cx="6141562" cy="369332"/>
          </a:xfrm>
          <a:prstGeom prst="rect">
            <a:avLst/>
          </a:prstGeom>
          <a:noFill/>
        </p:spPr>
        <p:txBody>
          <a:bodyPr wrap="square">
            <a:spAutoFit/>
          </a:bodyPr>
          <a:lstStyle/>
          <a:p>
            <a:r>
              <a:rPr lang="en-GB" b="1" u="sng" dirty="0">
                <a:solidFill>
                  <a:srgbClr val="C00000"/>
                </a:solidFill>
              </a:rPr>
              <a:t>Linux Permission Structure Breakdown</a:t>
            </a:r>
          </a:p>
        </p:txBody>
      </p:sp>
    </p:spTree>
    <p:extLst>
      <p:ext uri="{BB962C8B-B14F-4D97-AF65-F5344CB8AC3E}">
        <p14:creationId xmlns:p14="http://schemas.microsoft.com/office/powerpoint/2010/main" val="38836415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81F16-1D47-8BD5-7591-5782E6381D19}"/>
              </a:ext>
            </a:extLst>
          </p:cNvPr>
          <p:cNvSpPr>
            <a:spLocks noGrp="1"/>
          </p:cNvSpPr>
          <p:nvPr>
            <p:ph type="title"/>
          </p:nvPr>
        </p:nvSpPr>
        <p:spPr>
          <a:xfrm>
            <a:off x="0" y="0"/>
            <a:ext cx="12192000" cy="2778029"/>
          </a:xfrm>
        </p:spPr>
        <p:txBody>
          <a:bodyPr>
            <a:normAutofit/>
          </a:bodyPr>
          <a:lstStyle/>
          <a:p>
            <a:r>
              <a:rPr lang="ig-NG" sz="2400" b="1" u="sng" dirty="0">
                <a:solidFill>
                  <a:srgbClr val="C00000"/>
                </a:solidFill>
              </a:rPr>
              <a:t>1,2,3&amp;4</a:t>
            </a:r>
            <a:br>
              <a:rPr lang="ig-NG" sz="1600" b="1" u="sng" dirty="0">
                <a:solidFill>
                  <a:srgbClr val="C00000"/>
                </a:solidFill>
              </a:rPr>
            </a:br>
            <a:br>
              <a:rPr lang="ig-NG" sz="1600" dirty="0"/>
            </a:br>
            <a:r>
              <a:rPr lang="ig-NG" sz="1600" b="1" dirty="0">
                <a:effectLst>
                  <a:outerShdw blurRad="38100" dist="38100" dir="2700000" algn="tl">
                    <a:srgbClr val="000000">
                      <a:alpha val="43137"/>
                    </a:srgbClr>
                  </a:outerShdw>
                </a:effectLst>
              </a:rPr>
              <a:t>chmod g+w filename.txt</a:t>
            </a:r>
            <a:br>
              <a:rPr lang="ig-NG" sz="1600" b="1" dirty="0">
                <a:effectLst>
                  <a:outerShdw blurRad="38100" dist="38100" dir="2700000" algn="tl">
                    <a:srgbClr val="000000">
                      <a:alpha val="43137"/>
                    </a:srgbClr>
                  </a:outerShdw>
                </a:effectLst>
              </a:rPr>
            </a:br>
            <a:r>
              <a:rPr lang="ig-NG" sz="1600" b="1" dirty="0">
                <a:effectLst>
                  <a:outerShdw blurRad="38100" dist="38100" dir="2700000" algn="tl">
                    <a:srgbClr val="000000">
                      <a:alpha val="43137"/>
                    </a:srgbClr>
                  </a:outerShdw>
                </a:effectLst>
              </a:rPr>
              <a:t>chmod g-r filename.txt</a:t>
            </a:r>
            <a:br>
              <a:rPr lang="ig-NG" sz="1600" b="1" dirty="0">
                <a:effectLst>
                  <a:outerShdw blurRad="38100" dist="38100" dir="2700000" algn="tl">
                    <a:srgbClr val="000000">
                      <a:alpha val="43137"/>
                    </a:srgbClr>
                  </a:outerShdw>
                </a:effectLst>
              </a:rPr>
            </a:br>
            <a:r>
              <a:rPr lang="ig-NG" sz="1600" b="1" dirty="0">
                <a:effectLst>
                  <a:outerShdw blurRad="38100" dist="38100" dir="2700000" algn="tl">
                    <a:srgbClr val="000000">
                      <a:alpha val="43137"/>
                    </a:srgbClr>
                  </a:outerShdw>
                </a:effectLst>
              </a:rPr>
              <a:t>chmod g-r filename.txt</a:t>
            </a:r>
            <a:br>
              <a:rPr lang="ig-NG" sz="1600" dirty="0"/>
            </a:br>
            <a:br>
              <a:rPr lang="ig-NG" sz="1600" dirty="0"/>
            </a:br>
            <a:r>
              <a:rPr lang="en-US" sz="1600" dirty="0"/>
              <a:t># Add execute to the user, add write to the group, and strip all rights from others</a:t>
            </a:r>
            <a:br>
              <a:rPr lang="en-US" sz="1600" dirty="0"/>
            </a:br>
            <a:r>
              <a:rPr lang="en-US" sz="1600" dirty="0" err="1"/>
              <a:t>chmod</a:t>
            </a:r>
            <a:r>
              <a:rPr lang="en-US" sz="1600" dirty="0"/>
              <a:t> </a:t>
            </a:r>
            <a:r>
              <a:rPr lang="en-US" sz="1600" dirty="0" err="1"/>
              <a:t>u+x,g+w,o-rwx</a:t>
            </a:r>
            <a:r>
              <a:rPr lang="en-US" sz="1600" dirty="0"/>
              <a:t> filename.txt</a:t>
            </a:r>
            <a:br>
              <a:rPr lang="ig-NG" sz="1600" dirty="0"/>
            </a:br>
            <a:br>
              <a:rPr lang="ig-NG" sz="1600" dirty="0"/>
            </a:br>
            <a:endParaRPr lang="en-GB" sz="1600" dirty="0"/>
          </a:p>
        </p:txBody>
      </p:sp>
      <p:pic>
        <p:nvPicPr>
          <p:cNvPr id="5" name="Content Placeholder 4">
            <a:extLst>
              <a:ext uri="{FF2B5EF4-FFF2-40B4-BE49-F238E27FC236}">
                <a16:creationId xmlns:a16="http://schemas.microsoft.com/office/drawing/2014/main" id="{87FF709E-D4D4-2A47-8C69-CB1D9845F6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 y="3008617"/>
            <a:ext cx="12192000" cy="3869703"/>
          </a:xfrm>
        </p:spPr>
      </p:pic>
      <p:sp>
        <p:nvSpPr>
          <p:cNvPr id="6" name="Rectangle 1">
            <a:extLst>
              <a:ext uri="{FF2B5EF4-FFF2-40B4-BE49-F238E27FC236}">
                <a16:creationId xmlns:a16="http://schemas.microsoft.com/office/drawing/2014/main" id="{E3461DD7-006F-F5A8-557D-CE918A71941E}"/>
              </a:ext>
            </a:extLst>
          </p:cNvPr>
          <p:cNvSpPr>
            <a:spLocks noChangeArrowheads="1"/>
          </p:cNvSpPr>
          <p:nvPr/>
        </p:nvSpPr>
        <p:spPr bwMode="auto">
          <a:xfrm>
            <a:off x="0" y="2090923"/>
            <a:ext cx="7150868"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You can also target multiple categories with the same permission at once. For example, </a:t>
            </a:r>
            <a:endParaRPr kumimoji="0" lang="ig-NG"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to give both the user and the group execute permissions: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strike="noStrike" cap="none" normalizeH="0" baseline="0" dirty="0" err="1">
                <a:ln>
                  <a:noFill/>
                </a:ln>
                <a:solidFill>
                  <a:schemeClr val="tx1"/>
                </a:solidFill>
                <a:effectLst/>
                <a:latin typeface="Arial Unicode MS"/>
              </a:rPr>
              <a:t>chmod</a:t>
            </a:r>
            <a:r>
              <a:rPr kumimoji="0" lang="en-US" altLang="en-US" b="1" i="0" strike="noStrike" cap="none" normalizeH="0" baseline="0" dirty="0">
                <a:ln>
                  <a:noFill/>
                </a:ln>
                <a:solidFill>
                  <a:schemeClr val="tx1"/>
                </a:solidFill>
                <a:effectLst/>
                <a:latin typeface="Arial Unicode MS"/>
              </a:rPr>
              <a:t> </a:t>
            </a:r>
            <a:r>
              <a:rPr kumimoji="0" lang="en-US" altLang="en-US" b="1" i="0" strike="noStrike" cap="none" normalizeH="0" baseline="0" dirty="0" err="1">
                <a:ln>
                  <a:noFill/>
                </a:ln>
                <a:solidFill>
                  <a:schemeClr val="tx1"/>
                </a:solidFill>
                <a:effectLst/>
                <a:latin typeface="Arial Unicode MS"/>
              </a:rPr>
              <a:t>ug+x</a:t>
            </a:r>
            <a:r>
              <a:rPr kumimoji="0" lang="en-US" altLang="en-US" b="1" i="0" strike="noStrike" cap="none" normalizeH="0" baseline="0" dirty="0">
                <a:ln>
                  <a:noFill/>
                </a:ln>
                <a:solidFill>
                  <a:schemeClr val="tx1"/>
                </a:solidFill>
                <a:effectLst/>
                <a:latin typeface="Arial Unicode MS"/>
              </a:rPr>
              <a:t> filename.txt</a:t>
            </a:r>
            <a:endParaRPr kumimoji="0" lang="en-US" altLang="en-US" b="1" i="0"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372065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F3045-FDC9-7F53-5275-AA0BFA57606B}"/>
              </a:ext>
            </a:extLst>
          </p:cNvPr>
          <p:cNvSpPr>
            <a:spLocks noGrp="1"/>
          </p:cNvSpPr>
          <p:nvPr>
            <p:ph type="title"/>
          </p:nvPr>
        </p:nvSpPr>
        <p:spPr/>
        <p:txBody>
          <a:bodyPr/>
          <a:lstStyle/>
          <a:p>
            <a:pPr algn="ctr"/>
            <a:r>
              <a:rPr lang="en-US" b="1" u="sng" dirty="0">
                <a:solidFill>
                  <a:srgbClr val="C00000"/>
                </a:solidFill>
              </a:rPr>
              <a:t>Task 11 — Manual Pages</a:t>
            </a:r>
            <a:endParaRPr lang="en-GB" b="1" u="sng" dirty="0">
              <a:solidFill>
                <a:srgbClr val="C00000"/>
              </a:solidFill>
            </a:endParaRPr>
          </a:p>
        </p:txBody>
      </p:sp>
      <p:sp>
        <p:nvSpPr>
          <p:cNvPr id="3" name="Content Placeholder 2">
            <a:extLst>
              <a:ext uri="{FF2B5EF4-FFF2-40B4-BE49-F238E27FC236}">
                <a16:creationId xmlns:a16="http://schemas.microsoft.com/office/drawing/2014/main" id="{DE391B4B-41E9-58B3-F0BB-6215AE1365D5}"/>
              </a:ext>
            </a:extLst>
          </p:cNvPr>
          <p:cNvSpPr>
            <a:spLocks noGrp="1"/>
          </p:cNvSpPr>
          <p:nvPr>
            <p:ph idx="1"/>
          </p:nvPr>
        </p:nvSpPr>
        <p:spPr/>
        <p:txBody>
          <a:bodyPr/>
          <a:lstStyle/>
          <a:p>
            <a:pPr marL="0" indent="0" algn="ctr">
              <a:buNone/>
            </a:pPr>
            <a:r>
              <a:rPr lang="en-US" b="1" dirty="0">
                <a:effectLst>
                  <a:outerShdw blurRad="38100" dist="38100" dir="2700000" algn="tl">
                    <a:srgbClr val="000000">
                      <a:alpha val="43137"/>
                    </a:srgbClr>
                  </a:outerShdw>
                </a:effectLst>
              </a:rPr>
              <a:t>Assignment</a:t>
            </a:r>
            <a:endParaRPr lang="ig-NG" b="1" dirty="0">
              <a:effectLst>
                <a:outerShdw blurRad="38100" dist="38100" dir="2700000" algn="tl">
                  <a:srgbClr val="000000">
                    <a:alpha val="43137"/>
                  </a:srgbClr>
                </a:outerShdw>
              </a:effectLst>
            </a:endParaRPr>
          </a:p>
          <a:p>
            <a:pPr marL="0" indent="0" algn="ctr">
              <a:buNone/>
            </a:pPr>
            <a:endParaRPr lang="ig-NG" b="1" dirty="0">
              <a:effectLst>
                <a:outerShdw blurRad="38100" dist="38100" dir="2700000" algn="tl">
                  <a:srgbClr val="000000">
                    <a:alpha val="43137"/>
                  </a:srgbClr>
                </a:outerShdw>
              </a:effectLst>
            </a:endParaRPr>
          </a:p>
          <a:p>
            <a:pPr marL="514350" indent="-514350" algn="ctr">
              <a:buAutoNum type="arabicPeriod"/>
            </a:pPr>
            <a:r>
              <a:rPr lang="en-US" dirty="0"/>
              <a:t>Open the manual page for ls.</a:t>
            </a:r>
            <a:r>
              <a:rPr lang="ig-NG" dirty="0"/>
              <a:t> </a:t>
            </a:r>
          </a:p>
          <a:p>
            <a:pPr marL="0" indent="0" algn="ctr">
              <a:buNone/>
            </a:pPr>
            <a:r>
              <a:rPr lang="en-US" dirty="0"/>
              <a:t>2. Open the manual page for grep.</a:t>
            </a:r>
            <a:endParaRPr lang="ig-NG" dirty="0"/>
          </a:p>
          <a:p>
            <a:pPr marL="0" indent="0" algn="ctr">
              <a:buNone/>
            </a:pPr>
            <a:r>
              <a:rPr lang="en-US" dirty="0"/>
              <a:t>3. Identify at least one option from each command.</a:t>
            </a:r>
            <a:endParaRPr lang="en-GB" dirty="0"/>
          </a:p>
        </p:txBody>
      </p:sp>
    </p:spTree>
    <p:extLst>
      <p:ext uri="{BB962C8B-B14F-4D97-AF65-F5344CB8AC3E}">
        <p14:creationId xmlns:p14="http://schemas.microsoft.com/office/powerpoint/2010/main" val="3934058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DE42-BB5C-900B-6471-94743F4810A4}"/>
              </a:ext>
            </a:extLst>
          </p:cNvPr>
          <p:cNvSpPr>
            <a:spLocks noGrp="1"/>
          </p:cNvSpPr>
          <p:nvPr>
            <p:ph type="title"/>
          </p:nvPr>
        </p:nvSpPr>
        <p:spPr>
          <a:xfrm>
            <a:off x="0" y="612741"/>
            <a:ext cx="11353800" cy="1077947"/>
          </a:xfrm>
        </p:spPr>
        <p:txBody>
          <a:bodyPr>
            <a:normAutofit fontScale="90000"/>
          </a:bodyPr>
          <a:lstStyle/>
          <a:p>
            <a:r>
              <a:rPr lang="en-US" sz="3100" b="1" dirty="0"/>
              <a:t>1. Open the manual page for ls</a:t>
            </a:r>
            <a:br>
              <a:rPr lang="ig-NG" sz="3100" b="1" dirty="0"/>
            </a:br>
            <a:br>
              <a:rPr lang="en-US" sz="3100" b="1" dirty="0"/>
            </a:br>
            <a:r>
              <a:rPr lang="en-US" sz="3100" dirty="0"/>
              <a:t>To view the official system manual and documentation for the list command, run:</a:t>
            </a:r>
            <a:r>
              <a:rPr lang="ig-NG" sz="3100" dirty="0"/>
              <a:t> man ls</a:t>
            </a:r>
            <a:br>
              <a:rPr lang="ig-NG" sz="3100" dirty="0"/>
            </a:br>
            <a:r>
              <a:rPr lang="ig-NG" sz="3100" dirty="0"/>
              <a:t>press “q” to quit and it goes back to the previous page</a:t>
            </a:r>
            <a:br>
              <a:rPr lang="en-US" dirty="0"/>
            </a:br>
            <a:endParaRPr lang="en-GB" dirty="0"/>
          </a:p>
        </p:txBody>
      </p:sp>
      <p:pic>
        <p:nvPicPr>
          <p:cNvPr id="5" name="Content Placeholder 4">
            <a:extLst>
              <a:ext uri="{FF2B5EF4-FFF2-40B4-BE49-F238E27FC236}">
                <a16:creationId xmlns:a16="http://schemas.microsoft.com/office/drawing/2014/main" id="{7D3A717D-5034-1E3F-2010-5507EA5E93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825624"/>
            <a:ext cx="12192000" cy="5032376"/>
          </a:xfrm>
        </p:spPr>
      </p:pic>
    </p:spTree>
    <p:extLst>
      <p:ext uri="{BB962C8B-B14F-4D97-AF65-F5344CB8AC3E}">
        <p14:creationId xmlns:p14="http://schemas.microsoft.com/office/powerpoint/2010/main" val="41580325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F1767-57B3-941A-0724-C61A383097BB}"/>
              </a:ext>
            </a:extLst>
          </p:cNvPr>
          <p:cNvSpPr>
            <a:spLocks noGrp="1"/>
          </p:cNvSpPr>
          <p:nvPr>
            <p:ph type="title"/>
          </p:nvPr>
        </p:nvSpPr>
        <p:spPr>
          <a:xfrm>
            <a:off x="838200" y="289710"/>
            <a:ext cx="10515600" cy="1325563"/>
          </a:xfrm>
        </p:spPr>
        <p:txBody>
          <a:bodyPr/>
          <a:lstStyle/>
          <a:p>
            <a:r>
              <a:rPr lang="en-US" b="1" dirty="0"/>
              <a:t>What man ls Is All About</a:t>
            </a:r>
            <a:br>
              <a:rPr lang="en-US" b="1" dirty="0"/>
            </a:br>
            <a:endParaRPr lang="en-GB" dirty="0"/>
          </a:p>
        </p:txBody>
      </p:sp>
      <p:sp>
        <p:nvSpPr>
          <p:cNvPr id="3" name="Content Placeholder 2">
            <a:extLst>
              <a:ext uri="{FF2B5EF4-FFF2-40B4-BE49-F238E27FC236}">
                <a16:creationId xmlns:a16="http://schemas.microsoft.com/office/drawing/2014/main" id="{EDBF1BC8-1159-3EA3-53A2-929AFBAA8EA2}"/>
              </a:ext>
            </a:extLst>
          </p:cNvPr>
          <p:cNvSpPr>
            <a:spLocks noGrp="1"/>
          </p:cNvSpPr>
          <p:nvPr>
            <p:ph idx="1"/>
          </p:nvPr>
        </p:nvSpPr>
        <p:spPr/>
        <p:txBody>
          <a:bodyPr>
            <a:normAutofit fontScale="92500"/>
          </a:bodyPr>
          <a:lstStyle/>
          <a:p>
            <a:pPr marL="0" indent="0">
              <a:buNone/>
            </a:pPr>
            <a:r>
              <a:rPr lang="en-US" dirty="0"/>
              <a:t>Everyone learns ls on day one to see their files. But man ls shows you that ls is actually a highly powerful formatting tool.</a:t>
            </a:r>
          </a:p>
          <a:p>
            <a:pPr marL="0" indent="0">
              <a:buNone/>
            </a:pPr>
            <a:r>
              <a:rPr lang="en-US" dirty="0"/>
              <a:t>The manual explains how to change how files are displayed, sorted, and filtered. For example, if you open it, you discover hidden switches to:</a:t>
            </a:r>
          </a:p>
          <a:p>
            <a:r>
              <a:rPr lang="en-US" dirty="0"/>
              <a:t>Sort files by size so the biggest files appear at the top.</a:t>
            </a:r>
          </a:p>
          <a:p>
            <a:r>
              <a:rPr lang="en-US" dirty="0"/>
              <a:t>Sort files by the exact second they were last modified (great for finding a file you just downloaded).</a:t>
            </a:r>
          </a:p>
          <a:p>
            <a:r>
              <a:rPr lang="en-US" dirty="0"/>
              <a:t>Display files in a comma-separated list instead of columns.</a:t>
            </a:r>
          </a:p>
          <a:p>
            <a:r>
              <a:rPr lang="en-US" b="1" dirty="0"/>
              <a:t>In short:</a:t>
            </a:r>
            <a:r>
              <a:rPr lang="en-US" dirty="0"/>
              <a:t> man ls is about moving from "just looking at files" to </a:t>
            </a:r>
            <a:r>
              <a:rPr lang="en-US" i="1" dirty="0"/>
              <a:t>organizing and filtering</a:t>
            </a:r>
            <a:r>
              <a:rPr lang="en-US" dirty="0"/>
              <a:t> how you view your filesystem.</a:t>
            </a:r>
          </a:p>
          <a:p>
            <a:endParaRPr lang="en-GB" dirty="0"/>
          </a:p>
        </p:txBody>
      </p:sp>
    </p:spTree>
    <p:extLst>
      <p:ext uri="{BB962C8B-B14F-4D97-AF65-F5344CB8AC3E}">
        <p14:creationId xmlns:p14="http://schemas.microsoft.com/office/powerpoint/2010/main" val="24836931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D329C-75FB-63D3-75DD-3783CD994C0F}"/>
              </a:ext>
            </a:extLst>
          </p:cNvPr>
          <p:cNvSpPr>
            <a:spLocks noGrp="1"/>
          </p:cNvSpPr>
          <p:nvPr>
            <p:ph type="title"/>
          </p:nvPr>
        </p:nvSpPr>
        <p:spPr>
          <a:xfrm>
            <a:off x="631596" y="681037"/>
            <a:ext cx="10722204" cy="1009651"/>
          </a:xfrm>
        </p:spPr>
        <p:txBody>
          <a:bodyPr>
            <a:noAutofit/>
          </a:bodyPr>
          <a:lstStyle/>
          <a:p>
            <a:r>
              <a:rPr lang="en-US" sz="2400" b="1" dirty="0"/>
              <a:t>2. Open the manual page for grep</a:t>
            </a:r>
            <a:br>
              <a:rPr lang="ig-NG" sz="2400" b="1" dirty="0"/>
            </a:br>
            <a:br>
              <a:rPr lang="en-US" sz="2400" b="1" dirty="0"/>
            </a:br>
            <a:r>
              <a:rPr lang="en-US" sz="2400" dirty="0"/>
              <a:t>To view the comprehensive documentation for the global regular expression search tool, run:</a:t>
            </a:r>
            <a:r>
              <a:rPr lang="ig-NG" sz="2400" dirty="0"/>
              <a:t> man grep</a:t>
            </a:r>
            <a:br>
              <a:rPr lang="ig-NG" sz="2400" dirty="0"/>
            </a:br>
            <a:br>
              <a:rPr lang="ig-NG" sz="2400" dirty="0"/>
            </a:br>
            <a:r>
              <a:rPr lang="ig-NG" sz="2400" dirty="0"/>
              <a:t>press “q” to quit and go backto the previous page</a:t>
            </a:r>
            <a:br>
              <a:rPr lang="en-US" sz="2400" dirty="0"/>
            </a:br>
            <a:endParaRPr lang="en-GB" sz="2400" dirty="0"/>
          </a:p>
        </p:txBody>
      </p:sp>
      <p:pic>
        <p:nvPicPr>
          <p:cNvPr id="5" name="Content Placeholder 4">
            <a:extLst>
              <a:ext uri="{FF2B5EF4-FFF2-40B4-BE49-F238E27FC236}">
                <a16:creationId xmlns:a16="http://schemas.microsoft.com/office/drawing/2014/main" id="{56BEF137-2E01-1B7B-6FD4-4E6E3810A9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281238"/>
            <a:ext cx="12192000" cy="4477781"/>
          </a:xfrm>
        </p:spPr>
      </p:pic>
    </p:spTree>
    <p:extLst>
      <p:ext uri="{BB962C8B-B14F-4D97-AF65-F5344CB8AC3E}">
        <p14:creationId xmlns:p14="http://schemas.microsoft.com/office/powerpoint/2010/main" val="21356565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3431C-0701-AD69-AE9F-C5697B08F843}"/>
              </a:ext>
            </a:extLst>
          </p:cNvPr>
          <p:cNvSpPr>
            <a:spLocks noGrp="1"/>
          </p:cNvSpPr>
          <p:nvPr>
            <p:ph type="title"/>
          </p:nvPr>
        </p:nvSpPr>
        <p:spPr>
          <a:xfrm>
            <a:off x="0" y="0"/>
            <a:ext cx="12192000" cy="681037"/>
          </a:xfrm>
        </p:spPr>
        <p:txBody>
          <a:bodyPr>
            <a:normAutofit fontScale="90000"/>
          </a:bodyPr>
          <a:lstStyle/>
          <a:p>
            <a:pPr algn="ctr"/>
            <a:r>
              <a:rPr lang="ig-NG" b="1" dirty="0">
                <a:effectLst>
                  <a:outerShdw blurRad="38100" dist="38100" dir="2700000" algn="tl">
                    <a:srgbClr val="000000">
                      <a:alpha val="43137"/>
                    </a:srgbClr>
                  </a:outerShdw>
                </a:effectLst>
              </a:rPr>
              <a:t>What man grep is about</a:t>
            </a:r>
            <a:r>
              <a:rPr lang="ig-NG" dirty="0"/>
              <a:t>.</a:t>
            </a:r>
            <a:endParaRPr lang="en-GB" dirty="0"/>
          </a:p>
        </p:txBody>
      </p:sp>
      <p:sp>
        <p:nvSpPr>
          <p:cNvPr id="3" name="Content Placeholder 2">
            <a:extLst>
              <a:ext uri="{FF2B5EF4-FFF2-40B4-BE49-F238E27FC236}">
                <a16:creationId xmlns:a16="http://schemas.microsoft.com/office/drawing/2014/main" id="{B420CB2D-A350-D8BC-B811-4D700A806637}"/>
              </a:ext>
            </a:extLst>
          </p:cNvPr>
          <p:cNvSpPr>
            <a:spLocks noGrp="1"/>
          </p:cNvSpPr>
          <p:nvPr>
            <p:ph idx="1"/>
          </p:nvPr>
        </p:nvSpPr>
        <p:spPr>
          <a:xfrm>
            <a:off x="0" y="681036"/>
            <a:ext cx="12192000" cy="6176963"/>
          </a:xfrm>
        </p:spPr>
        <p:txBody>
          <a:bodyPr>
            <a:normAutofit/>
          </a:bodyPr>
          <a:lstStyle/>
          <a:p>
            <a:r>
              <a:rPr lang="en-US" sz="2000" b="1" dirty="0"/>
              <a:t>grep</a:t>
            </a:r>
            <a:r>
              <a:rPr lang="en-US" sz="2000" dirty="0"/>
              <a:t> is one of the most powerful tools in all of Linux, and its manual page is legendary because it reads almost like a mini programming guide.</a:t>
            </a:r>
          </a:p>
          <a:p>
            <a:r>
              <a:rPr lang="en-US" sz="2000" dirty="0"/>
              <a:t>Because grep is used to hunt down text inside massive data streams, man grep explains all the deep logic switches available to you. By reading it, you learn how to:</a:t>
            </a:r>
          </a:p>
          <a:p>
            <a:r>
              <a:rPr lang="en-US" sz="2000" dirty="0"/>
              <a:t>Search not just one file, but a whole directory tree of thousands of files at once (Recursive search).</a:t>
            </a:r>
          </a:p>
          <a:p>
            <a:r>
              <a:rPr lang="en-US" sz="2000" dirty="0"/>
              <a:t>Invert your search (show me every single line </a:t>
            </a:r>
            <a:r>
              <a:rPr lang="en-US" sz="2000" i="1" dirty="0"/>
              <a:t>except</a:t>
            </a:r>
            <a:r>
              <a:rPr lang="en-US" sz="2000" dirty="0"/>
              <a:t> lines containing the word "error").</a:t>
            </a:r>
          </a:p>
          <a:p>
            <a:r>
              <a:rPr lang="en-US" sz="2000" dirty="0"/>
              <a:t>Count occurrences of a word across multiple system logs without actually opening the files.</a:t>
            </a:r>
          </a:p>
          <a:p>
            <a:r>
              <a:rPr lang="en-US" sz="2000" b="1" dirty="0"/>
              <a:t>Why developers use man instead of Googling</a:t>
            </a:r>
          </a:p>
          <a:p>
            <a:r>
              <a:rPr lang="en-US" sz="2000" dirty="0"/>
              <a:t>While Google is great, the man pages have three massive advantages:</a:t>
            </a:r>
          </a:p>
          <a:p>
            <a:r>
              <a:rPr lang="en-US" sz="2000" b="1" dirty="0"/>
              <a:t>Version Accuracy:</a:t>
            </a:r>
            <a:r>
              <a:rPr lang="en-US" sz="2000" dirty="0"/>
              <a:t> They show you exactly how the tool behaves on </a:t>
            </a:r>
            <a:r>
              <a:rPr lang="en-US" sz="2000" i="1" dirty="0"/>
              <a:t>your specific machine</a:t>
            </a:r>
            <a:r>
              <a:rPr lang="en-US" sz="2000" dirty="0"/>
              <a:t> right now, not an updated version someone wrote about on a blog.</a:t>
            </a:r>
          </a:p>
          <a:p>
            <a:r>
              <a:rPr lang="en-US" sz="2000" b="1" dirty="0"/>
              <a:t>No Internet Required:</a:t>
            </a:r>
            <a:r>
              <a:rPr lang="en-US" sz="2000" dirty="0"/>
              <a:t> If you are working on a secure server or an offline data center, man is always there.</a:t>
            </a:r>
          </a:p>
          <a:p>
            <a:r>
              <a:rPr lang="en-US" sz="2000" b="1" dirty="0"/>
              <a:t>The Hidden Feature:</a:t>
            </a:r>
            <a:r>
              <a:rPr lang="en-US" sz="2000" dirty="0"/>
              <a:t> Inside any manual page, you can press the forward slash key</a:t>
            </a:r>
            <a:r>
              <a:rPr lang="en-US" sz="2000" b="1" dirty="0"/>
              <a:t> (/), </a:t>
            </a:r>
            <a:r>
              <a:rPr lang="en-US" sz="2000" dirty="0"/>
              <a:t>type a keyword, and hit Enter to instantly search </a:t>
            </a:r>
            <a:r>
              <a:rPr lang="en-US" sz="2000" i="1" dirty="0"/>
              <a:t>inside</a:t>
            </a:r>
            <a:r>
              <a:rPr lang="en-US" sz="2000" dirty="0"/>
              <a:t> the instruction manual itself!</a:t>
            </a:r>
          </a:p>
          <a:p>
            <a:endParaRPr lang="en-GB" sz="1400" dirty="0"/>
          </a:p>
        </p:txBody>
      </p:sp>
    </p:spTree>
    <p:extLst>
      <p:ext uri="{BB962C8B-B14F-4D97-AF65-F5344CB8AC3E}">
        <p14:creationId xmlns:p14="http://schemas.microsoft.com/office/powerpoint/2010/main" val="23382059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52DA4-A867-CAD2-EB44-367EE63499BC}"/>
              </a:ext>
            </a:extLst>
          </p:cNvPr>
          <p:cNvSpPr>
            <a:spLocks noGrp="1"/>
          </p:cNvSpPr>
          <p:nvPr>
            <p:ph type="title"/>
          </p:nvPr>
        </p:nvSpPr>
        <p:spPr>
          <a:xfrm>
            <a:off x="705678" y="1"/>
            <a:ext cx="10648122" cy="1690688"/>
          </a:xfrm>
        </p:spPr>
        <p:txBody>
          <a:bodyPr>
            <a:normAutofit/>
          </a:bodyPr>
          <a:lstStyle/>
          <a:p>
            <a:r>
              <a:rPr lang="en-US" sz="2800" b="1" dirty="0">
                <a:effectLst>
                  <a:outerShdw blurRad="38100" dist="38100" dir="2700000" algn="tl">
                    <a:srgbClr val="000000">
                      <a:alpha val="43137"/>
                    </a:srgbClr>
                  </a:outerShdw>
                </a:effectLst>
              </a:rPr>
              <a:t>3. Identify at least one option from each command.</a:t>
            </a:r>
            <a:br>
              <a:rPr lang="ig-NG" sz="2800" b="1" dirty="0">
                <a:effectLst>
                  <a:outerShdw blurRad="38100" dist="38100" dir="2700000" algn="tl">
                    <a:srgbClr val="000000">
                      <a:alpha val="43137"/>
                    </a:srgbClr>
                  </a:outerShdw>
                </a:effectLst>
              </a:rPr>
            </a:br>
            <a:r>
              <a:rPr lang="en-US" sz="2800" dirty="0"/>
              <a:t>The </a:t>
            </a:r>
            <a:r>
              <a:rPr lang="en-US" dirty="0"/>
              <a:t>ls -h</a:t>
            </a:r>
            <a:r>
              <a:rPr lang="en-US" sz="2800" dirty="0"/>
              <a:t> Option (Human-Readable Sizes)</a:t>
            </a:r>
            <a:endParaRPr lang="en-GB" sz="2800" dirty="0"/>
          </a:p>
        </p:txBody>
      </p:sp>
      <p:pic>
        <p:nvPicPr>
          <p:cNvPr id="7" name="Picture 6">
            <a:extLst>
              <a:ext uri="{FF2B5EF4-FFF2-40B4-BE49-F238E27FC236}">
                <a16:creationId xmlns:a16="http://schemas.microsoft.com/office/drawing/2014/main" id="{1ECC1B56-58CE-88E2-1F5D-FBD1D94B91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71528"/>
            <a:ext cx="7059754" cy="5086472"/>
          </a:xfrm>
          <a:prstGeom prst="rect">
            <a:avLst/>
          </a:prstGeom>
        </p:spPr>
      </p:pic>
      <p:pic>
        <p:nvPicPr>
          <p:cNvPr id="11" name="Content Placeholder 10">
            <a:extLst>
              <a:ext uri="{FF2B5EF4-FFF2-40B4-BE49-F238E27FC236}">
                <a16:creationId xmlns:a16="http://schemas.microsoft.com/office/drawing/2014/main" id="{B0831676-C166-0CA9-10C0-1621E0D3422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059754" y="1771528"/>
            <a:ext cx="5132246" cy="5086472"/>
          </a:xfrm>
        </p:spPr>
      </p:pic>
    </p:spTree>
    <p:extLst>
      <p:ext uri="{BB962C8B-B14F-4D97-AF65-F5344CB8AC3E}">
        <p14:creationId xmlns:p14="http://schemas.microsoft.com/office/powerpoint/2010/main" val="16533302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EB30B-F052-EDED-3B9B-414CC5024209}"/>
              </a:ext>
            </a:extLst>
          </p:cNvPr>
          <p:cNvSpPr>
            <a:spLocks noGrp="1"/>
          </p:cNvSpPr>
          <p:nvPr>
            <p:ph type="title"/>
          </p:nvPr>
        </p:nvSpPr>
        <p:spPr>
          <a:xfrm>
            <a:off x="258418" y="365125"/>
            <a:ext cx="11095382" cy="708301"/>
          </a:xfrm>
        </p:spPr>
        <p:txBody>
          <a:bodyPr>
            <a:normAutofit fontScale="90000"/>
          </a:bodyPr>
          <a:lstStyle/>
          <a:p>
            <a:r>
              <a:rPr lang="en-US" b="1" dirty="0">
                <a:effectLst>
                  <a:outerShdw blurRad="38100" dist="38100" dir="2700000" algn="tl">
                    <a:srgbClr val="000000">
                      <a:alpha val="43137"/>
                    </a:srgbClr>
                  </a:outerShdw>
                </a:effectLst>
              </a:rPr>
              <a:t>For grep: The grep -</a:t>
            </a:r>
            <a:r>
              <a:rPr lang="en-US" b="1" dirty="0" err="1">
                <a:effectLst>
                  <a:outerShdw blurRad="38100" dist="38100" dir="2700000" algn="tl">
                    <a:srgbClr val="000000">
                      <a:alpha val="43137"/>
                    </a:srgbClr>
                  </a:outerShdw>
                </a:effectLst>
              </a:rPr>
              <a:t>i</a:t>
            </a:r>
            <a:r>
              <a:rPr lang="en-US" b="1" dirty="0">
                <a:effectLst>
                  <a:outerShdw blurRad="38100" dist="38100" dir="2700000" algn="tl">
                    <a:srgbClr val="000000">
                      <a:alpha val="43137"/>
                    </a:srgbClr>
                  </a:outerShdw>
                </a:effectLst>
              </a:rPr>
              <a:t> Option (Ignore Case-Sensitivity)</a:t>
            </a:r>
            <a:endParaRPr lang="en-GB" b="1"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EE3D52AF-2E0C-2F90-DBA9-291B5F355392}"/>
              </a:ext>
            </a:extLst>
          </p:cNvPr>
          <p:cNvSpPr>
            <a:spLocks noGrp="1"/>
          </p:cNvSpPr>
          <p:nvPr>
            <p:ph idx="1"/>
          </p:nvPr>
        </p:nvSpPr>
        <p:spPr>
          <a:xfrm>
            <a:off x="0" y="1451112"/>
            <a:ext cx="12192000" cy="5406888"/>
          </a:xfrm>
        </p:spPr>
        <p:txBody>
          <a:bodyPr/>
          <a:lstStyle/>
          <a:p>
            <a:r>
              <a:rPr lang="en-US" dirty="0"/>
              <a:t>Linux is fiercely case-sensitive. If you use standard grep to search for the word "admin", it will completely skip over lines that contain "Admin" or "ADMIN". If you are looking through system logs for errors, missing a capitalized word could be disastrous.</a:t>
            </a:r>
          </a:p>
          <a:p>
            <a:r>
              <a:rPr lang="en-US" b="1" dirty="0"/>
              <a:t>The Fix</a:t>
            </a:r>
          </a:p>
          <a:p>
            <a:r>
              <a:rPr lang="en-US" dirty="0"/>
              <a:t>The -</a:t>
            </a:r>
            <a:r>
              <a:rPr lang="en-US" dirty="0" err="1"/>
              <a:t>i</a:t>
            </a:r>
            <a:r>
              <a:rPr lang="en-US" dirty="0"/>
              <a:t> flag forces grep to ignore case completely. It treats uppercase and lowercase letters exactly the same.</a:t>
            </a:r>
          </a:p>
          <a:p>
            <a:endParaRPr lang="ig-NG" dirty="0"/>
          </a:p>
          <a:p>
            <a:endParaRPr lang="ig-NG" dirty="0"/>
          </a:p>
          <a:p>
            <a:r>
              <a:rPr lang="ig-NG" dirty="0"/>
              <a:t>See it in the next slide </a:t>
            </a:r>
            <a:r>
              <a:rPr lang="ig-NG" dirty="0">
                <a:sym typeface="Wingdings" panose="05000000000000000000" pitchFamily="2" charset="2"/>
              </a:rPr>
              <a:t></a:t>
            </a:r>
            <a:endParaRPr lang="en-GB" dirty="0"/>
          </a:p>
        </p:txBody>
      </p:sp>
    </p:spTree>
    <p:extLst>
      <p:ext uri="{BB962C8B-B14F-4D97-AF65-F5344CB8AC3E}">
        <p14:creationId xmlns:p14="http://schemas.microsoft.com/office/powerpoint/2010/main" val="3684910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B6333-49D9-B155-2FBA-ACA13D0FC6D6}"/>
              </a:ext>
            </a:extLst>
          </p:cNvPr>
          <p:cNvSpPr>
            <a:spLocks noGrp="1"/>
          </p:cNvSpPr>
          <p:nvPr>
            <p:ph type="title"/>
          </p:nvPr>
        </p:nvSpPr>
        <p:spPr/>
        <p:txBody>
          <a:bodyPr/>
          <a:lstStyle/>
          <a:p>
            <a:endParaRPr lang="en-GB" dirty="0"/>
          </a:p>
        </p:txBody>
      </p:sp>
      <p:pic>
        <p:nvPicPr>
          <p:cNvPr id="5" name="Content Placeholder 4">
            <a:extLst>
              <a:ext uri="{FF2B5EF4-FFF2-40B4-BE49-F238E27FC236}">
                <a16:creationId xmlns:a16="http://schemas.microsoft.com/office/drawing/2014/main" id="{C7326DC9-A7CE-D883-1FEC-F3CD9B35B8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036903"/>
          </a:xfrm>
        </p:spPr>
      </p:pic>
    </p:spTree>
    <p:extLst>
      <p:ext uri="{BB962C8B-B14F-4D97-AF65-F5344CB8AC3E}">
        <p14:creationId xmlns:p14="http://schemas.microsoft.com/office/powerpoint/2010/main" val="15857250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11174-9EE0-0149-BB0A-D2AE79DBF77C}"/>
              </a:ext>
            </a:extLst>
          </p:cNvPr>
          <p:cNvSpPr>
            <a:spLocks noGrp="1"/>
          </p:cNvSpPr>
          <p:nvPr>
            <p:ph type="title"/>
          </p:nvPr>
        </p:nvSpPr>
        <p:spPr>
          <a:xfrm>
            <a:off x="0" y="1"/>
            <a:ext cx="12192000" cy="2117034"/>
          </a:xfrm>
        </p:spPr>
        <p:txBody>
          <a:bodyPr>
            <a:normAutofit/>
          </a:bodyPr>
          <a:lstStyle/>
          <a:p>
            <a:pPr algn="ctr"/>
            <a:r>
              <a:rPr lang="en-US" b="1" u="sng" dirty="0">
                <a:solidFill>
                  <a:schemeClr val="accent1"/>
                </a:solidFill>
                <a:effectLst>
                  <a:outerShdw blurRad="38100" dist="38100" dir="2700000" algn="tl">
                    <a:srgbClr val="000000">
                      <a:alpha val="43137"/>
                    </a:srgbClr>
                  </a:outerShdw>
                </a:effectLst>
              </a:rPr>
              <a:t>SECTION 2 — SQL PRACTICAL ASSIGNMENT</a:t>
            </a:r>
            <a:br>
              <a:rPr lang="ig-NG" dirty="0"/>
            </a:br>
            <a:br>
              <a:rPr lang="ig-NG" dirty="0"/>
            </a:br>
            <a:r>
              <a:rPr lang="en-US" b="1" dirty="0">
                <a:solidFill>
                  <a:srgbClr val="C00000"/>
                </a:solidFill>
                <a:effectLst>
                  <a:outerShdw blurRad="38100" dist="38100" dir="2700000" algn="tl">
                    <a:srgbClr val="000000">
                      <a:alpha val="43137"/>
                    </a:srgbClr>
                  </a:outerShdw>
                </a:effectLst>
              </a:rPr>
              <a:t> Task 1 — Display Records</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ECEC1EF1-9B92-655D-3891-7AECAE6CB64E}"/>
              </a:ext>
            </a:extLst>
          </p:cNvPr>
          <p:cNvSpPr>
            <a:spLocks noGrp="1"/>
          </p:cNvSpPr>
          <p:nvPr>
            <p:ph idx="1"/>
          </p:nvPr>
        </p:nvSpPr>
        <p:spPr>
          <a:xfrm>
            <a:off x="596348" y="3289851"/>
            <a:ext cx="10757452" cy="2887111"/>
          </a:xfrm>
        </p:spPr>
        <p:txBody>
          <a:bodyPr/>
          <a:lstStyle/>
          <a:p>
            <a:pPr marL="0" indent="0" algn="ctr">
              <a:buNone/>
            </a:pPr>
            <a:r>
              <a:rPr lang="en-US" b="1" dirty="0"/>
              <a:t>Assignment</a:t>
            </a:r>
            <a:endParaRPr lang="ig-NG" b="1" dirty="0"/>
          </a:p>
          <a:p>
            <a:pPr marL="0" indent="0" algn="ctr">
              <a:buNone/>
            </a:pPr>
            <a:endParaRPr lang="ig-NG" dirty="0"/>
          </a:p>
          <a:p>
            <a:pPr marL="0" indent="0" algn="ctr">
              <a:buNone/>
            </a:pPr>
            <a:r>
              <a:rPr lang="en-US" dirty="0"/>
              <a:t>Display all records from a table.</a:t>
            </a:r>
            <a:endParaRPr lang="en-GB" dirty="0"/>
          </a:p>
        </p:txBody>
      </p:sp>
    </p:spTree>
    <p:extLst>
      <p:ext uri="{BB962C8B-B14F-4D97-AF65-F5344CB8AC3E}">
        <p14:creationId xmlns:p14="http://schemas.microsoft.com/office/powerpoint/2010/main" val="23656458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4AD28-8CCD-7681-31C3-179DA1950611}"/>
              </a:ext>
            </a:extLst>
          </p:cNvPr>
          <p:cNvSpPr>
            <a:spLocks noGrp="1"/>
          </p:cNvSpPr>
          <p:nvPr>
            <p:ph type="title"/>
          </p:nvPr>
        </p:nvSpPr>
        <p:spPr/>
        <p:txBody>
          <a:bodyPr/>
          <a:lstStyle/>
          <a:p>
            <a:endParaRPr lang="en-GB" dirty="0"/>
          </a:p>
        </p:txBody>
      </p:sp>
      <p:pic>
        <p:nvPicPr>
          <p:cNvPr id="5" name="Content Placeholder 4">
            <a:extLst>
              <a:ext uri="{FF2B5EF4-FFF2-40B4-BE49-F238E27FC236}">
                <a16:creationId xmlns:a16="http://schemas.microsoft.com/office/drawing/2014/main" id="{17EEE066-60FA-8466-1C37-04004A5D0B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838" y="0"/>
            <a:ext cx="12113161" cy="6857999"/>
          </a:xfrm>
        </p:spPr>
      </p:pic>
    </p:spTree>
    <p:extLst>
      <p:ext uri="{BB962C8B-B14F-4D97-AF65-F5344CB8AC3E}">
        <p14:creationId xmlns:p14="http://schemas.microsoft.com/office/powerpoint/2010/main" val="42223686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524F3-8F22-198B-EA94-1DFB6AFED0A5}"/>
              </a:ext>
            </a:extLst>
          </p:cNvPr>
          <p:cNvSpPr>
            <a:spLocks noGrp="1"/>
          </p:cNvSpPr>
          <p:nvPr>
            <p:ph type="title"/>
          </p:nvPr>
        </p:nvSpPr>
        <p:spPr/>
        <p:txBody>
          <a:bodyPr/>
          <a:lstStyle/>
          <a:p>
            <a:pPr algn="ctr"/>
            <a:r>
              <a:rPr lang="en-US" b="1" u="sng" dirty="0">
                <a:solidFill>
                  <a:srgbClr val="C00000"/>
                </a:solidFill>
                <a:effectLst>
                  <a:outerShdw blurRad="38100" dist="38100" dir="2700000" algn="tl">
                    <a:srgbClr val="000000">
                      <a:alpha val="43137"/>
                    </a:srgbClr>
                  </a:outerShdw>
                </a:effectLst>
              </a:rPr>
              <a:t>Task 2 — Display Specific Columns</a:t>
            </a:r>
            <a:endParaRPr lang="en-GB" b="1" u="sng"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BE2ECE15-C8EF-DA04-2A58-107B08078408}"/>
              </a:ext>
            </a:extLst>
          </p:cNvPr>
          <p:cNvSpPr>
            <a:spLocks noGrp="1"/>
          </p:cNvSpPr>
          <p:nvPr>
            <p:ph idx="1"/>
          </p:nvPr>
        </p:nvSpPr>
        <p:spPr/>
        <p:txBody>
          <a:bodyPr/>
          <a:lstStyle/>
          <a:p>
            <a:pPr marL="0" indent="0" algn="ctr">
              <a:buNone/>
            </a:pPr>
            <a:r>
              <a:rPr lang="en-US" b="1" dirty="0">
                <a:effectLst>
                  <a:outerShdw blurRad="38100" dist="38100" dir="2700000" algn="tl">
                    <a:srgbClr val="000000">
                      <a:alpha val="43137"/>
                    </a:srgbClr>
                  </a:outerShdw>
                </a:effectLst>
              </a:rPr>
              <a:t>Assignment</a:t>
            </a:r>
            <a:endParaRPr lang="ig-NG" b="1" dirty="0">
              <a:effectLst>
                <a:outerShdw blurRad="38100" dist="38100" dir="2700000" algn="tl">
                  <a:srgbClr val="000000">
                    <a:alpha val="43137"/>
                  </a:srgbClr>
                </a:outerShdw>
              </a:effectLst>
            </a:endParaRPr>
          </a:p>
          <a:p>
            <a:pPr marL="0" indent="0">
              <a:buNone/>
            </a:pPr>
            <a:endParaRPr lang="ig-NG" dirty="0"/>
          </a:p>
          <a:p>
            <a:pPr marL="0" indent="0" algn="ctr">
              <a:buNone/>
            </a:pPr>
            <a:r>
              <a:rPr lang="en-US" dirty="0"/>
              <a:t>Display selected columns from a table.</a:t>
            </a:r>
            <a:endParaRPr lang="en-GB" dirty="0"/>
          </a:p>
        </p:txBody>
      </p:sp>
    </p:spTree>
    <p:extLst>
      <p:ext uri="{BB962C8B-B14F-4D97-AF65-F5344CB8AC3E}">
        <p14:creationId xmlns:p14="http://schemas.microsoft.com/office/powerpoint/2010/main" val="25273759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FF397-ADCA-5D0A-CEDA-628B900D7024}"/>
              </a:ext>
            </a:extLst>
          </p:cNvPr>
          <p:cNvSpPr>
            <a:spLocks noGrp="1"/>
          </p:cNvSpPr>
          <p:nvPr>
            <p:ph type="title"/>
          </p:nvPr>
        </p:nvSpPr>
        <p:spPr>
          <a:xfrm>
            <a:off x="838200" y="345247"/>
            <a:ext cx="10515600" cy="1185379"/>
          </a:xfrm>
        </p:spPr>
        <p:txBody>
          <a:bodyPr>
            <a:normAutofit fontScale="90000"/>
          </a:bodyPr>
          <a:lstStyle/>
          <a:p>
            <a:r>
              <a:rPr lang="en-US" dirty="0"/>
              <a:t>just the </a:t>
            </a:r>
            <a:r>
              <a:rPr lang="en-US" b="1" dirty="0" err="1"/>
              <a:t>first_name</a:t>
            </a:r>
            <a:r>
              <a:rPr lang="en-US" dirty="0"/>
              <a:t>, </a:t>
            </a:r>
            <a:r>
              <a:rPr lang="en-US" b="1" dirty="0"/>
              <a:t>major</a:t>
            </a:r>
            <a:r>
              <a:rPr lang="en-US" dirty="0"/>
              <a:t>, and </a:t>
            </a:r>
            <a:r>
              <a:rPr lang="en-US" b="1" dirty="0" err="1"/>
              <a:t>gpa</a:t>
            </a:r>
            <a:r>
              <a:rPr lang="en-US" dirty="0"/>
              <a:t> from </a:t>
            </a:r>
            <a:r>
              <a:rPr lang="en-US" dirty="0" err="1"/>
              <a:t>uni_students</a:t>
            </a:r>
            <a:r>
              <a:rPr lang="en-US" dirty="0"/>
              <a:t> table, leaving out the IDs and genders:</a:t>
            </a:r>
            <a:endParaRPr lang="en-GB" dirty="0"/>
          </a:p>
        </p:txBody>
      </p:sp>
      <p:pic>
        <p:nvPicPr>
          <p:cNvPr id="5" name="Content Placeholder 4">
            <a:extLst>
              <a:ext uri="{FF2B5EF4-FFF2-40B4-BE49-F238E27FC236}">
                <a16:creationId xmlns:a16="http://schemas.microsoft.com/office/drawing/2014/main" id="{214D6875-A621-2FCD-1E66-AFD281C544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210" y="1848678"/>
            <a:ext cx="11946834" cy="4995025"/>
          </a:xfrm>
        </p:spPr>
      </p:pic>
    </p:spTree>
    <p:extLst>
      <p:ext uri="{BB962C8B-B14F-4D97-AF65-F5344CB8AC3E}">
        <p14:creationId xmlns:p14="http://schemas.microsoft.com/office/powerpoint/2010/main" val="31522462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550F1-3963-D06C-B17A-F9E5881AEA27}"/>
              </a:ext>
            </a:extLst>
          </p:cNvPr>
          <p:cNvSpPr>
            <a:spLocks noGrp="1"/>
          </p:cNvSpPr>
          <p:nvPr>
            <p:ph type="title"/>
          </p:nvPr>
        </p:nvSpPr>
        <p:spPr/>
        <p:txBody>
          <a:bodyPr/>
          <a:lstStyle/>
          <a:p>
            <a:pPr algn="ctr"/>
            <a:r>
              <a:rPr lang="en-US" b="1" dirty="0">
                <a:solidFill>
                  <a:srgbClr val="C00000"/>
                </a:solidFill>
                <a:effectLst>
                  <a:outerShdw blurRad="38100" dist="38100" dir="2700000" algn="tl">
                    <a:srgbClr val="000000">
                      <a:alpha val="43137"/>
                    </a:srgbClr>
                  </a:outerShdw>
                </a:effectLst>
              </a:rPr>
              <a:t>Task 3 — Describe a Table</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43D5AC7B-F73B-39DC-60A9-D3AD8AA1D019}"/>
              </a:ext>
            </a:extLst>
          </p:cNvPr>
          <p:cNvSpPr>
            <a:spLocks noGrp="1"/>
          </p:cNvSpPr>
          <p:nvPr>
            <p:ph idx="1"/>
          </p:nvPr>
        </p:nvSpPr>
        <p:spPr/>
        <p:txBody>
          <a:bodyPr/>
          <a:lstStyle/>
          <a:p>
            <a:pPr algn="ctr"/>
            <a:r>
              <a:rPr lang="en-US" b="1" dirty="0">
                <a:effectLst>
                  <a:outerShdw blurRad="38100" dist="38100" dir="2700000" algn="tl">
                    <a:srgbClr val="000000">
                      <a:alpha val="43137"/>
                    </a:srgbClr>
                  </a:outerShdw>
                </a:effectLst>
              </a:rPr>
              <a:t>Assignment</a:t>
            </a:r>
          </a:p>
          <a:p>
            <a:pPr algn="ctr"/>
            <a:endParaRPr lang="en-US" dirty="0"/>
          </a:p>
          <a:p>
            <a:pPr algn="ctr"/>
            <a:r>
              <a:rPr lang="en-US" dirty="0"/>
              <a:t>Display the structure of a table.</a:t>
            </a:r>
            <a:endParaRPr lang="en-GB" dirty="0"/>
          </a:p>
        </p:txBody>
      </p:sp>
    </p:spTree>
    <p:extLst>
      <p:ext uri="{BB962C8B-B14F-4D97-AF65-F5344CB8AC3E}">
        <p14:creationId xmlns:p14="http://schemas.microsoft.com/office/powerpoint/2010/main" val="4951592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E5631-38E8-9E25-AD6E-900CFA65AFDF}"/>
              </a:ext>
            </a:extLst>
          </p:cNvPr>
          <p:cNvSpPr>
            <a:spLocks noGrp="1"/>
          </p:cNvSpPr>
          <p:nvPr>
            <p:ph type="title"/>
          </p:nvPr>
        </p:nvSpPr>
        <p:spPr/>
        <p:txBody>
          <a:bodyPr>
            <a:normAutofit/>
          </a:bodyPr>
          <a:lstStyle/>
          <a:p>
            <a:r>
              <a:rPr lang="en-US" b="1" dirty="0">
                <a:effectLst>
                  <a:outerShdw blurRad="38100" dist="38100" dir="2700000" algn="tl">
                    <a:srgbClr val="000000">
                      <a:alpha val="43137"/>
                    </a:srgbClr>
                  </a:outerShdw>
                </a:effectLst>
              </a:rPr>
              <a:t>DESCRIBE THE STRUCTURE </a:t>
            </a:r>
            <a:br>
              <a:rPr lang="en-US" b="1" dirty="0">
                <a:effectLst>
                  <a:outerShdw blurRad="38100" dist="38100" dir="2700000" algn="tl">
                    <a:srgbClr val="000000">
                      <a:alpha val="43137"/>
                    </a:srgbClr>
                  </a:outerShdw>
                </a:effectLst>
              </a:rPr>
            </a:br>
            <a:r>
              <a:rPr lang="en-US" sz="2700" dirty="0"/>
              <a:t>PRAGMA </a:t>
            </a:r>
            <a:r>
              <a:rPr lang="en-US" sz="2700" dirty="0" err="1"/>
              <a:t>table_info</a:t>
            </a:r>
            <a:r>
              <a:rPr lang="en-US" sz="2700" dirty="0"/>
              <a:t>(</a:t>
            </a:r>
            <a:r>
              <a:rPr lang="en-US" sz="2700" dirty="0" err="1"/>
              <a:t>uni_students</a:t>
            </a:r>
            <a:r>
              <a:rPr lang="en-US" sz="2700" dirty="0"/>
              <a:t>);</a:t>
            </a:r>
            <a:endParaRPr lang="en-GB" sz="2700" dirty="0"/>
          </a:p>
        </p:txBody>
      </p:sp>
      <p:pic>
        <p:nvPicPr>
          <p:cNvPr id="7" name="Content Placeholder 6">
            <a:extLst>
              <a:ext uri="{FF2B5EF4-FFF2-40B4-BE49-F238E27FC236}">
                <a16:creationId xmlns:a16="http://schemas.microsoft.com/office/drawing/2014/main" id="{E4ABC80B-AB98-DF75-1D5B-0088639CDF1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0240" y="1825624"/>
            <a:ext cx="11358880" cy="5032375"/>
          </a:xfrm>
        </p:spPr>
      </p:pic>
    </p:spTree>
    <p:extLst>
      <p:ext uri="{BB962C8B-B14F-4D97-AF65-F5344CB8AC3E}">
        <p14:creationId xmlns:p14="http://schemas.microsoft.com/office/powerpoint/2010/main" val="26112679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8C192-EEC7-B6F6-A4B3-5487281F8676}"/>
              </a:ext>
            </a:extLst>
          </p:cNvPr>
          <p:cNvSpPr>
            <a:spLocks noGrp="1"/>
          </p:cNvSpPr>
          <p:nvPr>
            <p:ph type="title"/>
          </p:nvPr>
        </p:nvSpPr>
        <p:spPr>
          <a:xfrm>
            <a:off x="500269" y="216038"/>
            <a:ext cx="10515600" cy="1325563"/>
          </a:xfrm>
        </p:spPr>
        <p:txBody>
          <a:bodyPr>
            <a:normAutofit/>
          </a:bodyPr>
          <a:lstStyle/>
          <a:p>
            <a:pPr algn="ctr"/>
            <a:r>
              <a:rPr lang="en-US" b="1" dirty="0">
                <a:solidFill>
                  <a:srgbClr val="C00000"/>
                </a:solidFill>
                <a:effectLst>
                  <a:outerShdw blurRad="38100" dist="38100" dir="2700000" algn="tl">
                    <a:srgbClr val="000000">
                      <a:alpha val="43137"/>
                    </a:srgbClr>
                  </a:outerShdw>
                </a:effectLst>
              </a:rPr>
              <a:t>Task 4 — Filtering Records</a:t>
            </a:r>
            <a:endParaRPr lang="en-GB" i="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0C56A014-F208-E65C-6EC7-46A0877EA36E}"/>
              </a:ext>
            </a:extLst>
          </p:cNvPr>
          <p:cNvSpPr>
            <a:spLocks noGrp="1"/>
          </p:cNvSpPr>
          <p:nvPr>
            <p:ph idx="1"/>
          </p:nvPr>
        </p:nvSpPr>
        <p:spPr/>
        <p:txBody>
          <a:bodyPr>
            <a:normAutofit/>
          </a:bodyPr>
          <a:lstStyle/>
          <a:p>
            <a:pPr marL="0" indent="0" algn="ctr">
              <a:buNone/>
            </a:pPr>
            <a:r>
              <a:rPr lang="en-US" sz="2000" b="1" i="1" u="sng" dirty="0"/>
              <a:t>Assignment</a:t>
            </a:r>
          </a:p>
          <a:p>
            <a:pPr marL="0" indent="0" algn="ctr">
              <a:buNone/>
            </a:pPr>
            <a:endParaRPr lang="en-US" sz="2000" b="1" dirty="0"/>
          </a:p>
          <a:p>
            <a:pPr marL="0" indent="0" algn="ctr">
              <a:buNone/>
            </a:pPr>
            <a:r>
              <a:rPr lang="en-US" sz="2000" b="1" dirty="0"/>
              <a:t>1. Display records greater than a value.</a:t>
            </a:r>
          </a:p>
          <a:p>
            <a:pPr marL="0" indent="0" algn="ctr">
              <a:buNone/>
            </a:pPr>
            <a:r>
              <a:rPr lang="en-US" sz="2000" b="1" dirty="0"/>
              <a:t>2. Display records equal to a value.</a:t>
            </a:r>
          </a:p>
          <a:p>
            <a:pPr marL="0" indent="0" algn="ctr">
              <a:buNone/>
            </a:pPr>
            <a:r>
              <a:rPr lang="en-US" sz="2000" b="1" dirty="0"/>
              <a:t>3. Display records less than a value.</a:t>
            </a:r>
            <a:endParaRPr lang="en-GB" sz="2000" dirty="0"/>
          </a:p>
        </p:txBody>
      </p:sp>
    </p:spTree>
    <p:extLst>
      <p:ext uri="{BB962C8B-B14F-4D97-AF65-F5344CB8AC3E}">
        <p14:creationId xmlns:p14="http://schemas.microsoft.com/office/powerpoint/2010/main" val="1932970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A40C8-BA02-54E4-9887-9EDD88FF48DB}"/>
              </a:ext>
            </a:extLst>
          </p:cNvPr>
          <p:cNvSpPr>
            <a:spLocks noGrp="1"/>
          </p:cNvSpPr>
          <p:nvPr>
            <p:ph type="title"/>
          </p:nvPr>
        </p:nvSpPr>
        <p:spPr/>
        <p:txBody>
          <a:bodyPr>
            <a:normAutofit fontScale="90000"/>
          </a:bodyPr>
          <a:lstStyle/>
          <a:p>
            <a:r>
              <a:rPr lang="en-US" sz="2000" b="1" dirty="0"/>
              <a:t>1. Display records greater than a value (&gt;)</a:t>
            </a:r>
            <a:br>
              <a:rPr lang="en-US" sz="2000" b="1" dirty="0"/>
            </a:br>
            <a:br>
              <a:rPr lang="en-US" sz="2000" b="1" dirty="0"/>
            </a:br>
            <a:r>
              <a:rPr lang="en-US" sz="2000" dirty="0"/>
              <a:t>This query filters out anyone with a GPA lower than or equal to 4.00, showing only your top-performing students.</a:t>
            </a:r>
            <a:br>
              <a:rPr lang="en-US" sz="2000" dirty="0"/>
            </a:br>
            <a:endParaRPr lang="en-GB" sz="2000" dirty="0"/>
          </a:p>
        </p:txBody>
      </p:sp>
      <p:pic>
        <p:nvPicPr>
          <p:cNvPr id="5" name="Content Placeholder 4">
            <a:extLst>
              <a:ext uri="{FF2B5EF4-FFF2-40B4-BE49-F238E27FC236}">
                <a16:creationId xmlns:a16="http://schemas.microsoft.com/office/drawing/2014/main" id="{985B00E7-0AE6-02A3-E2E1-75CEDD8935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514" y="1825624"/>
            <a:ext cx="12112486" cy="5032375"/>
          </a:xfrm>
        </p:spPr>
      </p:pic>
    </p:spTree>
    <p:extLst>
      <p:ext uri="{BB962C8B-B14F-4D97-AF65-F5344CB8AC3E}">
        <p14:creationId xmlns:p14="http://schemas.microsoft.com/office/powerpoint/2010/main" val="3642909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A015E-FC6B-1855-4744-5B7E9BA81DBE}"/>
              </a:ext>
            </a:extLst>
          </p:cNvPr>
          <p:cNvSpPr>
            <a:spLocks noGrp="1"/>
          </p:cNvSpPr>
          <p:nvPr>
            <p:ph type="title"/>
          </p:nvPr>
        </p:nvSpPr>
        <p:spPr/>
        <p:txBody>
          <a:bodyPr>
            <a:normAutofit/>
          </a:bodyPr>
          <a:lstStyle/>
          <a:p>
            <a:r>
              <a:rPr lang="en-US" sz="2200" b="1" dirty="0"/>
              <a:t>2. Display records equal to a value (=)</a:t>
            </a:r>
            <a:br>
              <a:rPr lang="en-US" sz="2000" b="1" dirty="0"/>
            </a:br>
            <a:br>
              <a:rPr lang="en-US" sz="2000" b="1" dirty="0"/>
            </a:br>
            <a:r>
              <a:rPr lang="en-US" sz="2000" dirty="0"/>
              <a:t>This query looks for an exact match. Let's pull up the record for the exact GPA of 3.78.</a:t>
            </a:r>
            <a:br>
              <a:rPr lang="en-US" sz="2000" dirty="0"/>
            </a:br>
            <a:endParaRPr lang="en-GB" sz="2000" dirty="0"/>
          </a:p>
        </p:txBody>
      </p:sp>
      <p:pic>
        <p:nvPicPr>
          <p:cNvPr id="5" name="Content Placeholder 4">
            <a:extLst>
              <a:ext uri="{FF2B5EF4-FFF2-40B4-BE49-F238E27FC236}">
                <a16:creationId xmlns:a16="http://schemas.microsoft.com/office/drawing/2014/main" id="{2A6B21F7-34C6-7622-59D0-D3DA82633A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825624"/>
            <a:ext cx="12192000" cy="5101949"/>
          </a:xfrm>
        </p:spPr>
      </p:pic>
    </p:spTree>
    <p:extLst>
      <p:ext uri="{BB962C8B-B14F-4D97-AF65-F5344CB8AC3E}">
        <p14:creationId xmlns:p14="http://schemas.microsoft.com/office/powerpoint/2010/main" val="15468144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BAA96-6504-8FED-DE80-FE56D60D1F32}"/>
              </a:ext>
            </a:extLst>
          </p:cNvPr>
          <p:cNvSpPr>
            <a:spLocks noGrp="1"/>
          </p:cNvSpPr>
          <p:nvPr>
            <p:ph type="title"/>
          </p:nvPr>
        </p:nvSpPr>
        <p:spPr/>
        <p:txBody>
          <a:bodyPr>
            <a:normAutofit/>
          </a:bodyPr>
          <a:lstStyle/>
          <a:p>
            <a:r>
              <a:rPr lang="en-US" sz="2000" b="1" dirty="0"/>
              <a:t>3. Display records less than a value (&lt;)</a:t>
            </a:r>
            <a:br>
              <a:rPr lang="en-US" sz="2000" b="1" dirty="0"/>
            </a:br>
            <a:br>
              <a:rPr lang="en-US" sz="2000" b="1" dirty="0"/>
            </a:br>
            <a:r>
              <a:rPr lang="en-US" sz="2000" dirty="0"/>
              <a:t>This query finds all students whose GPA falls below the 4.00 threshold.</a:t>
            </a:r>
            <a:br>
              <a:rPr lang="en-US" sz="2000" dirty="0"/>
            </a:br>
            <a:endParaRPr lang="en-GB" sz="2000" dirty="0"/>
          </a:p>
        </p:txBody>
      </p:sp>
      <p:pic>
        <p:nvPicPr>
          <p:cNvPr id="5" name="Content Placeholder 4">
            <a:extLst>
              <a:ext uri="{FF2B5EF4-FFF2-40B4-BE49-F238E27FC236}">
                <a16:creationId xmlns:a16="http://schemas.microsoft.com/office/drawing/2014/main" id="{9CA815F9-CD80-A0FA-1F24-E44056BA26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825624"/>
            <a:ext cx="12192000" cy="5032375"/>
          </a:xfrm>
        </p:spPr>
      </p:pic>
    </p:spTree>
    <p:extLst>
      <p:ext uri="{BB962C8B-B14F-4D97-AF65-F5344CB8AC3E}">
        <p14:creationId xmlns:p14="http://schemas.microsoft.com/office/powerpoint/2010/main" val="29063413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DAE86-F0A2-ABD9-805E-8CD7EB007C03}"/>
              </a:ext>
            </a:extLst>
          </p:cNvPr>
          <p:cNvSpPr>
            <a:spLocks noGrp="1"/>
          </p:cNvSpPr>
          <p:nvPr>
            <p:ph type="title"/>
          </p:nvPr>
        </p:nvSpPr>
        <p:spPr/>
        <p:txBody>
          <a:bodyPr/>
          <a:lstStyle/>
          <a:p>
            <a:pPr algn="ctr"/>
            <a:r>
              <a:rPr lang="en-US" b="1" dirty="0">
                <a:solidFill>
                  <a:srgbClr val="C00000"/>
                </a:solidFill>
                <a:effectLst>
                  <a:outerShdw blurRad="38100" dist="38100" dir="2700000" algn="tl">
                    <a:srgbClr val="000000">
                      <a:alpha val="43137"/>
                    </a:srgbClr>
                  </a:outerShdw>
                </a:effectLst>
              </a:rPr>
              <a:t>Task 5</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C6B37B5B-6573-F93F-BF2C-1D64C0DCE267}"/>
              </a:ext>
            </a:extLst>
          </p:cNvPr>
          <p:cNvSpPr>
            <a:spLocks noGrp="1"/>
          </p:cNvSpPr>
          <p:nvPr>
            <p:ph idx="1"/>
          </p:nvPr>
        </p:nvSpPr>
        <p:spPr/>
        <p:txBody>
          <a:bodyPr/>
          <a:lstStyle/>
          <a:p>
            <a:pPr marL="0" indent="0" algn="ctr">
              <a:buNone/>
            </a:pPr>
            <a:r>
              <a:rPr lang="en-US" b="1" u="sng" dirty="0"/>
              <a:t>Assignment</a:t>
            </a:r>
          </a:p>
          <a:p>
            <a:pPr algn="ctr"/>
            <a:endParaRPr lang="en-US" dirty="0"/>
          </a:p>
          <a:p>
            <a:pPr algn="ctr"/>
            <a:r>
              <a:rPr lang="en-US" dirty="0"/>
              <a:t>Display records matching multiple conditions.</a:t>
            </a:r>
            <a:endParaRPr lang="en-GB" dirty="0"/>
          </a:p>
        </p:txBody>
      </p:sp>
    </p:spTree>
    <p:extLst>
      <p:ext uri="{BB962C8B-B14F-4D97-AF65-F5344CB8AC3E}">
        <p14:creationId xmlns:p14="http://schemas.microsoft.com/office/powerpoint/2010/main" val="6450691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9876C-09BC-A1BF-1195-43307343AE76}"/>
              </a:ext>
            </a:extLst>
          </p:cNvPr>
          <p:cNvSpPr>
            <a:spLocks noGrp="1"/>
          </p:cNvSpPr>
          <p:nvPr>
            <p:ph type="title"/>
          </p:nvPr>
        </p:nvSpPr>
        <p:spPr>
          <a:xfrm>
            <a:off x="646042" y="188842"/>
            <a:ext cx="11042375" cy="815010"/>
          </a:xfrm>
        </p:spPr>
        <p:txBody>
          <a:bodyPr>
            <a:normAutofit/>
          </a:bodyPr>
          <a:lstStyle/>
          <a:p>
            <a:r>
              <a:rPr lang="en-US" dirty="0"/>
              <a:t>AND </a:t>
            </a:r>
            <a:r>
              <a:rPr lang="en-US" dirty="0" err="1"/>
              <a:t>and</a:t>
            </a:r>
            <a:r>
              <a:rPr lang="en-US" dirty="0"/>
              <a:t> OR</a:t>
            </a:r>
            <a:endParaRPr lang="en-GB" dirty="0"/>
          </a:p>
        </p:txBody>
      </p:sp>
      <p:sp>
        <p:nvSpPr>
          <p:cNvPr id="3" name="Content Placeholder 2">
            <a:extLst>
              <a:ext uri="{FF2B5EF4-FFF2-40B4-BE49-F238E27FC236}">
                <a16:creationId xmlns:a16="http://schemas.microsoft.com/office/drawing/2014/main" id="{A6F1086B-CEDF-65FF-0C8D-020360A046A7}"/>
              </a:ext>
            </a:extLst>
          </p:cNvPr>
          <p:cNvSpPr>
            <a:spLocks noGrp="1"/>
          </p:cNvSpPr>
          <p:nvPr>
            <p:ph idx="1"/>
          </p:nvPr>
        </p:nvSpPr>
        <p:spPr>
          <a:xfrm>
            <a:off x="646043" y="1848677"/>
            <a:ext cx="10707757" cy="4328285"/>
          </a:xfrm>
        </p:spPr>
        <p:txBody>
          <a:bodyPr/>
          <a:lstStyle/>
          <a:p>
            <a:r>
              <a:rPr lang="en-US" dirty="0"/>
              <a:t>To handle multiple conditions in SQL, I expanded my WHERE clause using logical operators. The two most important operators are </a:t>
            </a:r>
            <a:r>
              <a:rPr lang="en-US" b="1" dirty="0"/>
              <a:t>AND</a:t>
            </a:r>
            <a:r>
              <a:rPr lang="en-US" dirty="0"/>
              <a:t> </a:t>
            </a:r>
            <a:r>
              <a:rPr lang="en-US" dirty="0" err="1"/>
              <a:t>and</a:t>
            </a:r>
            <a:r>
              <a:rPr lang="en-US" dirty="0"/>
              <a:t> </a:t>
            </a:r>
            <a:r>
              <a:rPr lang="en-US" b="1" dirty="0"/>
              <a:t>OR</a:t>
            </a:r>
            <a:r>
              <a:rPr lang="en-US" dirty="0"/>
              <a:t>.</a:t>
            </a:r>
          </a:p>
          <a:p>
            <a:r>
              <a:rPr lang="en-US" b="1" dirty="0"/>
              <a:t>AND</a:t>
            </a:r>
            <a:r>
              <a:rPr lang="en-US" dirty="0"/>
              <a:t>: Requires </a:t>
            </a:r>
            <a:r>
              <a:rPr lang="en-US" b="1" dirty="0"/>
              <a:t>both</a:t>
            </a:r>
            <a:r>
              <a:rPr lang="en-US" dirty="0"/>
              <a:t> conditions to be completely true for a row to show up.</a:t>
            </a:r>
          </a:p>
          <a:p>
            <a:r>
              <a:rPr lang="en-US" b="1" dirty="0"/>
              <a:t>OR</a:t>
            </a:r>
            <a:r>
              <a:rPr lang="en-US" dirty="0"/>
              <a:t>: Requires </a:t>
            </a:r>
            <a:r>
              <a:rPr lang="en-US" b="1" dirty="0"/>
              <a:t>at least one</a:t>
            </a:r>
            <a:r>
              <a:rPr lang="en-US" dirty="0"/>
              <a:t> of the conditions to be true.</a:t>
            </a:r>
          </a:p>
          <a:p>
            <a:r>
              <a:rPr lang="en-US" dirty="0"/>
              <a:t>Here is how I applied both to my </a:t>
            </a:r>
            <a:r>
              <a:rPr lang="en-US" dirty="0" err="1"/>
              <a:t>uni_students</a:t>
            </a:r>
            <a:r>
              <a:rPr lang="en-US" dirty="0"/>
              <a:t> table. </a:t>
            </a:r>
            <a:r>
              <a:rPr lang="en-US" dirty="0">
                <a:sym typeface="Wingdings" panose="05000000000000000000" pitchFamily="2" charset="2"/>
              </a:rPr>
              <a:t></a:t>
            </a:r>
            <a:endParaRPr lang="en-US" dirty="0"/>
          </a:p>
          <a:p>
            <a:endParaRPr lang="en-GB" dirty="0"/>
          </a:p>
        </p:txBody>
      </p:sp>
    </p:spTree>
    <p:extLst>
      <p:ext uri="{BB962C8B-B14F-4D97-AF65-F5344CB8AC3E}">
        <p14:creationId xmlns:p14="http://schemas.microsoft.com/office/powerpoint/2010/main" val="30636213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59646-5E1E-26ED-7EE1-73BC84C6D482}"/>
              </a:ext>
            </a:extLst>
          </p:cNvPr>
          <p:cNvSpPr>
            <a:spLocks noGrp="1"/>
          </p:cNvSpPr>
          <p:nvPr>
            <p:ph type="title"/>
          </p:nvPr>
        </p:nvSpPr>
        <p:spPr/>
        <p:txBody>
          <a:bodyPr>
            <a:normAutofit/>
          </a:bodyPr>
          <a:lstStyle/>
          <a:p>
            <a:r>
              <a:rPr lang="en-GB" sz="3600" dirty="0">
                <a:effectLst>
                  <a:outerShdw blurRad="38100" dist="38100" dir="2700000" algn="tl">
                    <a:srgbClr val="000000">
                      <a:alpha val="43137"/>
                    </a:srgbClr>
                  </a:outerShdw>
                </a:effectLst>
              </a:rPr>
              <a:t>Using the AND Operator</a:t>
            </a:r>
            <a:br>
              <a:rPr lang="en-GB" sz="3600" dirty="0">
                <a:effectLst>
                  <a:outerShdw blurRad="38100" dist="38100" dir="2700000" algn="tl">
                    <a:srgbClr val="000000">
                      <a:alpha val="43137"/>
                    </a:srgbClr>
                  </a:outerShdw>
                </a:effectLst>
              </a:rPr>
            </a:br>
            <a:br>
              <a:rPr lang="en-US" sz="1800" b="1" dirty="0"/>
            </a:br>
            <a:r>
              <a:rPr lang="en-US" sz="1800" b="1" dirty="0"/>
              <a:t>As you can see, the gender is ‘female’ and the </a:t>
            </a:r>
            <a:r>
              <a:rPr lang="en-US" sz="1800" b="1" dirty="0" err="1"/>
              <a:t>gpa</a:t>
            </a:r>
            <a:r>
              <a:rPr lang="en-US" sz="1800" b="1" dirty="0"/>
              <a:t> is  &gt;  3.00. So, it displayed the result upon running it.</a:t>
            </a:r>
            <a:endParaRPr lang="en-GB" sz="1800" b="1" dirty="0"/>
          </a:p>
        </p:txBody>
      </p:sp>
      <p:pic>
        <p:nvPicPr>
          <p:cNvPr id="5" name="Content Placeholder 4">
            <a:extLst>
              <a:ext uri="{FF2B5EF4-FFF2-40B4-BE49-F238E27FC236}">
                <a16:creationId xmlns:a16="http://schemas.microsoft.com/office/drawing/2014/main" id="{A25093B7-7C02-2463-FA69-AA3AE38147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514" y="1825624"/>
            <a:ext cx="12112486" cy="4923045"/>
          </a:xfrm>
        </p:spPr>
      </p:pic>
    </p:spTree>
    <p:extLst>
      <p:ext uri="{BB962C8B-B14F-4D97-AF65-F5344CB8AC3E}">
        <p14:creationId xmlns:p14="http://schemas.microsoft.com/office/powerpoint/2010/main" val="34037108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8BA7D-BE85-3824-B637-61B4350F68A7}"/>
              </a:ext>
            </a:extLst>
          </p:cNvPr>
          <p:cNvSpPr>
            <a:spLocks noGrp="1"/>
          </p:cNvSpPr>
          <p:nvPr>
            <p:ph type="title"/>
          </p:nvPr>
        </p:nvSpPr>
        <p:spPr>
          <a:xfrm>
            <a:off x="1056860" y="-238539"/>
            <a:ext cx="10515600" cy="1889471"/>
          </a:xfrm>
        </p:spPr>
        <p:txBody>
          <a:bodyPr>
            <a:normAutofit fontScale="90000"/>
          </a:bodyPr>
          <a:lstStyle/>
          <a:p>
            <a:r>
              <a:rPr lang="en-GB" dirty="0"/>
              <a:t>Using the AND Operator</a:t>
            </a:r>
            <a:br>
              <a:rPr lang="en-GB" dirty="0"/>
            </a:br>
            <a:br>
              <a:rPr lang="en-GB" dirty="0"/>
            </a:br>
            <a:r>
              <a:rPr lang="en-GB" sz="2000" dirty="0"/>
              <a:t>No result showed because one is correct and the other isn’t, by using AND operator, both </a:t>
            </a:r>
            <a:r>
              <a:rPr lang="en-GB" sz="2000" b="1" dirty="0"/>
              <a:t>must </a:t>
            </a:r>
            <a:r>
              <a:rPr lang="en-GB" sz="2000" dirty="0"/>
              <a:t>be correct.</a:t>
            </a:r>
            <a:br>
              <a:rPr lang="en-GB" sz="2000" dirty="0"/>
            </a:br>
            <a:r>
              <a:rPr lang="en-GB" sz="2000" dirty="0"/>
              <a:t>There is a gender ‘female’ but, there is no </a:t>
            </a:r>
            <a:r>
              <a:rPr lang="en-GB" sz="2000" dirty="0" err="1"/>
              <a:t>gpa</a:t>
            </a:r>
            <a:r>
              <a:rPr lang="en-GB" sz="2000" dirty="0"/>
              <a:t> &lt; 3.07</a:t>
            </a:r>
          </a:p>
        </p:txBody>
      </p:sp>
      <p:pic>
        <p:nvPicPr>
          <p:cNvPr id="5" name="Content Placeholder 4">
            <a:extLst>
              <a:ext uri="{FF2B5EF4-FFF2-40B4-BE49-F238E27FC236}">
                <a16:creationId xmlns:a16="http://schemas.microsoft.com/office/drawing/2014/main" id="{D4CD55E9-C956-0728-985C-CEDB5E0AC6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825624"/>
            <a:ext cx="12191999" cy="5032375"/>
          </a:xfrm>
        </p:spPr>
      </p:pic>
    </p:spTree>
    <p:extLst>
      <p:ext uri="{BB962C8B-B14F-4D97-AF65-F5344CB8AC3E}">
        <p14:creationId xmlns:p14="http://schemas.microsoft.com/office/powerpoint/2010/main" val="22428653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67A46-74C6-FD8A-B7A8-2D87316BF63C}"/>
              </a:ext>
            </a:extLst>
          </p:cNvPr>
          <p:cNvSpPr>
            <a:spLocks noGrp="1"/>
          </p:cNvSpPr>
          <p:nvPr>
            <p:ph type="title"/>
          </p:nvPr>
        </p:nvSpPr>
        <p:spPr/>
        <p:txBody>
          <a:bodyPr>
            <a:normAutofit fontScale="90000"/>
          </a:bodyPr>
          <a:lstStyle/>
          <a:p>
            <a:r>
              <a:rPr lang="en-GB" dirty="0"/>
              <a:t>Using the AND Operator</a:t>
            </a:r>
            <a:br>
              <a:rPr lang="en-GB" dirty="0"/>
            </a:br>
            <a:br>
              <a:rPr lang="en-GB" dirty="0"/>
            </a:br>
            <a:r>
              <a:rPr lang="en-GB" sz="2000" dirty="0"/>
              <a:t>Here, there is a match and it showed the result upon running it.</a:t>
            </a:r>
            <a:endParaRPr lang="en-GB" dirty="0"/>
          </a:p>
        </p:txBody>
      </p:sp>
      <p:pic>
        <p:nvPicPr>
          <p:cNvPr id="5" name="Content Placeholder 4">
            <a:extLst>
              <a:ext uri="{FF2B5EF4-FFF2-40B4-BE49-F238E27FC236}">
                <a16:creationId xmlns:a16="http://schemas.microsoft.com/office/drawing/2014/main" id="{B159474D-AF10-242C-7044-BDA9EBFC4E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984650"/>
            <a:ext cx="12192000" cy="4803775"/>
          </a:xfrm>
        </p:spPr>
      </p:pic>
    </p:spTree>
    <p:extLst>
      <p:ext uri="{BB962C8B-B14F-4D97-AF65-F5344CB8AC3E}">
        <p14:creationId xmlns:p14="http://schemas.microsoft.com/office/powerpoint/2010/main" val="27891085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D5EA5-9051-0E9F-3259-5B9F2D4FF3B8}"/>
              </a:ext>
            </a:extLst>
          </p:cNvPr>
          <p:cNvSpPr>
            <a:spLocks noGrp="1"/>
          </p:cNvSpPr>
          <p:nvPr>
            <p:ph type="title"/>
          </p:nvPr>
        </p:nvSpPr>
        <p:spPr>
          <a:xfrm>
            <a:off x="178904" y="1"/>
            <a:ext cx="11174896" cy="1690688"/>
          </a:xfrm>
        </p:spPr>
        <p:txBody>
          <a:bodyPr>
            <a:normAutofit fontScale="90000"/>
          </a:bodyPr>
          <a:lstStyle/>
          <a:p>
            <a:r>
              <a:rPr lang="en-GB" dirty="0"/>
              <a:t>Using the OR Operator</a:t>
            </a:r>
            <a:br>
              <a:rPr lang="en-GB" dirty="0"/>
            </a:br>
            <a:br>
              <a:rPr lang="en-GB" sz="2400" dirty="0"/>
            </a:br>
            <a:r>
              <a:rPr lang="en-GB" sz="2400" dirty="0"/>
              <a:t>Here, if one is correct and the other isn’t is would work because of the OR operator.</a:t>
            </a:r>
            <a:br>
              <a:rPr lang="en-GB" sz="2400" dirty="0"/>
            </a:br>
            <a:r>
              <a:rPr lang="en-GB" sz="2400" dirty="0"/>
              <a:t>There is a gender ‘male’ but there is no </a:t>
            </a:r>
            <a:r>
              <a:rPr lang="en-GB" sz="2400" dirty="0" err="1"/>
              <a:t>gpa</a:t>
            </a:r>
            <a:r>
              <a:rPr lang="en-GB" sz="2400" dirty="0"/>
              <a:t> that is = 5.87. So, it worked and displayed the result.</a:t>
            </a:r>
            <a:endParaRPr lang="en-GB" dirty="0"/>
          </a:p>
        </p:txBody>
      </p:sp>
      <p:pic>
        <p:nvPicPr>
          <p:cNvPr id="5" name="Content Placeholder 4">
            <a:extLst>
              <a:ext uri="{FF2B5EF4-FFF2-40B4-BE49-F238E27FC236}">
                <a16:creationId xmlns:a16="http://schemas.microsoft.com/office/drawing/2014/main" id="{82BE9011-5DC7-68D1-4436-DB7415324F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223190"/>
            <a:ext cx="12191999" cy="4634810"/>
          </a:xfrm>
        </p:spPr>
      </p:pic>
    </p:spTree>
    <p:extLst>
      <p:ext uri="{BB962C8B-B14F-4D97-AF65-F5344CB8AC3E}">
        <p14:creationId xmlns:p14="http://schemas.microsoft.com/office/powerpoint/2010/main" val="2175830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14CA7-9060-7862-7917-6EA48F39BD8E}"/>
              </a:ext>
            </a:extLst>
          </p:cNvPr>
          <p:cNvSpPr>
            <a:spLocks noGrp="1"/>
          </p:cNvSpPr>
          <p:nvPr>
            <p:ph type="title"/>
          </p:nvPr>
        </p:nvSpPr>
        <p:spPr/>
        <p:txBody>
          <a:bodyPr>
            <a:normAutofit fontScale="90000"/>
          </a:bodyPr>
          <a:lstStyle/>
          <a:p>
            <a:r>
              <a:rPr lang="en-GB" dirty="0"/>
              <a:t>Using the OR Operator</a:t>
            </a:r>
            <a:br>
              <a:rPr lang="en-GB" dirty="0"/>
            </a:br>
            <a:br>
              <a:rPr lang="en-GB" dirty="0"/>
            </a:br>
            <a:r>
              <a:rPr lang="en-GB" sz="2000" dirty="0"/>
              <a:t>Same thing here, it showed the result of the specified major and the specified ID found in the table.</a:t>
            </a:r>
            <a:endParaRPr lang="en-GB" dirty="0"/>
          </a:p>
        </p:txBody>
      </p:sp>
      <p:pic>
        <p:nvPicPr>
          <p:cNvPr id="5" name="Content Placeholder 4">
            <a:extLst>
              <a:ext uri="{FF2B5EF4-FFF2-40B4-BE49-F238E27FC236}">
                <a16:creationId xmlns:a16="http://schemas.microsoft.com/office/drawing/2014/main" id="{68585F6C-5EBF-CB00-CEB8-B203008986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938130"/>
            <a:ext cx="12191999" cy="4854325"/>
          </a:xfrm>
        </p:spPr>
      </p:pic>
    </p:spTree>
    <p:extLst>
      <p:ext uri="{BB962C8B-B14F-4D97-AF65-F5344CB8AC3E}">
        <p14:creationId xmlns:p14="http://schemas.microsoft.com/office/powerpoint/2010/main" val="23059577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80343-424E-D761-06A9-4EB3E8941633}"/>
              </a:ext>
            </a:extLst>
          </p:cNvPr>
          <p:cNvSpPr>
            <a:spLocks noGrp="1"/>
          </p:cNvSpPr>
          <p:nvPr>
            <p:ph type="title"/>
          </p:nvPr>
        </p:nvSpPr>
        <p:spPr/>
        <p:txBody>
          <a:bodyPr/>
          <a:lstStyle/>
          <a:p>
            <a:pPr algn="ctr"/>
            <a:r>
              <a:rPr lang="en-US" b="1" dirty="0">
                <a:solidFill>
                  <a:srgbClr val="C00000"/>
                </a:solidFill>
                <a:effectLst>
                  <a:outerShdw blurRad="38100" dist="38100" dir="2700000" algn="tl">
                    <a:srgbClr val="000000">
                      <a:alpha val="43137"/>
                    </a:srgbClr>
                  </a:outerShdw>
                </a:effectLst>
              </a:rPr>
              <a:t>Task 6</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640EFE1C-04DD-4581-2D7E-8BC203E58EC8}"/>
              </a:ext>
            </a:extLst>
          </p:cNvPr>
          <p:cNvSpPr>
            <a:spLocks noGrp="1"/>
          </p:cNvSpPr>
          <p:nvPr>
            <p:ph idx="1"/>
          </p:nvPr>
        </p:nvSpPr>
        <p:spPr/>
        <p:txBody>
          <a:bodyPr/>
          <a:lstStyle/>
          <a:p>
            <a:pPr marL="0" indent="0" algn="ctr">
              <a:buNone/>
            </a:pPr>
            <a:r>
              <a:rPr lang="en-US" b="1" dirty="0">
                <a:effectLst>
                  <a:outerShdw blurRad="38100" dist="38100" dir="2700000" algn="tl">
                    <a:srgbClr val="000000">
                      <a:alpha val="43137"/>
                    </a:srgbClr>
                  </a:outerShdw>
                </a:effectLst>
              </a:rPr>
              <a:t>Assignment</a:t>
            </a:r>
          </a:p>
          <a:p>
            <a:pPr marL="0" indent="0" algn="ctr">
              <a:buNone/>
            </a:pPr>
            <a:endParaRPr lang="en-US" dirty="0"/>
          </a:p>
          <a:p>
            <a:pPr marL="0" indent="0" algn="ctr">
              <a:buNone/>
            </a:pPr>
            <a:r>
              <a:rPr lang="en-US" dirty="0"/>
              <a:t>Display records matching either of two conditions.</a:t>
            </a:r>
            <a:endParaRPr lang="en-GB" dirty="0"/>
          </a:p>
        </p:txBody>
      </p:sp>
    </p:spTree>
    <p:extLst>
      <p:ext uri="{BB962C8B-B14F-4D97-AF65-F5344CB8AC3E}">
        <p14:creationId xmlns:p14="http://schemas.microsoft.com/office/powerpoint/2010/main" val="26053748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F0A36-A3A5-CC56-A153-B9C2DFC483E5}"/>
              </a:ext>
            </a:extLst>
          </p:cNvPr>
          <p:cNvSpPr>
            <a:spLocks noGrp="1"/>
          </p:cNvSpPr>
          <p:nvPr>
            <p:ph type="title"/>
          </p:nvPr>
        </p:nvSpPr>
        <p:spPr/>
        <p:txBody>
          <a:bodyPr/>
          <a:lstStyle/>
          <a:p>
            <a:r>
              <a:rPr lang="en-US" dirty="0"/>
              <a:t>Display records matching either of two conditions.</a:t>
            </a:r>
            <a:endParaRPr lang="en-GB" dirty="0"/>
          </a:p>
        </p:txBody>
      </p:sp>
      <p:pic>
        <p:nvPicPr>
          <p:cNvPr id="5" name="Content Placeholder 4">
            <a:extLst>
              <a:ext uri="{FF2B5EF4-FFF2-40B4-BE49-F238E27FC236}">
                <a16:creationId xmlns:a16="http://schemas.microsoft.com/office/drawing/2014/main" id="{882BABE7-2CA4-CD6E-889F-510DAE82CA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514" y="1825624"/>
            <a:ext cx="12112486" cy="4913105"/>
          </a:xfrm>
        </p:spPr>
      </p:pic>
    </p:spTree>
    <p:extLst>
      <p:ext uri="{BB962C8B-B14F-4D97-AF65-F5344CB8AC3E}">
        <p14:creationId xmlns:p14="http://schemas.microsoft.com/office/powerpoint/2010/main" val="29373734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5AC75-DD6C-DE2C-0041-2B1EB2968BB7}"/>
              </a:ext>
            </a:extLst>
          </p:cNvPr>
          <p:cNvSpPr>
            <a:spLocks noGrp="1"/>
          </p:cNvSpPr>
          <p:nvPr>
            <p:ph type="title"/>
          </p:nvPr>
        </p:nvSpPr>
        <p:spPr/>
        <p:txBody>
          <a:bodyPr/>
          <a:lstStyle/>
          <a:p>
            <a:r>
              <a:rPr lang="en-US" dirty="0"/>
              <a:t>Using: </a:t>
            </a:r>
            <a:r>
              <a:rPr lang="en-US" sz="2400" dirty="0"/>
              <a:t>SELECT * FROM </a:t>
            </a:r>
            <a:r>
              <a:rPr lang="en-US" sz="2400" dirty="0" err="1"/>
              <a:t>uni_students</a:t>
            </a:r>
            <a:r>
              <a:rPr lang="en-US" sz="2400" dirty="0"/>
              <a:t> WHERE gender = 'female' OR </a:t>
            </a:r>
            <a:r>
              <a:rPr lang="en-US" sz="2400" dirty="0" err="1"/>
              <a:t>gpa</a:t>
            </a:r>
            <a:r>
              <a:rPr lang="en-US" sz="2400" dirty="0"/>
              <a:t> &gt; 4.80;</a:t>
            </a:r>
            <a:endParaRPr lang="en-GB" sz="2400" dirty="0"/>
          </a:p>
        </p:txBody>
      </p:sp>
      <p:sp>
        <p:nvSpPr>
          <p:cNvPr id="3" name="Content Placeholder 2">
            <a:extLst>
              <a:ext uri="{FF2B5EF4-FFF2-40B4-BE49-F238E27FC236}">
                <a16:creationId xmlns:a16="http://schemas.microsoft.com/office/drawing/2014/main" id="{3301313A-5395-6E19-E87B-EF1F3DE4995E}"/>
              </a:ext>
            </a:extLst>
          </p:cNvPr>
          <p:cNvSpPr>
            <a:spLocks noGrp="1"/>
          </p:cNvSpPr>
          <p:nvPr>
            <p:ph idx="1"/>
          </p:nvPr>
        </p:nvSpPr>
        <p:spPr>
          <a:xfrm>
            <a:off x="838199" y="1825625"/>
            <a:ext cx="11148391" cy="4585114"/>
          </a:xfrm>
        </p:spPr>
        <p:txBody>
          <a:bodyPr>
            <a:normAutofit fontScale="85000" lnSpcReduction="20000"/>
          </a:bodyPr>
          <a:lstStyle/>
          <a:p>
            <a:pPr marL="0" indent="0">
              <a:buNone/>
            </a:pPr>
            <a:r>
              <a:rPr lang="en-US" dirty="0"/>
              <a:t>The database engine scans the table like a checklist. Here is exactly why certain rows make the cut:</a:t>
            </a:r>
          </a:p>
          <a:p>
            <a:pPr marL="0" indent="0">
              <a:buNone/>
            </a:pPr>
            <a:endParaRPr lang="en-US" dirty="0"/>
          </a:p>
          <a:p>
            <a:pPr marL="0" indent="0">
              <a:buNone/>
            </a:pPr>
            <a:r>
              <a:rPr lang="en-US" b="1" dirty="0" err="1"/>
              <a:t>Bigwosh</a:t>
            </a:r>
            <a:r>
              <a:rPr lang="en-US" b="1" dirty="0"/>
              <a:t>:</a:t>
            </a:r>
            <a:r>
              <a:rPr lang="en-US" dirty="0"/>
              <a:t> Is he female? </a:t>
            </a:r>
            <a:r>
              <a:rPr lang="en-US" i="1" dirty="0"/>
              <a:t>No.</a:t>
            </a:r>
            <a:r>
              <a:rPr lang="en-US" dirty="0"/>
              <a:t> Is his GPA &gt; 4.80? </a:t>
            </a:r>
            <a:r>
              <a:rPr lang="en-US" i="1" dirty="0"/>
              <a:t>Yes (4.85).</a:t>
            </a:r>
            <a:r>
              <a:rPr lang="en-US" dirty="0"/>
              <a:t> </a:t>
            </a:r>
            <a:r>
              <a:rPr lang="en-US" b="1" dirty="0"/>
              <a:t>(MATCH — Included)</a:t>
            </a:r>
          </a:p>
          <a:p>
            <a:pPr marL="0" indent="0">
              <a:buNone/>
            </a:pPr>
            <a:endParaRPr lang="en-US" dirty="0"/>
          </a:p>
          <a:p>
            <a:pPr marL="0" indent="0">
              <a:buNone/>
            </a:pPr>
            <a:r>
              <a:rPr lang="en-US" b="1" dirty="0" err="1"/>
              <a:t>Precoius</a:t>
            </a:r>
            <a:r>
              <a:rPr lang="en-US" b="1" dirty="0"/>
              <a:t>:</a:t>
            </a:r>
            <a:r>
              <a:rPr lang="en-US" dirty="0"/>
              <a:t> Is she female? </a:t>
            </a:r>
            <a:r>
              <a:rPr lang="en-US" i="1" dirty="0"/>
              <a:t>Yes.</a:t>
            </a:r>
            <a:r>
              <a:rPr lang="en-US" dirty="0"/>
              <a:t> </a:t>
            </a:r>
            <a:r>
              <a:rPr lang="en-US" b="1" dirty="0"/>
              <a:t>(MATCH — Included immediately, SQL doesn't even need to check her GPA)</a:t>
            </a:r>
          </a:p>
          <a:p>
            <a:pPr marL="0" indent="0">
              <a:buNone/>
            </a:pPr>
            <a:endParaRPr lang="en-US" dirty="0"/>
          </a:p>
          <a:p>
            <a:pPr marL="0" indent="0">
              <a:buNone/>
            </a:pPr>
            <a:r>
              <a:rPr lang="en-US" b="1" dirty="0"/>
              <a:t>Charles:</a:t>
            </a:r>
            <a:r>
              <a:rPr lang="en-US" dirty="0"/>
              <a:t> Is he female? </a:t>
            </a:r>
            <a:r>
              <a:rPr lang="en-US" i="1" dirty="0"/>
              <a:t>No.</a:t>
            </a:r>
            <a:r>
              <a:rPr lang="en-US" dirty="0"/>
              <a:t> Is his GPA &gt; 4.80? </a:t>
            </a:r>
            <a:r>
              <a:rPr lang="en-US" i="1" dirty="0"/>
              <a:t>Yes (4.92).</a:t>
            </a:r>
            <a:r>
              <a:rPr lang="en-US" dirty="0"/>
              <a:t> </a:t>
            </a:r>
            <a:r>
              <a:rPr lang="en-US" b="1" dirty="0"/>
              <a:t>(MATCH — Included)</a:t>
            </a:r>
            <a:endParaRPr lang="en-US" dirty="0"/>
          </a:p>
          <a:p>
            <a:pPr marL="0" indent="0">
              <a:buNone/>
            </a:pPr>
            <a:r>
              <a:rPr lang="en-US" b="1" dirty="0"/>
              <a:t>Karma &amp; Nelson:</a:t>
            </a:r>
            <a:r>
              <a:rPr lang="en-US" dirty="0"/>
              <a:t> Are they female? </a:t>
            </a:r>
            <a:r>
              <a:rPr lang="en-US" i="1" dirty="0"/>
              <a:t>No.</a:t>
            </a:r>
            <a:r>
              <a:rPr lang="en-US" dirty="0"/>
              <a:t> Are their GPAs &gt; 4.80? </a:t>
            </a:r>
            <a:r>
              <a:rPr lang="en-US" i="1" dirty="0"/>
              <a:t>No.</a:t>
            </a:r>
            <a:r>
              <a:rPr lang="en-US" dirty="0"/>
              <a:t> </a:t>
            </a:r>
            <a:r>
              <a:rPr lang="en-US" b="1" dirty="0"/>
              <a:t>(FAILED — Hidden)</a:t>
            </a:r>
          </a:p>
          <a:p>
            <a:pPr marL="0" indent="0">
              <a:buNone/>
            </a:pPr>
            <a:endParaRPr lang="en-US" dirty="0"/>
          </a:p>
          <a:p>
            <a:pPr marL="0" indent="0">
              <a:buNone/>
            </a:pPr>
            <a:r>
              <a:rPr lang="en-US" b="1" dirty="0"/>
              <a:t>Joy:</a:t>
            </a:r>
            <a:r>
              <a:rPr lang="en-US" dirty="0"/>
              <a:t> Is she female? </a:t>
            </a:r>
            <a:r>
              <a:rPr lang="en-US" i="1" dirty="0"/>
              <a:t>Yes.</a:t>
            </a:r>
            <a:r>
              <a:rPr lang="en-US" dirty="0"/>
              <a:t> </a:t>
            </a:r>
            <a:r>
              <a:rPr lang="en-US" b="1" dirty="0"/>
              <a:t>(MATCH — Included)</a:t>
            </a:r>
            <a:endParaRPr lang="en-US" dirty="0"/>
          </a:p>
          <a:p>
            <a:endParaRPr lang="en-GB" dirty="0"/>
          </a:p>
        </p:txBody>
      </p:sp>
    </p:spTree>
    <p:extLst>
      <p:ext uri="{BB962C8B-B14F-4D97-AF65-F5344CB8AC3E}">
        <p14:creationId xmlns:p14="http://schemas.microsoft.com/office/powerpoint/2010/main" val="39599832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429E8-8CF2-1A38-4B4B-4590BC75F741}"/>
              </a:ext>
            </a:extLst>
          </p:cNvPr>
          <p:cNvSpPr>
            <a:spLocks noGrp="1"/>
          </p:cNvSpPr>
          <p:nvPr>
            <p:ph type="title"/>
          </p:nvPr>
        </p:nvSpPr>
        <p:spPr/>
        <p:txBody>
          <a:bodyPr/>
          <a:lstStyle/>
          <a:p>
            <a:pPr algn="ctr"/>
            <a:r>
              <a:rPr lang="en-US" b="1" dirty="0">
                <a:solidFill>
                  <a:srgbClr val="C00000"/>
                </a:solidFill>
                <a:effectLst>
                  <a:outerShdw blurRad="38100" dist="38100" dir="2700000" algn="tl">
                    <a:srgbClr val="000000">
                      <a:alpha val="43137"/>
                    </a:srgbClr>
                  </a:outerShdw>
                </a:effectLst>
              </a:rPr>
              <a:t>Task 7</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01E0B8F2-F9A7-2251-4B48-7009C1E4ED77}"/>
              </a:ext>
            </a:extLst>
          </p:cNvPr>
          <p:cNvSpPr>
            <a:spLocks noGrp="1"/>
          </p:cNvSpPr>
          <p:nvPr>
            <p:ph idx="1"/>
          </p:nvPr>
        </p:nvSpPr>
        <p:spPr/>
        <p:txBody>
          <a:bodyPr/>
          <a:lstStyle/>
          <a:p>
            <a:pPr marL="0" indent="0" algn="ctr">
              <a:buNone/>
            </a:pPr>
            <a:r>
              <a:rPr lang="en-US" b="1" u="sng" dirty="0"/>
              <a:t>Assignment</a:t>
            </a:r>
          </a:p>
          <a:p>
            <a:pPr algn="ctr"/>
            <a:endParaRPr lang="en-US" dirty="0"/>
          </a:p>
          <a:p>
            <a:pPr marL="0" indent="0" algn="ctr">
              <a:buNone/>
            </a:pPr>
            <a:r>
              <a:rPr lang="en-US" dirty="0"/>
              <a:t>Display records excluding a condition.</a:t>
            </a:r>
            <a:endParaRPr lang="en-GB" dirty="0"/>
          </a:p>
        </p:txBody>
      </p:sp>
    </p:spTree>
    <p:extLst>
      <p:ext uri="{BB962C8B-B14F-4D97-AF65-F5344CB8AC3E}">
        <p14:creationId xmlns:p14="http://schemas.microsoft.com/office/powerpoint/2010/main" val="23835816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E2226-B365-5DA5-FC15-6FF9CA57A622}"/>
              </a:ext>
            </a:extLst>
          </p:cNvPr>
          <p:cNvSpPr>
            <a:spLocks noGrp="1"/>
          </p:cNvSpPr>
          <p:nvPr>
            <p:ph type="title"/>
          </p:nvPr>
        </p:nvSpPr>
        <p:spPr>
          <a:xfrm>
            <a:off x="2179982" y="0"/>
            <a:ext cx="10515600" cy="1325563"/>
          </a:xfrm>
        </p:spPr>
        <p:txBody>
          <a:bodyPr/>
          <a:lstStyle/>
          <a:p>
            <a:r>
              <a:rPr lang="en-US" b="1" dirty="0"/>
              <a:t>Not equal to</a:t>
            </a:r>
            <a:endParaRPr lang="en-GB" b="1" dirty="0"/>
          </a:p>
        </p:txBody>
      </p:sp>
      <p:sp>
        <p:nvSpPr>
          <p:cNvPr id="3" name="Content Placeholder 2">
            <a:extLst>
              <a:ext uri="{FF2B5EF4-FFF2-40B4-BE49-F238E27FC236}">
                <a16:creationId xmlns:a16="http://schemas.microsoft.com/office/drawing/2014/main" id="{23C9DD5D-EF09-43D1-1CB9-5F8A13A52E40}"/>
              </a:ext>
            </a:extLst>
          </p:cNvPr>
          <p:cNvSpPr>
            <a:spLocks noGrp="1"/>
          </p:cNvSpPr>
          <p:nvPr>
            <p:ph idx="1"/>
          </p:nvPr>
        </p:nvSpPr>
        <p:spPr/>
        <p:txBody>
          <a:bodyPr/>
          <a:lstStyle/>
          <a:p>
            <a:pPr marL="0" indent="0">
              <a:buNone/>
            </a:pPr>
            <a:r>
              <a:rPr lang="en-US" dirty="0"/>
              <a:t>To exclude a specific condition in SQL, you tell the database to look for everything </a:t>
            </a:r>
            <a:r>
              <a:rPr lang="en-US" i="1" dirty="0"/>
              <a:t>except</a:t>
            </a:r>
            <a:r>
              <a:rPr lang="en-US" dirty="0"/>
              <a:t> a particular value. You do this using the </a:t>
            </a:r>
            <a:r>
              <a:rPr lang="en-US" b="1" dirty="0"/>
              <a:t>Not Equal To</a:t>
            </a:r>
            <a:r>
              <a:rPr lang="en-US" dirty="0"/>
              <a:t> operator, which can be written in two ways depending on your preference:</a:t>
            </a:r>
          </a:p>
          <a:p>
            <a:pPr marL="0" indent="0">
              <a:buNone/>
            </a:pPr>
            <a:r>
              <a:rPr lang="en-US" b="1" dirty="0"/>
              <a:t>!=</a:t>
            </a:r>
            <a:r>
              <a:rPr lang="en-US" dirty="0"/>
              <a:t> (Most common in modern programming)</a:t>
            </a:r>
          </a:p>
          <a:p>
            <a:pPr marL="0" indent="0">
              <a:buNone/>
            </a:pPr>
            <a:r>
              <a:rPr lang="en-US" b="1" dirty="0"/>
              <a:t>&lt;&gt;</a:t>
            </a:r>
            <a:r>
              <a:rPr lang="en-US" dirty="0"/>
              <a:t> (The traditional SQL standard)</a:t>
            </a:r>
          </a:p>
          <a:p>
            <a:pPr marL="0" indent="0">
              <a:buNone/>
            </a:pPr>
            <a:r>
              <a:rPr lang="en-US" dirty="0"/>
              <a:t>Alternatively, you can use the </a:t>
            </a:r>
            <a:r>
              <a:rPr lang="en-US" b="1" dirty="0"/>
              <a:t>NOT</a:t>
            </a:r>
            <a:r>
              <a:rPr lang="en-US" dirty="0"/>
              <a:t> keyword before a condition. Let's look at how to apply this to the </a:t>
            </a:r>
            <a:r>
              <a:rPr lang="en-US" dirty="0" err="1"/>
              <a:t>uni_students</a:t>
            </a:r>
            <a:r>
              <a:rPr lang="en-US" dirty="0"/>
              <a:t> table for Task 7  </a:t>
            </a:r>
            <a:r>
              <a:rPr lang="en-US" dirty="0">
                <a:sym typeface="Wingdings" panose="05000000000000000000" pitchFamily="2" charset="2"/>
              </a:rPr>
              <a:t></a:t>
            </a:r>
            <a:endParaRPr lang="en-US" dirty="0"/>
          </a:p>
          <a:p>
            <a:endParaRPr lang="en-GB" dirty="0"/>
          </a:p>
        </p:txBody>
      </p:sp>
    </p:spTree>
    <p:extLst>
      <p:ext uri="{BB962C8B-B14F-4D97-AF65-F5344CB8AC3E}">
        <p14:creationId xmlns:p14="http://schemas.microsoft.com/office/powerpoint/2010/main" val="37168792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5D120-D06A-3387-81B7-32CFB9CB1BDC}"/>
              </a:ext>
            </a:extLst>
          </p:cNvPr>
          <p:cNvSpPr>
            <a:spLocks noGrp="1"/>
          </p:cNvSpPr>
          <p:nvPr>
            <p:ph type="title"/>
          </p:nvPr>
        </p:nvSpPr>
        <p:spPr>
          <a:xfrm>
            <a:off x="838200" y="365126"/>
            <a:ext cx="9935817" cy="1016414"/>
          </a:xfrm>
        </p:spPr>
        <p:txBody>
          <a:bodyPr>
            <a:noAutofit/>
          </a:bodyPr>
          <a:lstStyle/>
          <a:p>
            <a:r>
              <a:rPr lang="en-US" sz="3600" b="1" dirty="0"/>
              <a:t>Let's display all students except those who are majoring in 'Python’: using (!=)</a:t>
            </a:r>
            <a:endParaRPr lang="en-GB" sz="3600" b="1" dirty="0"/>
          </a:p>
        </p:txBody>
      </p:sp>
      <p:pic>
        <p:nvPicPr>
          <p:cNvPr id="5" name="Content Placeholder 4">
            <a:extLst>
              <a:ext uri="{FF2B5EF4-FFF2-40B4-BE49-F238E27FC236}">
                <a16:creationId xmlns:a16="http://schemas.microsoft.com/office/drawing/2014/main" id="{87BAE298-77C6-0062-B1E0-FC5B0AF358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452" y="1825624"/>
            <a:ext cx="12102547" cy="5032375"/>
          </a:xfrm>
        </p:spPr>
      </p:pic>
    </p:spTree>
    <p:extLst>
      <p:ext uri="{BB962C8B-B14F-4D97-AF65-F5344CB8AC3E}">
        <p14:creationId xmlns:p14="http://schemas.microsoft.com/office/powerpoint/2010/main" val="15786771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801ED-CC11-C347-503F-34574B81E48E}"/>
              </a:ext>
            </a:extLst>
          </p:cNvPr>
          <p:cNvSpPr>
            <a:spLocks noGrp="1"/>
          </p:cNvSpPr>
          <p:nvPr>
            <p:ph type="title"/>
          </p:nvPr>
        </p:nvSpPr>
        <p:spPr/>
        <p:txBody>
          <a:bodyPr>
            <a:normAutofit fontScale="90000"/>
          </a:bodyPr>
          <a:lstStyle/>
          <a:p>
            <a:r>
              <a:rPr lang="en-US" dirty="0"/>
              <a:t>Using &lt;&gt;</a:t>
            </a:r>
            <a:br>
              <a:rPr lang="en-US" dirty="0"/>
            </a:br>
            <a:r>
              <a:rPr lang="en-US" dirty="0"/>
              <a:t>It exempted the student who has the </a:t>
            </a:r>
            <a:r>
              <a:rPr lang="en-US" dirty="0" err="1"/>
              <a:t>gpa</a:t>
            </a:r>
            <a:r>
              <a:rPr lang="en-US" dirty="0"/>
              <a:t> of 4.85</a:t>
            </a:r>
            <a:endParaRPr lang="en-GB" dirty="0"/>
          </a:p>
        </p:txBody>
      </p:sp>
      <p:pic>
        <p:nvPicPr>
          <p:cNvPr id="5" name="Content Placeholder 4">
            <a:extLst>
              <a:ext uri="{FF2B5EF4-FFF2-40B4-BE49-F238E27FC236}">
                <a16:creationId xmlns:a16="http://schemas.microsoft.com/office/drawing/2014/main" id="{8183CF42-FD1F-7688-3283-96D87A4C21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208" y="1825624"/>
            <a:ext cx="12062791" cy="5032375"/>
          </a:xfrm>
        </p:spPr>
      </p:pic>
    </p:spTree>
    <p:extLst>
      <p:ext uri="{BB962C8B-B14F-4D97-AF65-F5344CB8AC3E}">
        <p14:creationId xmlns:p14="http://schemas.microsoft.com/office/powerpoint/2010/main" val="27890718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8DFE8-DD0B-0E7B-9C92-FD6635849852}"/>
              </a:ext>
            </a:extLst>
          </p:cNvPr>
          <p:cNvSpPr>
            <a:spLocks noGrp="1"/>
          </p:cNvSpPr>
          <p:nvPr>
            <p:ph type="title"/>
          </p:nvPr>
        </p:nvSpPr>
        <p:spPr/>
        <p:txBody>
          <a:bodyPr>
            <a:normAutofit fontScale="90000"/>
          </a:bodyPr>
          <a:lstStyle/>
          <a:p>
            <a:r>
              <a:rPr lang="en-US" dirty="0"/>
              <a:t>Using NOT</a:t>
            </a:r>
            <a:br>
              <a:rPr lang="en-US" dirty="0"/>
            </a:br>
            <a:br>
              <a:rPr lang="en-US" dirty="0"/>
            </a:br>
            <a:r>
              <a:rPr lang="en-US" sz="2800" dirty="0"/>
              <a:t>It displayed all except the student with the ID = 3</a:t>
            </a:r>
            <a:endParaRPr lang="en-GB" dirty="0"/>
          </a:p>
        </p:txBody>
      </p:sp>
      <p:pic>
        <p:nvPicPr>
          <p:cNvPr id="5" name="Content Placeholder 4">
            <a:extLst>
              <a:ext uri="{FF2B5EF4-FFF2-40B4-BE49-F238E27FC236}">
                <a16:creationId xmlns:a16="http://schemas.microsoft.com/office/drawing/2014/main" id="{4F4741BE-7346-86D4-B26E-D6BB552763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984" y="1825624"/>
            <a:ext cx="12086015" cy="4873349"/>
          </a:xfrm>
        </p:spPr>
      </p:pic>
    </p:spTree>
    <p:extLst>
      <p:ext uri="{BB962C8B-B14F-4D97-AF65-F5344CB8AC3E}">
        <p14:creationId xmlns:p14="http://schemas.microsoft.com/office/powerpoint/2010/main" val="26619969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8C95D-0145-2A26-8562-E3D4EF717C2A}"/>
              </a:ext>
            </a:extLst>
          </p:cNvPr>
          <p:cNvSpPr>
            <a:spLocks noGrp="1"/>
          </p:cNvSpPr>
          <p:nvPr>
            <p:ph type="title"/>
          </p:nvPr>
        </p:nvSpPr>
        <p:spPr/>
        <p:txBody>
          <a:bodyPr>
            <a:normAutofit fontScale="90000"/>
          </a:bodyPr>
          <a:lstStyle/>
          <a:p>
            <a:pPr algn="ctr"/>
            <a:r>
              <a:rPr lang="en-US" sz="5400" b="1" u="sng" dirty="0">
                <a:solidFill>
                  <a:schemeClr val="accent1"/>
                </a:solidFill>
                <a:effectLst>
                  <a:outerShdw blurRad="38100" dist="38100" dir="2700000" algn="tl">
                    <a:srgbClr val="000000">
                      <a:alpha val="43137"/>
                    </a:srgbClr>
                  </a:outerShdw>
                </a:effectLst>
              </a:rPr>
              <a:t>SECTION 3 — WIRESHARK PRACTICAL</a:t>
            </a:r>
            <a:br>
              <a:rPr lang="en-US" sz="5400" b="1" u="sng" dirty="0">
                <a:solidFill>
                  <a:schemeClr val="accent1"/>
                </a:solidFill>
                <a:effectLst>
                  <a:outerShdw blurRad="38100" dist="38100" dir="2700000" algn="tl">
                    <a:srgbClr val="000000">
                      <a:alpha val="43137"/>
                    </a:srgbClr>
                  </a:outerShdw>
                </a:effectLst>
              </a:rPr>
            </a:br>
            <a:br>
              <a:rPr lang="en-US" b="1" u="sng" dirty="0">
                <a:solidFill>
                  <a:schemeClr val="accent1"/>
                </a:solidFill>
                <a:effectLst>
                  <a:outerShdw blurRad="38100" dist="38100" dir="2700000" algn="tl">
                    <a:srgbClr val="000000">
                      <a:alpha val="43137"/>
                    </a:srgbClr>
                  </a:outerShdw>
                </a:effectLst>
              </a:rPr>
            </a:br>
            <a:r>
              <a:rPr lang="en-US" b="1" dirty="0">
                <a:solidFill>
                  <a:srgbClr val="C00000"/>
                </a:solidFill>
                <a:effectLst>
                  <a:outerShdw blurRad="38100" dist="38100" dir="2700000" algn="tl">
                    <a:srgbClr val="000000">
                      <a:alpha val="43137"/>
                    </a:srgbClr>
                  </a:outerShdw>
                </a:effectLst>
              </a:rPr>
              <a:t>Task 1</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B6CAB3E2-31B4-CA5B-F629-338D59485BC3}"/>
              </a:ext>
            </a:extLst>
          </p:cNvPr>
          <p:cNvSpPr>
            <a:spLocks noGrp="1"/>
          </p:cNvSpPr>
          <p:nvPr>
            <p:ph idx="1"/>
          </p:nvPr>
        </p:nvSpPr>
        <p:spPr/>
        <p:txBody>
          <a:bodyPr/>
          <a:lstStyle/>
          <a:p>
            <a:pPr algn="ctr"/>
            <a:endParaRPr lang="en-US" b="1" dirty="0"/>
          </a:p>
          <a:p>
            <a:pPr marL="0" indent="0" algn="ctr">
              <a:buNone/>
            </a:pPr>
            <a:r>
              <a:rPr lang="en-US" b="1" dirty="0"/>
              <a:t>ASSIGNMENT</a:t>
            </a:r>
          </a:p>
          <a:p>
            <a:pPr algn="ctr"/>
            <a:endParaRPr lang="en-US" dirty="0"/>
          </a:p>
          <a:p>
            <a:pPr algn="ctr"/>
            <a:endParaRPr lang="en-US" dirty="0"/>
          </a:p>
          <a:p>
            <a:pPr marL="0" indent="0" algn="ctr">
              <a:buNone/>
            </a:pPr>
            <a:r>
              <a:rPr lang="en-US" dirty="0"/>
              <a:t> Packet Capture</a:t>
            </a:r>
            <a:endParaRPr lang="en-GB" dirty="0"/>
          </a:p>
        </p:txBody>
      </p:sp>
    </p:spTree>
    <p:extLst>
      <p:ext uri="{BB962C8B-B14F-4D97-AF65-F5344CB8AC3E}">
        <p14:creationId xmlns:p14="http://schemas.microsoft.com/office/powerpoint/2010/main" val="910602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3E468-0F84-F56D-CE17-06B8FA6DAD5C}"/>
              </a:ext>
            </a:extLst>
          </p:cNvPr>
          <p:cNvSpPr>
            <a:spLocks noGrp="1"/>
          </p:cNvSpPr>
          <p:nvPr>
            <p:ph type="title"/>
          </p:nvPr>
        </p:nvSpPr>
        <p:spPr/>
        <p:txBody>
          <a:bodyPr/>
          <a:lstStyle/>
          <a:p>
            <a:r>
              <a:rPr lang="en-US" dirty="0"/>
              <a:t>Packet capturing</a:t>
            </a:r>
            <a:endParaRPr lang="en-GB" dirty="0"/>
          </a:p>
        </p:txBody>
      </p:sp>
      <p:pic>
        <p:nvPicPr>
          <p:cNvPr id="5" name="Content Placeholder 4">
            <a:extLst>
              <a:ext uri="{FF2B5EF4-FFF2-40B4-BE49-F238E27FC236}">
                <a16:creationId xmlns:a16="http://schemas.microsoft.com/office/drawing/2014/main" id="{44FD8BC1-4C3B-0E29-9BA3-537DA19B16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270" y="1431235"/>
            <a:ext cx="12072730" cy="5312259"/>
          </a:xfrm>
        </p:spPr>
      </p:pic>
    </p:spTree>
    <p:extLst>
      <p:ext uri="{BB962C8B-B14F-4D97-AF65-F5344CB8AC3E}">
        <p14:creationId xmlns:p14="http://schemas.microsoft.com/office/powerpoint/2010/main" val="31536366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C60EA-5F04-C573-7EAD-63C94A63EDBE}"/>
              </a:ext>
            </a:extLst>
          </p:cNvPr>
          <p:cNvSpPr>
            <a:spLocks noGrp="1"/>
          </p:cNvSpPr>
          <p:nvPr>
            <p:ph type="title"/>
          </p:nvPr>
        </p:nvSpPr>
        <p:spPr/>
        <p:txBody>
          <a:bodyPr/>
          <a:lstStyle/>
          <a:p>
            <a:pPr algn="ctr"/>
            <a:r>
              <a:rPr lang="en-US" b="1" dirty="0">
                <a:solidFill>
                  <a:srgbClr val="C00000"/>
                </a:solidFill>
                <a:effectLst>
                  <a:outerShdw blurRad="38100" dist="38100" dir="2700000" algn="tl">
                    <a:srgbClr val="000000">
                      <a:alpha val="43137"/>
                    </a:srgbClr>
                  </a:outerShdw>
                </a:effectLst>
              </a:rPr>
              <a:t>Task 2</a:t>
            </a:r>
            <a:br>
              <a:rPr lang="en-US" dirty="0"/>
            </a:br>
            <a:r>
              <a:rPr lang="en-US" dirty="0"/>
              <a:t>Ip address filtering</a:t>
            </a:r>
            <a:endParaRPr lang="en-GB" dirty="0"/>
          </a:p>
        </p:txBody>
      </p:sp>
      <p:pic>
        <p:nvPicPr>
          <p:cNvPr id="5" name="Content Placeholder 4">
            <a:extLst>
              <a:ext uri="{FF2B5EF4-FFF2-40B4-BE49-F238E27FC236}">
                <a16:creationId xmlns:a16="http://schemas.microsoft.com/office/drawing/2014/main" id="{52BF20B1-B16B-E378-97DF-1885741736B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452" y="1690688"/>
            <a:ext cx="12102547" cy="5167311"/>
          </a:xfrm>
        </p:spPr>
      </p:pic>
    </p:spTree>
    <p:extLst>
      <p:ext uri="{BB962C8B-B14F-4D97-AF65-F5344CB8AC3E}">
        <p14:creationId xmlns:p14="http://schemas.microsoft.com/office/powerpoint/2010/main" val="9164754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FC055-0E98-BF07-181B-3213DA567BE9}"/>
              </a:ext>
            </a:extLst>
          </p:cNvPr>
          <p:cNvSpPr>
            <a:spLocks noGrp="1"/>
          </p:cNvSpPr>
          <p:nvPr>
            <p:ph type="title"/>
          </p:nvPr>
        </p:nvSpPr>
        <p:spPr/>
        <p:txBody>
          <a:bodyPr/>
          <a:lstStyle/>
          <a:p>
            <a:pPr algn="ctr"/>
            <a:r>
              <a:rPr lang="en-GB" b="1" dirty="0">
                <a:solidFill>
                  <a:srgbClr val="C00000"/>
                </a:solidFill>
                <a:effectLst>
                  <a:outerShdw blurRad="38100" dist="38100" dir="2700000" algn="tl">
                    <a:srgbClr val="000000">
                      <a:alpha val="43137"/>
                    </a:srgbClr>
                  </a:outerShdw>
                </a:effectLst>
              </a:rPr>
              <a:t>Task 3 — Protocol Filtering</a:t>
            </a:r>
          </a:p>
        </p:txBody>
      </p:sp>
      <p:sp>
        <p:nvSpPr>
          <p:cNvPr id="3" name="Content Placeholder 2">
            <a:extLst>
              <a:ext uri="{FF2B5EF4-FFF2-40B4-BE49-F238E27FC236}">
                <a16:creationId xmlns:a16="http://schemas.microsoft.com/office/drawing/2014/main" id="{C306159C-9C02-8F35-3E36-65F8829DADC2}"/>
              </a:ext>
            </a:extLst>
          </p:cNvPr>
          <p:cNvSpPr>
            <a:spLocks noGrp="1"/>
          </p:cNvSpPr>
          <p:nvPr>
            <p:ph idx="1"/>
          </p:nvPr>
        </p:nvSpPr>
        <p:spPr/>
        <p:txBody>
          <a:bodyPr/>
          <a:lstStyle/>
          <a:p>
            <a:pPr marL="0" indent="0" algn="ctr">
              <a:buNone/>
            </a:pPr>
            <a:r>
              <a:rPr lang="en-GB" b="1" dirty="0">
                <a:effectLst>
                  <a:outerShdw blurRad="38100" dist="38100" dir="2700000" algn="tl">
                    <a:srgbClr val="000000">
                      <a:alpha val="43137"/>
                    </a:srgbClr>
                  </a:outerShdw>
                </a:effectLst>
              </a:rPr>
              <a:t>Assignment</a:t>
            </a:r>
          </a:p>
          <a:p>
            <a:pPr marL="0" indent="0" algn="ctr">
              <a:buNone/>
            </a:pPr>
            <a:endParaRPr lang="en-GB" dirty="0"/>
          </a:p>
          <a:p>
            <a:pPr marL="514350" indent="-514350" algn="ctr">
              <a:buAutoNum type="arabicPeriod"/>
            </a:pPr>
            <a:r>
              <a:rPr lang="en-GB" dirty="0"/>
              <a:t>Filter TCP traffic.</a:t>
            </a:r>
          </a:p>
          <a:p>
            <a:pPr marL="0" indent="0" algn="ctr">
              <a:buNone/>
            </a:pPr>
            <a:r>
              <a:rPr lang="en-GB" dirty="0"/>
              <a:t>2. Filter DNS traffic.</a:t>
            </a:r>
          </a:p>
          <a:p>
            <a:pPr marL="0" indent="0" algn="ctr">
              <a:buNone/>
            </a:pPr>
            <a:r>
              <a:rPr lang="en-GB" dirty="0"/>
              <a:t>3. Filter HTTP traffic.</a:t>
            </a:r>
          </a:p>
        </p:txBody>
      </p:sp>
    </p:spTree>
    <p:extLst>
      <p:ext uri="{BB962C8B-B14F-4D97-AF65-F5344CB8AC3E}">
        <p14:creationId xmlns:p14="http://schemas.microsoft.com/office/powerpoint/2010/main" val="31106194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7E77B-2016-F620-845E-A605D4006295}"/>
              </a:ext>
            </a:extLst>
          </p:cNvPr>
          <p:cNvSpPr>
            <a:spLocks noGrp="1"/>
          </p:cNvSpPr>
          <p:nvPr>
            <p:ph type="title"/>
          </p:nvPr>
        </p:nvSpPr>
        <p:spPr/>
        <p:txBody>
          <a:bodyPr/>
          <a:lstStyle/>
          <a:p>
            <a:r>
              <a:rPr lang="en-US" dirty="0"/>
              <a:t>1. Filter </a:t>
            </a:r>
            <a:r>
              <a:rPr lang="en-US" dirty="0" err="1"/>
              <a:t>tcp</a:t>
            </a:r>
            <a:r>
              <a:rPr lang="en-US" dirty="0"/>
              <a:t> traffic</a:t>
            </a:r>
            <a:endParaRPr lang="en-GB" dirty="0"/>
          </a:p>
        </p:txBody>
      </p:sp>
      <p:pic>
        <p:nvPicPr>
          <p:cNvPr id="5" name="Content Placeholder 4">
            <a:extLst>
              <a:ext uri="{FF2B5EF4-FFF2-40B4-BE49-F238E27FC236}">
                <a16:creationId xmlns:a16="http://schemas.microsoft.com/office/drawing/2014/main" id="{CF2BA639-F59D-DF1E-9F75-63E87B2427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5861" y="2078735"/>
            <a:ext cx="8951560" cy="4098227"/>
          </a:xfrm>
        </p:spPr>
      </p:pic>
    </p:spTree>
    <p:extLst>
      <p:ext uri="{BB962C8B-B14F-4D97-AF65-F5344CB8AC3E}">
        <p14:creationId xmlns:p14="http://schemas.microsoft.com/office/powerpoint/2010/main" val="32233429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F48DE-69CA-A73E-E65D-12F4BC02D40E}"/>
              </a:ext>
            </a:extLst>
          </p:cNvPr>
          <p:cNvSpPr>
            <a:spLocks noGrp="1"/>
          </p:cNvSpPr>
          <p:nvPr>
            <p:ph type="title"/>
          </p:nvPr>
        </p:nvSpPr>
        <p:spPr/>
        <p:txBody>
          <a:bodyPr/>
          <a:lstStyle/>
          <a:p>
            <a:r>
              <a:rPr lang="en-US" dirty="0"/>
              <a:t>2. Filtering </a:t>
            </a:r>
            <a:r>
              <a:rPr lang="en-US" dirty="0" err="1"/>
              <a:t>dns</a:t>
            </a:r>
            <a:endParaRPr lang="en-GB" dirty="0"/>
          </a:p>
        </p:txBody>
      </p:sp>
      <p:pic>
        <p:nvPicPr>
          <p:cNvPr id="5" name="Content Placeholder 4">
            <a:extLst>
              <a:ext uri="{FF2B5EF4-FFF2-40B4-BE49-F238E27FC236}">
                <a16:creationId xmlns:a16="http://schemas.microsoft.com/office/drawing/2014/main" id="{47816DFC-0FE9-1B6F-EBB0-B8F427BC45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0080" y="1690688"/>
            <a:ext cx="9540240" cy="4351338"/>
          </a:xfrm>
        </p:spPr>
      </p:pic>
    </p:spTree>
    <p:extLst>
      <p:ext uri="{BB962C8B-B14F-4D97-AF65-F5344CB8AC3E}">
        <p14:creationId xmlns:p14="http://schemas.microsoft.com/office/powerpoint/2010/main" val="26265493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63B21-250C-D67E-3167-FE663F20F10B}"/>
              </a:ext>
            </a:extLst>
          </p:cNvPr>
          <p:cNvSpPr>
            <a:spLocks noGrp="1"/>
          </p:cNvSpPr>
          <p:nvPr>
            <p:ph type="title"/>
          </p:nvPr>
        </p:nvSpPr>
        <p:spPr/>
        <p:txBody>
          <a:bodyPr/>
          <a:lstStyle/>
          <a:p>
            <a:r>
              <a:rPr lang="en-US" dirty="0"/>
              <a:t>3. Filtering http</a:t>
            </a:r>
            <a:endParaRPr lang="en-GB" dirty="0"/>
          </a:p>
        </p:txBody>
      </p:sp>
      <p:pic>
        <p:nvPicPr>
          <p:cNvPr id="5" name="Content Placeholder 4">
            <a:extLst>
              <a:ext uri="{FF2B5EF4-FFF2-40B4-BE49-F238E27FC236}">
                <a16:creationId xmlns:a16="http://schemas.microsoft.com/office/drawing/2014/main" id="{0AEDD50E-733E-3A31-4233-B15BADAB64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9440" y="1825624"/>
            <a:ext cx="11135360" cy="5032375"/>
          </a:xfrm>
        </p:spPr>
      </p:pic>
    </p:spTree>
    <p:extLst>
      <p:ext uri="{BB962C8B-B14F-4D97-AF65-F5344CB8AC3E}">
        <p14:creationId xmlns:p14="http://schemas.microsoft.com/office/powerpoint/2010/main" val="30677334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42448-ED2D-38F1-668E-60771058F86C}"/>
              </a:ext>
            </a:extLst>
          </p:cNvPr>
          <p:cNvSpPr>
            <a:spLocks noGrp="1"/>
          </p:cNvSpPr>
          <p:nvPr>
            <p:ph type="title"/>
          </p:nvPr>
        </p:nvSpPr>
        <p:spPr/>
        <p:txBody>
          <a:bodyPr/>
          <a:lstStyle/>
          <a:p>
            <a:pPr algn="ctr"/>
            <a:r>
              <a:rPr lang="en-US" b="1" dirty="0">
                <a:solidFill>
                  <a:srgbClr val="C00000"/>
                </a:solidFill>
                <a:effectLst>
                  <a:outerShdw blurRad="38100" dist="38100" dir="2700000" algn="tl">
                    <a:srgbClr val="000000">
                      <a:alpha val="43137"/>
                    </a:srgbClr>
                  </a:outerShdw>
                </a:effectLst>
              </a:rPr>
              <a:t>Task 4 — MAC Address Filtering</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31438C18-7869-E4D6-137C-8C4F0DDB8CB8}"/>
              </a:ext>
            </a:extLst>
          </p:cNvPr>
          <p:cNvSpPr>
            <a:spLocks noGrp="1"/>
          </p:cNvSpPr>
          <p:nvPr>
            <p:ph idx="1"/>
          </p:nvPr>
        </p:nvSpPr>
        <p:spPr/>
        <p:txBody>
          <a:bodyPr/>
          <a:lstStyle/>
          <a:p>
            <a:pPr algn="ctr"/>
            <a:r>
              <a:rPr lang="en-US" b="1" i="1" dirty="0">
                <a:effectLst>
                  <a:outerShdw blurRad="38100" dist="38100" dir="2700000" algn="tl">
                    <a:srgbClr val="000000">
                      <a:alpha val="43137"/>
                    </a:srgbClr>
                  </a:outerShdw>
                </a:effectLst>
              </a:rPr>
              <a:t>Assignment</a:t>
            </a:r>
          </a:p>
          <a:p>
            <a:pPr algn="ctr"/>
            <a:endParaRPr lang="en-US" dirty="0"/>
          </a:p>
          <a:p>
            <a:pPr algn="ctr"/>
            <a:r>
              <a:rPr lang="en-US" dirty="0"/>
              <a:t>Filter packets using a MAC address.</a:t>
            </a:r>
            <a:endParaRPr lang="en-GB" dirty="0"/>
          </a:p>
        </p:txBody>
      </p:sp>
    </p:spTree>
    <p:extLst>
      <p:ext uri="{BB962C8B-B14F-4D97-AF65-F5344CB8AC3E}">
        <p14:creationId xmlns:p14="http://schemas.microsoft.com/office/powerpoint/2010/main" val="35895262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A4EA7-7897-88E3-B9E9-404C0EC47232}"/>
              </a:ext>
            </a:extLst>
          </p:cNvPr>
          <p:cNvSpPr>
            <a:spLocks noGrp="1"/>
          </p:cNvSpPr>
          <p:nvPr>
            <p:ph type="title"/>
          </p:nvPr>
        </p:nvSpPr>
        <p:spPr>
          <a:xfrm>
            <a:off x="838200" y="101601"/>
            <a:ext cx="10515600" cy="1589088"/>
          </a:xfrm>
        </p:spPr>
        <p:txBody>
          <a:bodyPr/>
          <a:lstStyle/>
          <a:p>
            <a:r>
              <a:rPr lang="en-US" dirty="0"/>
              <a:t>Task 4 — MAC Address Filtering</a:t>
            </a:r>
            <a:endParaRPr lang="en-GB" dirty="0"/>
          </a:p>
        </p:txBody>
      </p:sp>
      <p:pic>
        <p:nvPicPr>
          <p:cNvPr id="5" name="Content Placeholder 4">
            <a:extLst>
              <a:ext uri="{FF2B5EF4-FFF2-40B4-BE49-F238E27FC236}">
                <a16:creationId xmlns:a16="http://schemas.microsoft.com/office/drawing/2014/main" id="{74669E58-CFE5-EC4C-A3F4-CBA94E37164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8320" y="1774824"/>
            <a:ext cx="10515600" cy="4859655"/>
          </a:xfrm>
        </p:spPr>
      </p:pic>
    </p:spTree>
    <p:extLst>
      <p:ext uri="{BB962C8B-B14F-4D97-AF65-F5344CB8AC3E}">
        <p14:creationId xmlns:p14="http://schemas.microsoft.com/office/powerpoint/2010/main" val="132685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F146F-3058-5153-BFBA-B7F11C28DA48}"/>
              </a:ext>
            </a:extLst>
          </p:cNvPr>
          <p:cNvSpPr>
            <a:spLocks noGrp="1"/>
          </p:cNvSpPr>
          <p:nvPr>
            <p:ph type="title"/>
          </p:nvPr>
        </p:nvSpPr>
        <p:spPr/>
        <p:txBody>
          <a:bodyPr>
            <a:normAutofit fontScale="90000"/>
          </a:bodyPr>
          <a:lstStyle/>
          <a:p>
            <a:pPr algn="ctr"/>
            <a:br>
              <a:rPr lang="en-US" b="1" dirty="0">
                <a:solidFill>
                  <a:schemeClr val="accent1"/>
                </a:solidFill>
                <a:effectLst>
                  <a:outerShdw blurRad="38100" dist="38100" dir="2700000" algn="tl">
                    <a:srgbClr val="000000">
                      <a:alpha val="43137"/>
                    </a:srgbClr>
                  </a:outerShdw>
                </a:effectLst>
              </a:rPr>
            </a:br>
            <a:r>
              <a:rPr lang="en-US" b="1" dirty="0">
                <a:solidFill>
                  <a:schemeClr val="accent1"/>
                </a:solidFill>
                <a:effectLst>
                  <a:outerShdw blurRad="38100" dist="38100" dir="2700000" algn="tl">
                    <a:srgbClr val="000000">
                      <a:alpha val="43137"/>
                    </a:srgbClr>
                  </a:outerShdw>
                </a:effectLst>
              </a:rPr>
              <a:t>SECTION 4 — TCPDUMP PRACTICAL</a:t>
            </a:r>
            <a:br>
              <a:rPr lang="en-US" b="1" dirty="0">
                <a:solidFill>
                  <a:schemeClr val="accent1"/>
                </a:solidFill>
                <a:effectLst>
                  <a:outerShdw blurRad="38100" dist="38100" dir="2700000" algn="tl">
                    <a:srgbClr val="000000">
                      <a:alpha val="43137"/>
                    </a:srgbClr>
                  </a:outerShdw>
                </a:effectLst>
              </a:rPr>
            </a:br>
            <a:br>
              <a:rPr lang="en-US" b="1" dirty="0">
                <a:solidFill>
                  <a:schemeClr val="accent1"/>
                </a:solidFill>
                <a:effectLst>
                  <a:outerShdw blurRad="38100" dist="38100" dir="2700000" algn="tl">
                    <a:srgbClr val="000000">
                      <a:alpha val="43137"/>
                    </a:srgbClr>
                  </a:outerShdw>
                </a:effectLst>
              </a:rPr>
            </a:br>
            <a:r>
              <a:rPr lang="en-US" b="1" dirty="0">
                <a:solidFill>
                  <a:srgbClr val="C00000"/>
                </a:solidFill>
                <a:effectLst>
                  <a:outerShdw blurRad="38100" dist="38100" dir="2700000" algn="tl">
                    <a:srgbClr val="000000">
                      <a:alpha val="43137"/>
                    </a:srgbClr>
                  </a:outerShdw>
                </a:effectLst>
              </a:rPr>
              <a:t>Task 1 — Packet Capture  </a:t>
            </a:r>
            <a:br>
              <a:rPr lang="en-US" dirty="0"/>
            </a:br>
            <a:endParaRPr lang="en-GB" b="1" dirty="0">
              <a:solidFill>
                <a:schemeClr val="accent1"/>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3F148DAF-8A53-8EF5-3454-18217A5EBEAF}"/>
              </a:ext>
            </a:extLst>
          </p:cNvPr>
          <p:cNvSpPr>
            <a:spLocks noGrp="1"/>
          </p:cNvSpPr>
          <p:nvPr>
            <p:ph idx="1"/>
          </p:nvPr>
        </p:nvSpPr>
        <p:spPr/>
        <p:txBody>
          <a:bodyPr/>
          <a:lstStyle/>
          <a:p>
            <a:pPr marL="0" indent="0">
              <a:buNone/>
            </a:pPr>
            <a:endParaRPr lang="en-US" dirty="0"/>
          </a:p>
          <a:p>
            <a:pPr marL="0" indent="0" algn="ctr">
              <a:buNone/>
            </a:pPr>
            <a:r>
              <a:rPr lang="en-US" b="1" i="1" dirty="0">
                <a:effectLst>
                  <a:outerShdw blurRad="38100" dist="38100" dir="2700000" algn="tl">
                    <a:srgbClr val="000000">
                      <a:alpha val="43137"/>
                    </a:srgbClr>
                  </a:outerShdw>
                </a:effectLst>
              </a:rPr>
              <a:t>Assignment</a:t>
            </a:r>
          </a:p>
          <a:p>
            <a:pPr algn="ctr"/>
            <a:endParaRPr lang="en-US" dirty="0"/>
          </a:p>
          <a:p>
            <a:pPr algn="ctr"/>
            <a:r>
              <a:rPr lang="en-US" dirty="0"/>
              <a:t>Capture packets using </a:t>
            </a:r>
            <a:r>
              <a:rPr lang="en-US" dirty="0" err="1"/>
              <a:t>tcpdump</a:t>
            </a:r>
            <a:r>
              <a:rPr lang="en-US" dirty="0"/>
              <a:t>.</a:t>
            </a:r>
            <a:endParaRPr lang="en-GB" dirty="0"/>
          </a:p>
        </p:txBody>
      </p:sp>
    </p:spTree>
    <p:extLst>
      <p:ext uri="{BB962C8B-B14F-4D97-AF65-F5344CB8AC3E}">
        <p14:creationId xmlns:p14="http://schemas.microsoft.com/office/powerpoint/2010/main" val="38712158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2571-41EA-3403-A920-40C7D6A1B1D3}"/>
              </a:ext>
            </a:extLst>
          </p:cNvPr>
          <p:cNvSpPr>
            <a:spLocks noGrp="1"/>
          </p:cNvSpPr>
          <p:nvPr>
            <p:ph type="title"/>
          </p:nvPr>
        </p:nvSpPr>
        <p:spPr>
          <a:xfrm>
            <a:off x="838200" y="515933"/>
            <a:ext cx="10515600" cy="1174755"/>
          </a:xfrm>
        </p:spPr>
        <p:txBody>
          <a:bodyPr>
            <a:normAutofit fontScale="90000"/>
          </a:bodyPr>
          <a:lstStyle/>
          <a:p>
            <a:r>
              <a:rPr lang="en-US" sz="1400" b="1" dirty="0"/>
              <a:t>Breakdown of the flags:</a:t>
            </a:r>
            <a:br>
              <a:rPr lang="en-US" sz="1400" b="1" dirty="0"/>
            </a:br>
            <a:r>
              <a:rPr lang="en-US" sz="2000" b="1" dirty="0" err="1"/>
              <a:t>sudo</a:t>
            </a:r>
            <a:r>
              <a:rPr lang="en-US" sz="2000" dirty="0"/>
              <a:t>: Required to run </a:t>
            </a:r>
            <a:r>
              <a:rPr lang="en-US" sz="2000" dirty="0" err="1"/>
              <a:t>tcpdump</a:t>
            </a:r>
            <a:r>
              <a:rPr lang="en-US" sz="2000" dirty="0"/>
              <a:t>, as packet sniffing requires administrative privileges.</a:t>
            </a:r>
            <a:br>
              <a:rPr lang="en-US" sz="2000" dirty="0"/>
            </a:br>
            <a:r>
              <a:rPr lang="en-US" sz="2000" b="1" dirty="0"/>
              <a:t>-</a:t>
            </a:r>
            <a:r>
              <a:rPr lang="en-US" sz="2000" b="1" dirty="0" err="1"/>
              <a:t>i</a:t>
            </a:r>
            <a:r>
              <a:rPr lang="en-US" sz="2000" b="1" dirty="0"/>
              <a:t> &lt;</a:t>
            </a:r>
            <a:r>
              <a:rPr lang="en-US" sz="2000" b="1" dirty="0" err="1"/>
              <a:t>interface_name</a:t>
            </a:r>
            <a:r>
              <a:rPr lang="en-US" sz="2000" b="1" dirty="0"/>
              <a:t>&gt;</a:t>
            </a:r>
            <a:r>
              <a:rPr lang="en-US" sz="2000" dirty="0"/>
              <a:t>: Specifies the network interface to listen on.</a:t>
            </a:r>
            <a:br>
              <a:rPr lang="en-US" sz="2000" dirty="0"/>
            </a:br>
            <a:r>
              <a:rPr lang="en-US" sz="2000" b="1" dirty="0"/>
              <a:t>-c 10</a:t>
            </a:r>
            <a:r>
              <a:rPr lang="en-US" sz="2000" dirty="0"/>
              <a:t>: Limits the capture to 10 packets (so your terminal doesn't overflow).</a:t>
            </a:r>
            <a:br>
              <a:rPr lang="en-US" sz="2000" dirty="0"/>
            </a:br>
            <a:r>
              <a:rPr lang="en-US" sz="2000" b="1" dirty="0"/>
              <a:t>-n</a:t>
            </a:r>
            <a:r>
              <a:rPr lang="en-US" sz="2000" dirty="0"/>
              <a:t>: Prevents the tool from trying to resolve IP addresses to domain names (which makes the capture faster and clearer).</a:t>
            </a:r>
            <a:br>
              <a:rPr lang="en-US" sz="2000" dirty="0"/>
            </a:br>
            <a:r>
              <a:rPr lang="pt-BR" sz="2000" dirty="0">
                <a:solidFill>
                  <a:srgbClr val="C00000"/>
                </a:solidFill>
              </a:rPr>
              <a:t>sudo tcpdump -i eth0 -c 10 -n</a:t>
            </a:r>
            <a:endParaRPr lang="en-GB" sz="2000" dirty="0">
              <a:solidFill>
                <a:srgbClr val="C00000"/>
              </a:solidFill>
            </a:endParaRPr>
          </a:p>
        </p:txBody>
      </p:sp>
      <p:pic>
        <p:nvPicPr>
          <p:cNvPr id="5" name="Content Placeholder 4">
            <a:extLst>
              <a:ext uri="{FF2B5EF4-FFF2-40B4-BE49-F238E27FC236}">
                <a16:creationId xmlns:a16="http://schemas.microsoft.com/office/drawing/2014/main" id="{6BDF1B5A-555A-6806-2350-0983820D9A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800" y="2270121"/>
            <a:ext cx="10515600" cy="4071946"/>
          </a:xfrm>
        </p:spPr>
      </p:pic>
    </p:spTree>
    <p:extLst>
      <p:ext uri="{BB962C8B-B14F-4D97-AF65-F5344CB8AC3E}">
        <p14:creationId xmlns:p14="http://schemas.microsoft.com/office/powerpoint/2010/main" val="2160825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B4D2D-3F16-F8B9-1527-12E4CCF6618C}"/>
              </a:ext>
            </a:extLst>
          </p:cNvPr>
          <p:cNvSpPr>
            <a:spLocks noGrp="1"/>
          </p:cNvSpPr>
          <p:nvPr>
            <p:ph type="title"/>
          </p:nvPr>
        </p:nvSpPr>
        <p:spPr/>
        <p:txBody>
          <a:bodyPr/>
          <a:lstStyle/>
          <a:p>
            <a:pPr algn="ctr"/>
            <a:r>
              <a:rPr lang="en-US" b="1" dirty="0">
                <a:solidFill>
                  <a:srgbClr val="C00000"/>
                </a:solidFill>
                <a:effectLst>
                  <a:outerShdw blurRad="38100" dist="38100" dir="2700000" algn="tl">
                    <a:srgbClr val="000000">
                      <a:alpha val="43137"/>
                    </a:srgbClr>
                  </a:outerShdw>
                </a:effectLst>
              </a:rPr>
              <a:t>Task 2 — Interface Capture</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5C814E1D-E43E-B414-45C6-1B717D338D43}"/>
              </a:ext>
            </a:extLst>
          </p:cNvPr>
          <p:cNvSpPr>
            <a:spLocks noGrp="1"/>
          </p:cNvSpPr>
          <p:nvPr>
            <p:ph idx="1"/>
          </p:nvPr>
        </p:nvSpPr>
        <p:spPr/>
        <p:txBody>
          <a:bodyPr/>
          <a:lstStyle/>
          <a:p>
            <a:pPr marL="0" indent="0" algn="ctr">
              <a:buNone/>
            </a:pPr>
            <a:r>
              <a:rPr lang="en-US" b="1" i="1" dirty="0">
                <a:effectLst>
                  <a:outerShdw blurRad="38100" dist="38100" dir="2700000" algn="tl">
                    <a:srgbClr val="000000">
                      <a:alpha val="43137"/>
                    </a:srgbClr>
                  </a:outerShdw>
                </a:effectLst>
              </a:rPr>
              <a:t>Assignment</a:t>
            </a:r>
          </a:p>
          <a:p>
            <a:pPr marL="0" indent="0" algn="ctr">
              <a:buNone/>
            </a:pPr>
            <a:endParaRPr lang="en-US" dirty="0"/>
          </a:p>
          <a:p>
            <a:pPr marL="0" indent="0" algn="ctr">
              <a:buNone/>
            </a:pPr>
            <a:r>
              <a:rPr lang="en-US" dirty="0"/>
              <a:t>Capture traffic on a specific interface.</a:t>
            </a:r>
            <a:endParaRPr lang="en-GB" dirty="0"/>
          </a:p>
        </p:txBody>
      </p:sp>
    </p:spTree>
    <p:extLst>
      <p:ext uri="{BB962C8B-B14F-4D97-AF65-F5344CB8AC3E}">
        <p14:creationId xmlns:p14="http://schemas.microsoft.com/office/powerpoint/2010/main" val="11205887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7CC08-148F-0C4B-8D00-4050595E14A3}"/>
              </a:ext>
            </a:extLst>
          </p:cNvPr>
          <p:cNvSpPr>
            <a:spLocks noGrp="1"/>
          </p:cNvSpPr>
          <p:nvPr>
            <p:ph type="title"/>
          </p:nvPr>
        </p:nvSpPr>
        <p:spPr/>
        <p:txBody>
          <a:bodyPr>
            <a:normAutofit fontScale="90000"/>
          </a:bodyPr>
          <a:lstStyle/>
          <a:p>
            <a:r>
              <a:rPr lang="en-US" sz="2000" dirty="0"/>
              <a:t>The reason task 1 and task 2 feel like the same task is because, in a real-world scenario, you rarely capture packets </a:t>
            </a:r>
            <a:r>
              <a:rPr lang="en-US" sz="2000" i="1" dirty="0"/>
              <a:t>without</a:t>
            </a:r>
            <a:r>
              <a:rPr lang="en-US" sz="2000" dirty="0"/>
              <a:t> specifying an interface, so they are often taught back-to-back. </a:t>
            </a:r>
            <a:br>
              <a:rPr lang="en-US" sz="2000" dirty="0"/>
            </a:br>
            <a:r>
              <a:rPr lang="en-US" sz="2000" dirty="0"/>
              <a:t>I decided not to capture only 10, and that is why I removed the from the code. Instead of </a:t>
            </a:r>
            <a:br>
              <a:rPr lang="en-US" sz="2000" dirty="0"/>
            </a:br>
            <a:r>
              <a:rPr lang="pt-BR" sz="2000" dirty="0">
                <a:solidFill>
                  <a:srgbClr val="C00000"/>
                </a:solidFill>
              </a:rPr>
              <a:t>sudo tcpdump -i eth0 -c 10 –n , I used sudo tcpdump -i eth0 –n .</a:t>
            </a:r>
            <a:br>
              <a:rPr lang="pt-BR" sz="2000" dirty="0">
                <a:solidFill>
                  <a:srgbClr val="C00000"/>
                </a:solidFill>
              </a:rPr>
            </a:br>
            <a:br>
              <a:rPr lang="pt-BR" sz="2000" dirty="0">
                <a:solidFill>
                  <a:srgbClr val="C00000"/>
                </a:solidFill>
              </a:rPr>
            </a:br>
            <a:r>
              <a:rPr lang="pt-BR" sz="2000" dirty="0">
                <a:solidFill>
                  <a:srgbClr val="C00000"/>
                </a:solidFill>
              </a:rPr>
              <a:t>If I wnat toi save it ], I would use: sudo tcpdump -i eth0 -w lab_capture.pcap</a:t>
            </a:r>
            <a:endParaRPr lang="en-GB" sz="2000" dirty="0">
              <a:solidFill>
                <a:srgbClr val="C00000"/>
              </a:solidFill>
            </a:endParaRPr>
          </a:p>
        </p:txBody>
      </p:sp>
      <p:pic>
        <p:nvPicPr>
          <p:cNvPr id="5" name="Content Placeholder 4">
            <a:extLst>
              <a:ext uri="{FF2B5EF4-FFF2-40B4-BE49-F238E27FC236}">
                <a16:creationId xmlns:a16="http://schemas.microsoft.com/office/drawing/2014/main" id="{78F0F311-E0BC-BD78-BCD6-4EDAFD60068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149" y="1876425"/>
            <a:ext cx="8275142" cy="4351338"/>
          </a:xfrm>
        </p:spPr>
      </p:pic>
    </p:spTree>
    <p:extLst>
      <p:ext uri="{BB962C8B-B14F-4D97-AF65-F5344CB8AC3E}">
        <p14:creationId xmlns:p14="http://schemas.microsoft.com/office/powerpoint/2010/main" val="27596479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3C23F-41FA-DCEA-AEAC-97229C71F40E}"/>
              </a:ext>
            </a:extLst>
          </p:cNvPr>
          <p:cNvSpPr>
            <a:spLocks noGrp="1"/>
          </p:cNvSpPr>
          <p:nvPr>
            <p:ph type="title"/>
          </p:nvPr>
        </p:nvSpPr>
        <p:spPr/>
        <p:txBody>
          <a:bodyPr/>
          <a:lstStyle/>
          <a:p>
            <a:pPr algn="ctr"/>
            <a:r>
              <a:rPr lang="en-US" b="1" dirty="0">
                <a:solidFill>
                  <a:srgbClr val="C00000"/>
                </a:solidFill>
                <a:effectLst>
                  <a:outerShdw blurRad="38100" dist="38100" dir="2700000" algn="tl">
                    <a:srgbClr val="000000">
                      <a:alpha val="43137"/>
                    </a:srgbClr>
                  </a:outerShdw>
                </a:effectLst>
              </a:rPr>
              <a:t>Task 3 — IP Address Filtering</a:t>
            </a:r>
            <a:br>
              <a:rPr lang="en-US" b="1" dirty="0">
                <a:solidFill>
                  <a:srgbClr val="C00000"/>
                </a:solidFill>
                <a:effectLst>
                  <a:outerShdw blurRad="38100" dist="38100" dir="2700000" algn="tl">
                    <a:srgbClr val="000000">
                      <a:alpha val="43137"/>
                    </a:srgbClr>
                  </a:outerShdw>
                </a:effectLst>
              </a:rPr>
            </a:b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B9E4B3F0-FAFC-8CD3-E58A-E6B593228693}"/>
              </a:ext>
            </a:extLst>
          </p:cNvPr>
          <p:cNvSpPr>
            <a:spLocks noGrp="1"/>
          </p:cNvSpPr>
          <p:nvPr>
            <p:ph idx="1"/>
          </p:nvPr>
        </p:nvSpPr>
        <p:spPr/>
        <p:txBody>
          <a:bodyPr/>
          <a:lstStyle/>
          <a:p>
            <a:pPr marL="0" indent="0" algn="ctr">
              <a:buNone/>
            </a:pPr>
            <a:r>
              <a:rPr lang="en-US" b="1" i="1" dirty="0"/>
              <a:t>Assignment</a:t>
            </a:r>
          </a:p>
          <a:p>
            <a:pPr marL="0" indent="0" algn="ctr">
              <a:buNone/>
            </a:pPr>
            <a:endParaRPr lang="en-US" dirty="0"/>
          </a:p>
          <a:p>
            <a:pPr marL="0" indent="0" algn="ctr">
              <a:buNone/>
            </a:pPr>
            <a:r>
              <a:rPr lang="en-US" dirty="0"/>
              <a:t>Capture traffic from a specific IP address.</a:t>
            </a:r>
          </a:p>
          <a:p>
            <a:pPr marL="0" indent="0" algn="ctr">
              <a:buNone/>
            </a:pPr>
            <a:r>
              <a:rPr lang="en-US" dirty="0"/>
              <a:t>save the captured file and open it using </a:t>
            </a:r>
            <a:r>
              <a:rPr lang="en-US" dirty="0" err="1"/>
              <a:t>wireshark</a:t>
            </a:r>
            <a:endParaRPr lang="en-GB" dirty="0"/>
          </a:p>
        </p:txBody>
      </p:sp>
    </p:spTree>
    <p:extLst>
      <p:ext uri="{BB962C8B-B14F-4D97-AF65-F5344CB8AC3E}">
        <p14:creationId xmlns:p14="http://schemas.microsoft.com/office/powerpoint/2010/main" val="33811071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B5B88-409D-59F6-C56C-FF817A5A94C5}"/>
              </a:ext>
            </a:extLst>
          </p:cNvPr>
          <p:cNvSpPr>
            <a:spLocks noGrp="1"/>
          </p:cNvSpPr>
          <p:nvPr>
            <p:ph type="title"/>
          </p:nvPr>
        </p:nvSpPr>
        <p:spPr>
          <a:xfrm>
            <a:off x="754380" y="368411"/>
            <a:ext cx="10683240" cy="1203008"/>
          </a:xfrm>
        </p:spPr>
        <p:txBody>
          <a:bodyPr>
            <a:normAutofit fontScale="90000"/>
          </a:bodyPr>
          <a:lstStyle/>
          <a:p>
            <a:r>
              <a:rPr lang="en-US" dirty="0"/>
              <a:t>Capturing traffic from a specific IP address, and  saving the captured file.</a:t>
            </a:r>
            <a:br>
              <a:rPr lang="en-US" dirty="0"/>
            </a:br>
            <a:endParaRPr lang="en-GB" dirty="0"/>
          </a:p>
        </p:txBody>
      </p:sp>
      <p:pic>
        <p:nvPicPr>
          <p:cNvPr id="5" name="Content Placeholder 4">
            <a:extLst>
              <a:ext uri="{FF2B5EF4-FFF2-40B4-BE49-F238E27FC236}">
                <a16:creationId xmlns:a16="http://schemas.microsoft.com/office/drawing/2014/main" id="{D2B74E32-739F-50DB-9F7D-53C3443074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39" y="1815465"/>
            <a:ext cx="12192000" cy="5032375"/>
          </a:xfrm>
        </p:spPr>
      </p:pic>
    </p:spTree>
    <p:extLst>
      <p:ext uri="{BB962C8B-B14F-4D97-AF65-F5344CB8AC3E}">
        <p14:creationId xmlns:p14="http://schemas.microsoft.com/office/powerpoint/2010/main" val="41787473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8B606-606F-A81B-74AB-0E9182615090}"/>
              </a:ext>
            </a:extLst>
          </p:cNvPr>
          <p:cNvSpPr>
            <a:spLocks noGrp="1"/>
          </p:cNvSpPr>
          <p:nvPr>
            <p:ph type="title"/>
          </p:nvPr>
        </p:nvSpPr>
        <p:spPr/>
        <p:txBody>
          <a:bodyPr/>
          <a:lstStyle/>
          <a:p>
            <a:r>
              <a:rPr lang="en-US" dirty="0"/>
              <a:t>opening it using </a:t>
            </a:r>
            <a:r>
              <a:rPr lang="en-US" dirty="0" err="1"/>
              <a:t>wireshark</a:t>
            </a:r>
            <a:endParaRPr lang="en-GB" dirty="0"/>
          </a:p>
        </p:txBody>
      </p:sp>
      <p:pic>
        <p:nvPicPr>
          <p:cNvPr id="5" name="Content Placeholder 4">
            <a:extLst>
              <a:ext uri="{FF2B5EF4-FFF2-40B4-BE49-F238E27FC236}">
                <a16:creationId xmlns:a16="http://schemas.microsoft.com/office/drawing/2014/main" id="{240C8490-1CA4-02F3-2E36-33F237C65D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8000" y="1825624"/>
            <a:ext cx="10845800" cy="5032375"/>
          </a:xfrm>
        </p:spPr>
      </p:pic>
    </p:spTree>
    <p:extLst>
      <p:ext uri="{BB962C8B-B14F-4D97-AF65-F5344CB8AC3E}">
        <p14:creationId xmlns:p14="http://schemas.microsoft.com/office/powerpoint/2010/main" val="37710105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8377D-61D5-9059-9396-06A6DF6AC9FE}"/>
              </a:ext>
            </a:extLst>
          </p:cNvPr>
          <p:cNvSpPr>
            <a:spLocks noGrp="1"/>
          </p:cNvSpPr>
          <p:nvPr>
            <p:ph type="title"/>
          </p:nvPr>
        </p:nvSpPr>
        <p:spPr/>
        <p:txBody>
          <a:bodyPr>
            <a:normAutofit/>
          </a:bodyPr>
          <a:lstStyle/>
          <a:p>
            <a:r>
              <a:rPr lang="en-US" sz="5400" b="1" u="sng" dirty="0">
                <a:solidFill>
                  <a:schemeClr val="accent1"/>
                </a:solidFill>
                <a:effectLst>
                  <a:outerShdw blurRad="38100" dist="38100" dir="2700000" algn="tl">
                    <a:srgbClr val="000000">
                      <a:alpha val="43137"/>
                    </a:srgbClr>
                  </a:outerShdw>
                </a:effectLst>
              </a:rPr>
              <a:t>SECTION 5 — PYTHON PRACTICAL</a:t>
            </a:r>
            <a:endParaRPr lang="en-GB" sz="5400" b="1" u="sng" dirty="0">
              <a:solidFill>
                <a:schemeClr val="accent1"/>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D6A62667-4F5B-AA91-3211-A22189B2D134}"/>
              </a:ext>
            </a:extLst>
          </p:cNvPr>
          <p:cNvSpPr>
            <a:spLocks noGrp="1"/>
          </p:cNvSpPr>
          <p:nvPr>
            <p:ph idx="1"/>
          </p:nvPr>
        </p:nvSpPr>
        <p:spPr/>
        <p:txBody>
          <a:bodyPr/>
          <a:lstStyle/>
          <a:p>
            <a:pPr algn="ctr"/>
            <a:r>
              <a:rPr lang="en-US" dirty="0"/>
              <a:t>PART A — DATA TYPES AND VARIABLES</a:t>
            </a:r>
          </a:p>
          <a:p>
            <a:pPr algn="ctr"/>
            <a:r>
              <a:rPr lang="en-US" dirty="0">
                <a:solidFill>
                  <a:srgbClr val="C00000"/>
                </a:solidFill>
                <a:effectLst>
                  <a:outerShdw blurRad="38100" dist="38100" dir="2700000" algn="tl">
                    <a:srgbClr val="000000">
                      <a:alpha val="43137"/>
                    </a:srgbClr>
                  </a:outerShdw>
                </a:effectLst>
              </a:rPr>
              <a:t>Task 1 — Variables and Data Types </a:t>
            </a:r>
          </a:p>
          <a:p>
            <a:pPr algn="ctr"/>
            <a:r>
              <a:rPr lang="en-US" b="1" dirty="0">
                <a:effectLst>
                  <a:outerShdw blurRad="38100" dist="38100" dir="2700000" algn="tl">
                    <a:srgbClr val="000000">
                      <a:alpha val="43137"/>
                    </a:srgbClr>
                  </a:outerShdw>
                </a:effectLst>
              </a:rPr>
              <a:t>Assignment</a:t>
            </a:r>
          </a:p>
          <a:p>
            <a:pPr algn="ctr"/>
            <a:r>
              <a:rPr lang="en-US" dirty="0"/>
              <a:t>Create variables to store:</a:t>
            </a:r>
          </a:p>
          <a:p>
            <a:pPr algn="ctr"/>
            <a:r>
              <a:rPr lang="en-US" dirty="0"/>
              <a:t>1. Name</a:t>
            </a:r>
          </a:p>
          <a:p>
            <a:pPr algn="ctr"/>
            <a:r>
              <a:rPr lang="en-US" dirty="0"/>
              <a:t>2. Age</a:t>
            </a:r>
          </a:p>
          <a:p>
            <a:pPr algn="ctr"/>
            <a:r>
              <a:rPr lang="en-US" dirty="0"/>
              <a:t>3. Height</a:t>
            </a:r>
          </a:p>
          <a:p>
            <a:pPr algn="ctr"/>
            <a:r>
              <a:rPr lang="en-US" dirty="0"/>
              <a:t>4. Student status</a:t>
            </a:r>
            <a:endParaRPr lang="en-GB" dirty="0"/>
          </a:p>
        </p:txBody>
      </p:sp>
    </p:spTree>
    <p:extLst>
      <p:ext uri="{BB962C8B-B14F-4D97-AF65-F5344CB8AC3E}">
        <p14:creationId xmlns:p14="http://schemas.microsoft.com/office/powerpoint/2010/main" val="11767158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B1449-F1E4-8FAE-7A45-9E76B1181090}"/>
              </a:ext>
            </a:extLst>
          </p:cNvPr>
          <p:cNvSpPr>
            <a:spLocks noGrp="1"/>
          </p:cNvSpPr>
          <p:nvPr>
            <p:ph type="title"/>
          </p:nvPr>
        </p:nvSpPr>
        <p:spPr/>
        <p:txBody>
          <a:bodyPr/>
          <a:lstStyle/>
          <a:p>
            <a:r>
              <a:rPr lang="en-US" dirty="0"/>
              <a:t>Creating variables</a:t>
            </a:r>
            <a:endParaRPr lang="en-GB" dirty="0"/>
          </a:p>
        </p:txBody>
      </p:sp>
      <p:pic>
        <p:nvPicPr>
          <p:cNvPr id="5" name="Content Placeholder 4">
            <a:extLst>
              <a:ext uri="{FF2B5EF4-FFF2-40B4-BE49-F238E27FC236}">
                <a16:creationId xmlns:a16="http://schemas.microsoft.com/office/drawing/2014/main" id="{5EC99C72-589D-FA2D-A4A2-82D45F3D5B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90688"/>
            <a:ext cx="12115800" cy="5167312"/>
          </a:xfrm>
        </p:spPr>
      </p:pic>
    </p:spTree>
    <p:extLst>
      <p:ext uri="{BB962C8B-B14F-4D97-AF65-F5344CB8AC3E}">
        <p14:creationId xmlns:p14="http://schemas.microsoft.com/office/powerpoint/2010/main" val="29567567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3D738-6A11-1CBA-A96F-379844C00C34}"/>
              </a:ext>
            </a:extLst>
          </p:cNvPr>
          <p:cNvSpPr>
            <a:spLocks noGrp="1"/>
          </p:cNvSpPr>
          <p:nvPr>
            <p:ph type="title"/>
          </p:nvPr>
        </p:nvSpPr>
        <p:spPr/>
        <p:txBody>
          <a:bodyPr/>
          <a:lstStyle/>
          <a:p>
            <a:pPr algn="ctr"/>
            <a:r>
              <a:rPr lang="en-US" b="1" dirty="0">
                <a:solidFill>
                  <a:srgbClr val="C00000"/>
                </a:solidFill>
                <a:effectLst>
                  <a:outerShdw blurRad="38100" dist="38100" dir="2700000" algn="tl">
                    <a:srgbClr val="000000">
                      <a:alpha val="43137"/>
                    </a:srgbClr>
                  </a:outerShdw>
                </a:effectLst>
              </a:rPr>
              <a:t>Task 2 — Lists and Tuples</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8813432E-DD55-C388-AC23-F18BBCF6F5E4}"/>
              </a:ext>
            </a:extLst>
          </p:cNvPr>
          <p:cNvSpPr>
            <a:spLocks noGrp="1"/>
          </p:cNvSpPr>
          <p:nvPr>
            <p:ph idx="1"/>
          </p:nvPr>
        </p:nvSpPr>
        <p:spPr/>
        <p:txBody>
          <a:bodyPr/>
          <a:lstStyle/>
          <a:p>
            <a:pPr marL="0" indent="0" algn="ctr">
              <a:buNone/>
            </a:pPr>
            <a:r>
              <a:rPr lang="en-US" b="1" i="1" dirty="0"/>
              <a:t>Assignment</a:t>
            </a:r>
          </a:p>
          <a:p>
            <a:pPr marL="0" indent="0" algn="ctr">
              <a:buNone/>
            </a:pPr>
            <a:endParaRPr lang="en-US" dirty="0"/>
          </a:p>
          <a:p>
            <a:pPr marL="514350" indent="-514350" algn="ctr">
              <a:buAutoNum type="arabicPeriod"/>
            </a:pPr>
            <a:r>
              <a:rPr lang="en-US" dirty="0"/>
              <a:t>Create a list containing favorite foods.</a:t>
            </a:r>
          </a:p>
          <a:p>
            <a:pPr marL="0" indent="0" algn="ctr">
              <a:buNone/>
            </a:pPr>
            <a:r>
              <a:rPr lang="en-US" dirty="0"/>
              <a:t>2.  Create a tuple containing weekdays.</a:t>
            </a:r>
          </a:p>
          <a:p>
            <a:pPr marL="0" indent="0" algn="ctr">
              <a:buNone/>
            </a:pPr>
            <a:r>
              <a:rPr lang="en-US" dirty="0"/>
              <a:t>3. Display both.</a:t>
            </a:r>
            <a:endParaRPr lang="en-GB" dirty="0"/>
          </a:p>
        </p:txBody>
      </p:sp>
    </p:spTree>
    <p:extLst>
      <p:ext uri="{BB962C8B-B14F-4D97-AF65-F5344CB8AC3E}">
        <p14:creationId xmlns:p14="http://schemas.microsoft.com/office/powerpoint/2010/main" val="384440396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703A0-49AB-1724-C09F-6DEA30B3E19F}"/>
              </a:ext>
            </a:extLst>
          </p:cNvPr>
          <p:cNvSpPr>
            <a:spLocks noGrp="1"/>
          </p:cNvSpPr>
          <p:nvPr>
            <p:ph type="title"/>
          </p:nvPr>
        </p:nvSpPr>
        <p:spPr>
          <a:xfrm>
            <a:off x="838200" y="365126"/>
            <a:ext cx="10515600" cy="738118"/>
          </a:xfrm>
        </p:spPr>
        <p:txBody>
          <a:bodyPr/>
          <a:lstStyle/>
          <a:p>
            <a:r>
              <a:rPr lang="en-US" dirty="0"/>
              <a:t>1,2&amp;3</a:t>
            </a:r>
            <a:endParaRPr lang="en-GB" dirty="0"/>
          </a:p>
        </p:txBody>
      </p:sp>
      <p:pic>
        <p:nvPicPr>
          <p:cNvPr id="5" name="Content Placeholder 4">
            <a:extLst>
              <a:ext uri="{FF2B5EF4-FFF2-40B4-BE49-F238E27FC236}">
                <a16:creationId xmlns:a16="http://schemas.microsoft.com/office/drawing/2014/main" id="{DE2BF390-420C-DC34-6D56-3D393F7376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321904"/>
            <a:ext cx="12192000" cy="5416825"/>
          </a:xfrm>
        </p:spPr>
      </p:pic>
    </p:spTree>
    <p:extLst>
      <p:ext uri="{BB962C8B-B14F-4D97-AF65-F5344CB8AC3E}">
        <p14:creationId xmlns:p14="http://schemas.microsoft.com/office/powerpoint/2010/main" val="90797233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22FD8-532C-084F-B469-60C1365BC213}"/>
              </a:ext>
            </a:extLst>
          </p:cNvPr>
          <p:cNvSpPr>
            <a:spLocks noGrp="1"/>
          </p:cNvSpPr>
          <p:nvPr>
            <p:ph type="title"/>
          </p:nvPr>
        </p:nvSpPr>
        <p:spPr/>
        <p:txBody>
          <a:bodyPr/>
          <a:lstStyle/>
          <a:p>
            <a:pPr algn="ctr"/>
            <a:r>
              <a:rPr lang="en-US" b="1" u="sng" dirty="0">
                <a:solidFill>
                  <a:srgbClr val="C00000"/>
                </a:solidFill>
                <a:effectLst>
                  <a:outerShdw blurRad="38100" dist="38100" dir="2700000" algn="tl">
                    <a:srgbClr val="000000">
                      <a:alpha val="43137"/>
                    </a:srgbClr>
                  </a:outerShdw>
                </a:effectLst>
              </a:rPr>
              <a:t>Task 3 — Dictionary</a:t>
            </a:r>
            <a:endParaRPr lang="en-GB" b="1" u="sng"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57B52F73-7B25-2C99-C30C-7597EF736AE5}"/>
              </a:ext>
            </a:extLst>
          </p:cNvPr>
          <p:cNvSpPr>
            <a:spLocks noGrp="1"/>
          </p:cNvSpPr>
          <p:nvPr>
            <p:ph idx="1"/>
          </p:nvPr>
        </p:nvSpPr>
        <p:spPr/>
        <p:txBody>
          <a:bodyPr/>
          <a:lstStyle/>
          <a:p>
            <a:pPr marL="0" indent="0" algn="ctr">
              <a:buNone/>
            </a:pPr>
            <a:r>
              <a:rPr lang="en-US" b="1" dirty="0">
                <a:effectLst>
                  <a:outerShdw blurRad="38100" dist="38100" dir="2700000" algn="tl">
                    <a:srgbClr val="000000">
                      <a:alpha val="43137"/>
                    </a:srgbClr>
                  </a:outerShdw>
                </a:effectLst>
              </a:rPr>
              <a:t>Assignment</a:t>
            </a:r>
          </a:p>
          <a:p>
            <a:pPr marL="0" indent="0" algn="ctr">
              <a:buNone/>
            </a:pPr>
            <a:endParaRPr lang="en-US" dirty="0"/>
          </a:p>
          <a:p>
            <a:pPr marL="0" indent="0" algn="ctr">
              <a:buNone/>
            </a:pPr>
            <a:r>
              <a:rPr lang="en-US" dirty="0"/>
              <a:t>Create a dictionary containing:</a:t>
            </a:r>
          </a:p>
          <a:p>
            <a:pPr marL="0" indent="0" algn="ctr">
              <a:buNone/>
            </a:pPr>
            <a:r>
              <a:rPr lang="en-US" dirty="0"/>
              <a:t>1. Name</a:t>
            </a:r>
          </a:p>
          <a:p>
            <a:pPr marL="0" indent="0" algn="ctr">
              <a:buNone/>
            </a:pPr>
            <a:r>
              <a:rPr lang="en-US" dirty="0"/>
              <a:t>2. Age</a:t>
            </a:r>
          </a:p>
          <a:p>
            <a:pPr marL="0" indent="0" algn="ctr">
              <a:buNone/>
            </a:pPr>
            <a:r>
              <a:rPr lang="en-US" dirty="0"/>
              <a:t>3. Department</a:t>
            </a:r>
            <a:endParaRPr lang="en-GB" dirty="0"/>
          </a:p>
        </p:txBody>
      </p:sp>
    </p:spTree>
    <p:extLst>
      <p:ext uri="{BB962C8B-B14F-4D97-AF65-F5344CB8AC3E}">
        <p14:creationId xmlns:p14="http://schemas.microsoft.com/office/powerpoint/2010/main" val="42165728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75283-C8AE-B45F-BFEC-1C9022358E63}"/>
              </a:ext>
            </a:extLst>
          </p:cNvPr>
          <p:cNvSpPr>
            <a:spLocks noGrp="1"/>
          </p:cNvSpPr>
          <p:nvPr>
            <p:ph type="title"/>
          </p:nvPr>
        </p:nvSpPr>
        <p:spPr/>
        <p:txBody>
          <a:bodyPr/>
          <a:lstStyle/>
          <a:p>
            <a:r>
              <a:rPr lang="en-US" dirty="0"/>
              <a:t>Creating a dictionary</a:t>
            </a:r>
            <a:endParaRPr lang="en-GB" dirty="0"/>
          </a:p>
        </p:txBody>
      </p:sp>
      <p:pic>
        <p:nvPicPr>
          <p:cNvPr id="5" name="Content Placeholder 4">
            <a:extLst>
              <a:ext uri="{FF2B5EF4-FFF2-40B4-BE49-F238E27FC236}">
                <a16:creationId xmlns:a16="http://schemas.microsoft.com/office/drawing/2014/main" id="{154C166E-395D-FAD0-BB4D-0A40A02725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918" y="1825625"/>
            <a:ext cx="12080082" cy="5161584"/>
          </a:xfrm>
        </p:spPr>
      </p:pic>
    </p:spTree>
    <p:extLst>
      <p:ext uri="{BB962C8B-B14F-4D97-AF65-F5344CB8AC3E}">
        <p14:creationId xmlns:p14="http://schemas.microsoft.com/office/powerpoint/2010/main" val="12367271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F2E63-C315-1ADA-E34E-26FFD1CD30D4}"/>
              </a:ext>
            </a:extLst>
          </p:cNvPr>
          <p:cNvSpPr>
            <a:spLocks noGrp="1"/>
          </p:cNvSpPr>
          <p:nvPr>
            <p:ph type="title"/>
          </p:nvPr>
        </p:nvSpPr>
        <p:spPr/>
        <p:txBody>
          <a:bodyPr/>
          <a:lstStyle/>
          <a:p>
            <a:r>
              <a:rPr lang="en-US" dirty="0"/>
              <a:t>Accessing them individually</a:t>
            </a:r>
            <a:endParaRPr lang="en-GB" dirty="0"/>
          </a:p>
        </p:txBody>
      </p:sp>
      <p:pic>
        <p:nvPicPr>
          <p:cNvPr id="5" name="Content Placeholder 4">
            <a:extLst>
              <a:ext uri="{FF2B5EF4-FFF2-40B4-BE49-F238E27FC236}">
                <a16:creationId xmlns:a16="http://schemas.microsoft.com/office/drawing/2014/main" id="{246E2BC0-6E33-A987-C523-73E03C1B7D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825624"/>
            <a:ext cx="12192001" cy="4923045"/>
          </a:xfrm>
        </p:spPr>
      </p:pic>
    </p:spTree>
    <p:extLst>
      <p:ext uri="{BB962C8B-B14F-4D97-AF65-F5344CB8AC3E}">
        <p14:creationId xmlns:p14="http://schemas.microsoft.com/office/powerpoint/2010/main" val="34735282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2EF49-4697-5B73-4B09-6C7C91F71BF2}"/>
              </a:ext>
            </a:extLst>
          </p:cNvPr>
          <p:cNvSpPr>
            <a:spLocks noGrp="1"/>
          </p:cNvSpPr>
          <p:nvPr>
            <p:ph type="title"/>
          </p:nvPr>
        </p:nvSpPr>
        <p:spPr/>
        <p:txBody>
          <a:bodyPr>
            <a:normAutofit fontScale="90000"/>
          </a:bodyPr>
          <a:lstStyle/>
          <a:p>
            <a:pPr algn="ctr"/>
            <a:r>
              <a:rPr lang="en-US" b="1" u="sng" dirty="0">
                <a:effectLst>
                  <a:outerShdw blurRad="38100" dist="38100" dir="2700000" algn="tl">
                    <a:srgbClr val="000000">
                      <a:alpha val="43137"/>
                    </a:srgbClr>
                  </a:outerShdw>
                </a:effectLst>
              </a:rPr>
              <a:t>PART B — CONDITIONAL STATEMENTS</a:t>
            </a:r>
            <a:br>
              <a:rPr lang="en-US" b="1" u="sng" dirty="0">
                <a:effectLst>
                  <a:outerShdw blurRad="38100" dist="38100" dir="2700000" algn="tl">
                    <a:srgbClr val="000000">
                      <a:alpha val="43137"/>
                    </a:srgbClr>
                  </a:outerShdw>
                </a:effectLst>
              </a:rPr>
            </a:br>
            <a:br>
              <a:rPr lang="en-US" dirty="0"/>
            </a:br>
            <a:r>
              <a:rPr lang="en-US" b="1" dirty="0">
                <a:solidFill>
                  <a:srgbClr val="C00000"/>
                </a:solidFill>
                <a:effectLst>
                  <a:outerShdw blurRad="38100" dist="38100" dir="2700000" algn="tl">
                    <a:srgbClr val="000000">
                      <a:alpha val="43137"/>
                    </a:srgbClr>
                  </a:outerShdw>
                </a:effectLst>
              </a:rPr>
              <a:t>Task 4 — If Statement</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507EC745-BB37-1CF5-EB65-26DF62FF66EF}"/>
              </a:ext>
            </a:extLst>
          </p:cNvPr>
          <p:cNvSpPr>
            <a:spLocks noGrp="1"/>
          </p:cNvSpPr>
          <p:nvPr>
            <p:ph idx="1"/>
          </p:nvPr>
        </p:nvSpPr>
        <p:spPr/>
        <p:txBody>
          <a:bodyPr/>
          <a:lstStyle/>
          <a:p>
            <a:pPr algn="ctr"/>
            <a:endParaRPr lang="en-US" dirty="0"/>
          </a:p>
          <a:p>
            <a:pPr algn="ctr"/>
            <a:r>
              <a:rPr lang="en-US" dirty="0"/>
              <a:t> </a:t>
            </a:r>
            <a:r>
              <a:rPr lang="en-US" b="1" i="1" dirty="0"/>
              <a:t>Assignment</a:t>
            </a:r>
          </a:p>
          <a:p>
            <a:pPr algn="ctr"/>
            <a:endParaRPr lang="en-US" dirty="0"/>
          </a:p>
          <a:p>
            <a:pPr algn="ctr"/>
            <a:r>
              <a:rPr lang="en-US" dirty="0"/>
              <a:t>Create a program that checks whether a number is positive.</a:t>
            </a:r>
            <a:endParaRPr lang="en-GB" dirty="0"/>
          </a:p>
        </p:txBody>
      </p:sp>
    </p:spTree>
    <p:extLst>
      <p:ext uri="{BB962C8B-B14F-4D97-AF65-F5344CB8AC3E}">
        <p14:creationId xmlns:p14="http://schemas.microsoft.com/office/powerpoint/2010/main" val="352010460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238E9-D16F-A9E1-545F-CBE676B17023}"/>
              </a:ext>
            </a:extLst>
          </p:cNvPr>
          <p:cNvSpPr>
            <a:spLocks noGrp="1"/>
          </p:cNvSpPr>
          <p:nvPr>
            <p:ph type="title"/>
          </p:nvPr>
        </p:nvSpPr>
        <p:spPr>
          <a:xfrm>
            <a:off x="578126" y="176913"/>
            <a:ext cx="10300252" cy="1501845"/>
          </a:xfrm>
        </p:spPr>
        <p:txBody>
          <a:bodyPr>
            <a:noAutofit/>
          </a:bodyPr>
          <a:lstStyle/>
          <a:p>
            <a:r>
              <a:rPr lang="en-US" sz="2400" b="1" dirty="0"/>
              <a:t>Conditional statements are the "decision-makers" of your code. An if statement acts like a gatekeeper: it checks a condition, and if that condition is true, it lets the code inside the block run. If it’s false, it simply skips it.</a:t>
            </a:r>
            <a:br>
              <a:rPr lang="en-US" sz="2400" b="1" dirty="0"/>
            </a:br>
            <a:r>
              <a:rPr lang="en-US" sz="2400" b="1" dirty="0"/>
              <a:t>Here is the code to check if a number is positive:</a:t>
            </a:r>
            <a:br>
              <a:rPr lang="en-US" sz="2400" b="1" dirty="0"/>
            </a:br>
            <a:endParaRPr lang="en-GB" sz="2400" b="1" dirty="0"/>
          </a:p>
        </p:txBody>
      </p:sp>
      <p:pic>
        <p:nvPicPr>
          <p:cNvPr id="5" name="Content Placeholder 4">
            <a:extLst>
              <a:ext uri="{FF2B5EF4-FFF2-40B4-BE49-F238E27FC236}">
                <a16:creationId xmlns:a16="http://schemas.microsoft.com/office/drawing/2014/main" id="{9C51CD76-074C-0A8E-4D00-C969A6DF70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1149" y="1832784"/>
            <a:ext cx="8580782" cy="2540434"/>
          </a:xfrm>
        </p:spPr>
      </p:pic>
      <p:sp>
        <p:nvSpPr>
          <p:cNvPr id="6" name="Rectangle 1">
            <a:extLst>
              <a:ext uri="{FF2B5EF4-FFF2-40B4-BE49-F238E27FC236}">
                <a16:creationId xmlns:a16="http://schemas.microsoft.com/office/drawing/2014/main" id="{77AABDD4-326E-D13E-66F1-E93E2057890D}"/>
              </a:ext>
            </a:extLst>
          </p:cNvPr>
          <p:cNvSpPr>
            <a:spLocks noChangeArrowheads="1"/>
          </p:cNvSpPr>
          <p:nvPr/>
        </p:nvSpPr>
        <p:spPr bwMode="auto">
          <a:xfrm>
            <a:off x="578126" y="4871254"/>
            <a:ext cx="1030025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The Colon (</a:t>
            </a:r>
            <a:r>
              <a:rPr kumimoji="0" lang="en-US" altLang="en-US" b="1" i="0" u="none" strike="noStrike" cap="none" normalizeH="0" baseline="0" dirty="0">
                <a:ln>
                  <a:noFill/>
                </a:ln>
                <a:solidFill>
                  <a:schemeClr val="tx1"/>
                </a:solidFill>
                <a:effectLst/>
                <a:latin typeface="Arial Unicode MS"/>
              </a:rPr>
              <a:t>:</a:t>
            </a:r>
            <a:r>
              <a:rPr kumimoji="0" lang="en-US" altLang="en-US" b="1" i="0" u="none" strike="noStrike" cap="none" normalizeH="0" baseline="0" dirty="0">
                <a:ln>
                  <a:noFill/>
                </a:ln>
                <a:solidFill>
                  <a:schemeClr val="tx1"/>
                </a:solidFill>
                <a:effectLst/>
              </a:rPr>
              <a:t>):</a:t>
            </a:r>
            <a:r>
              <a:rPr kumimoji="0" lang="en-US" altLang="en-US" b="0" i="0" u="none" strike="noStrike" cap="none" normalizeH="0" baseline="0" dirty="0">
                <a:ln>
                  <a:noFill/>
                </a:ln>
                <a:solidFill>
                  <a:schemeClr val="tx1"/>
                </a:solidFill>
                <a:effectLst/>
                <a:latin typeface="Arial" panose="020B0604020202020204" pitchFamily="34" charset="0"/>
              </a:rPr>
              <a:t> Always remember to put a colon at the end of your </a:t>
            </a:r>
            <a:r>
              <a:rPr kumimoji="0" lang="en-US" altLang="en-US" b="0" i="0" u="none" strike="noStrike" cap="none" normalizeH="0" baseline="0" dirty="0">
                <a:ln>
                  <a:noFill/>
                </a:ln>
                <a:solidFill>
                  <a:schemeClr val="tx1"/>
                </a:solidFill>
                <a:effectLst/>
                <a:latin typeface="Arial Unicode MS"/>
              </a:rPr>
              <a:t>if</a:t>
            </a:r>
            <a:r>
              <a:rPr kumimoji="0" lang="en-US" altLang="en-US" b="0" i="0" u="none" strike="noStrike" cap="none" normalizeH="0" baseline="0" dirty="0">
                <a:ln>
                  <a:noFill/>
                </a:ln>
                <a:solidFill>
                  <a:schemeClr val="tx1"/>
                </a:solidFill>
                <a:effectLst/>
              </a:rPr>
              <a:t> statement line. It tells Python, "The condition is done, here comes the code to run if it's true."</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Indentation:</a:t>
            </a:r>
            <a:r>
              <a:rPr kumimoji="0" lang="en-US" altLang="en-US" b="0" i="0" u="none" strike="noStrike" cap="none" normalizeH="0" baseline="0" dirty="0">
                <a:ln>
                  <a:noFill/>
                </a:ln>
                <a:solidFill>
                  <a:schemeClr val="tx1"/>
                </a:solidFill>
                <a:effectLst/>
                <a:latin typeface="Arial" panose="020B0604020202020204" pitchFamily="34" charset="0"/>
              </a:rPr>
              <a:t> The </a:t>
            </a:r>
            <a:r>
              <a:rPr kumimoji="0" lang="en-US" altLang="en-US" b="0" i="0" u="none" strike="noStrike" cap="none" normalizeH="0" baseline="0" dirty="0">
                <a:ln>
                  <a:noFill/>
                </a:ln>
                <a:solidFill>
                  <a:schemeClr val="tx1"/>
                </a:solidFill>
                <a:effectLst/>
                <a:latin typeface="Arial Unicode MS"/>
              </a:rPr>
              <a:t>print</a:t>
            </a:r>
            <a:r>
              <a:rPr kumimoji="0" lang="en-US" altLang="en-US" b="0" i="0" u="none" strike="noStrike" cap="none" normalizeH="0" baseline="0" dirty="0">
                <a:ln>
                  <a:noFill/>
                </a:ln>
                <a:solidFill>
                  <a:schemeClr val="tx1"/>
                </a:solidFill>
                <a:effectLst/>
              </a:rPr>
              <a:t> statement is pushed over (indented) by four spaces. This indentation is mandatory in Python—it tells the computer that this specific line belongs </a:t>
            </a:r>
            <a:r>
              <a:rPr kumimoji="0" lang="en-US" altLang="en-US" b="0" i="1" u="none" strike="noStrike" cap="none" normalizeH="0" baseline="0" dirty="0">
                <a:ln>
                  <a:noFill/>
                </a:ln>
                <a:solidFill>
                  <a:schemeClr val="tx1"/>
                </a:solidFill>
                <a:effectLst/>
                <a:latin typeface="Arial" panose="020B0604020202020204" pitchFamily="34" charset="0"/>
              </a:rPr>
              <a:t>inside</a:t>
            </a:r>
            <a:r>
              <a:rPr kumimoji="0" lang="en-US" altLang="en-US" b="0" i="0" u="none" strike="noStrike" cap="none" normalizeH="0" baseline="0" dirty="0">
                <a:ln>
                  <a:noFill/>
                </a:ln>
                <a:solidFill>
                  <a:schemeClr val="tx1"/>
                </a:solidFill>
                <a:effectLst/>
                <a:latin typeface="Arial" panose="020B0604020202020204" pitchFamily="34" charset="0"/>
              </a:rPr>
              <a:t> the </a:t>
            </a:r>
            <a:r>
              <a:rPr kumimoji="0" lang="en-US" altLang="en-US" b="0" i="0" u="none" strike="noStrike" cap="none" normalizeH="0" baseline="0" dirty="0">
                <a:ln>
                  <a:noFill/>
                </a:ln>
                <a:solidFill>
                  <a:schemeClr val="tx1"/>
                </a:solidFill>
                <a:effectLst/>
                <a:latin typeface="Arial Unicode MS"/>
              </a:rPr>
              <a:t>if</a:t>
            </a:r>
            <a:r>
              <a:rPr kumimoji="0" lang="en-US" altLang="en-US" b="0" i="0" u="none" strike="noStrike" cap="none" normalizeH="0" baseline="0" dirty="0">
                <a:ln>
                  <a:noFill/>
                </a:ln>
                <a:solidFill>
                  <a:schemeClr val="tx1"/>
                </a:solidFill>
                <a:effectLst/>
              </a:rPr>
              <a:t> block.</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882183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0EEE3-C42D-CA7C-1D82-65F75EADB166}"/>
              </a:ext>
            </a:extLst>
          </p:cNvPr>
          <p:cNvSpPr>
            <a:spLocks noGrp="1"/>
          </p:cNvSpPr>
          <p:nvPr>
            <p:ph type="title"/>
          </p:nvPr>
        </p:nvSpPr>
        <p:spPr/>
        <p:txBody>
          <a:bodyPr/>
          <a:lstStyle/>
          <a:p>
            <a:pPr algn="ctr"/>
            <a:r>
              <a:rPr lang="en-US" b="1" dirty="0">
                <a:solidFill>
                  <a:srgbClr val="C00000"/>
                </a:solidFill>
                <a:effectLst>
                  <a:outerShdw blurRad="38100" dist="38100" dir="2700000" algn="tl">
                    <a:srgbClr val="000000">
                      <a:alpha val="43137"/>
                    </a:srgbClr>
                  </a:outerShdw>
                </a:effectLst>
              </a:rPr>
              <a:t>Task 5 — If, Elif and Else</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540EBB79-110F-14FD-5736-84794BBA9262}"/>
              </a:ext>
            </a:extLst>
          </p:cNvPr>
          <p:cNvSpPr>
            <a:spLocks noGrp="1"/>
          </p:cNvSpPr>
          <p:nvPr>
            <p:ph idx="1"/>
          </p:nvPr>
        </p:nvSpPr>
        <p:spPr/>
        <p:txBody>
          <a:bodyPr/>
          <a:lstStyle/>
          <a:p>
            <a:pPr algn="ctr"/>
            <a:r>
              <a:rPr lang="en-US" b="1" i="1" dirty="0"/>
              <a:t>Assignment</a:t>
            </a:r>
          </a:p>
          <a:p>
            <a:pPr algn="ctr"/>
            <a:endParaRPr lang="en-US" dirty="0"/>
          </a:p>
          <a:p>
            <a:pPr algn="ctr"/>
            <a:r>
              <a:rPr lang="en-US" dirty="0"/>
              <a:t>Create a grading system using conditions.</a:t>
            </a:r>
            <a:endParaRPr lang="en-GB" dirty="0"/>
          </a:p>
        </p:txBody>
      </p:sp>
    </p:spTree>
    <p:extLst>
      <p:ext uri="{BB962C8B-B14F-4D97-AF65-F5344CB8AC3E}">
        <p14:creationId xmlns:p14="http://schemas.microsoft.com/office/powerpoint/2010/main" val="54270345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BE120-01A7-1D7D-D043-15926593CC55}"/>
              </a:ext>
            </a:extLst>
          </p:cNvPr>
          <p:cNvSpPr>
            <a:spLocks noGrp="1"/>
          </p:cNvSpPr>
          <p:nvPr>
            <p:ph type="title"/>
          </p:nvPr>
        </p:nvSpPr>
        <p:spPr>
          <a:xfrm>
            <a:off x="695739" y="129209"/>
            <a:ext cx="10658061" cy="1561479"/>
          </a:xfrm>
        </p:spPr>
        <p:txBody>
          <a:bodyPr>
            <a:normAutofit fontScale="90000"/>
          </a:bodyPr>
          <a:lstStyle/>
          <a:p>
            <a:r>
              <a:rPr lang="en-US" sz="2200" b="1" dirty="0"/>
              <a:t> if-</a:t>
            </a:r>
            <a:r>
              <a:rPr lang="en-US" sz="2200" b="1" dirty="0" err="1"/>
              <a:t>elif</a:t>
            </a:r>
            <a:r>
              <a:rPr lang="en-US" sz="2200" b="1" dirty="0"/>
              <a:t>-else</a:t>
            </a:r>
            <a:br>
              <a:rPr lang="en-US" sz="2200" b="1" dirty="0"/>
            </a:br>
            <a:br>
              <a:rPr lang="en-US" sz="2200" dirty="0"/>
            </a:br>
            <a:r>
              <a:rPr lang="en-US" sz="2000" b="1" dirty="0"/>
              <a:t>if</a:t>
            </a:r>
            <a:r>
              <a:rPr lang="en-US" sz="2000" dirty="0"/>
              <a:t>: The first check.</a:t>
            </a:r>
            <a:br>
              <a:rPr lang="en-US" sz="2000" dirty="0"/>
            </a:br>
            <a:r>
              <a:rPr lang="en-US" sz="2000" b="1" dirty="0" err="1"/>
              <a:t>elif</a:t>
            </a:r>
            <a:r>
              <a:rPr lang="en-US" sz="2000" dirty="0"/>
              <a:t>: Short for "else if." It checks a new condition </a:t>
            </a:r>
            <a:r>
              <a:rPr lang="en-US" sz="2000" i="1" dirty="0"/>
              <a:t>only if</a:t>
            </a:r>
            <a:r>
              <a:rPr lang="en-US" sz="2000" dirty="0"/>
              <a:t> the previous conditions were False.</a:t>
            </a:r>
            <a:br>
              <a:rPr lang="en-US" sz="2000" dirty="0"/>
            </a:br>
            <a:r>
              <a:rPr lang="en-US" sz="2000" b="1" dirty="0"/>
              <a:t>else</a:t>
            </a:r>
            <a:r>
              <a:rPr lang="en-US" sz="2000" dirty="0"/>
              <a:t>: The "catch-all." It runs if </a:t>
            </a:r>
            <a:r>
              <a:rPr lang="en-US" sz="2000" i="1" dirty="0"/>
              <a:t>none</a:t>
            </a:r>
            <a:r>
              <a:rPr lang="en-US" sz="2000" dirty="0"/>
              <a:t> of the previous conditions were met.</a:t>
            </a:r>
            <a:br>
              <a:rPr lang="en-US" sz="2000" dirty="0"/>
            </a:br>
            <a:endParaRPr lang="en-GB" sz="2000" dirty="0"/>
          </a:p>
        </p:txBody>
      </p:sp>
      <p:pic>
        <p:nvPicPr>
          <p:cNvPr id="5" name="Content Placeholder 4">
            <a:extLst>
              <a:ext uri="{FF2B5EF4-FFF2-40B4-BE49-F238E27FC236}">
                <a16:creationId xmlns:a16="http://schemas.microsoft.com/office/drawing/2014/main" id="{1A7BCC72-DECD-4B86-EF7E-52B6BDCFCA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5348" y="1690688"/>
            <a:ext cx="10515600" cy="5286582"/>
          </a:xfrm>
        </p:spPr>
      </p:pic>
    </p:spTree>
    <p:extLst>
      <p:ext uri="{BB962C8B-B14F-4D97-AF65-F5344CB8AC3E}">
        <p14:creationId xmlns:p14="http://schemas.microsoft.com/office/powerpoint/2010/main" val="317932664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E8BC-2470-A94D-B2C3-1FBD7E323336}"/>
              </a:ext>
            </a:extLst>
          </p:cNvPr>
          <p:cNvSpPr>
            <a:spLocks noGrp="1"/>
          </p:cNvSpPr>
          <p:nvPr>
            <p:ph type="title"/>
          </p:nvPr>
        </p:nvSpPr>
        <p:spPr>
          <a:xfrm>
            <a:off x="2875722" y="500062"/>
            <a:ext cx="10515600" cy="1325563"/>
          </a:xfrm>
        </p:spPr>
        <p:txBody>
          <a:bodyPr>
            <a:normAutofit fontScale="90000"/>
          </a:bodyPr>
          <a:lstStyle/>
          <a:p>
            <a:r>
              <a:rPr lang="en-US" b="1" u="sng" dirty="0"/>
              <a:t>PART C — LOOPS</a:t>
            </a:r>
            <a:br>
              <a:rPr lang="en-US" dirty="0"/>
            </a:br>
            <a:br>
              <a:rPr lang="en-US" dirty="0"/>
            </a:br>
            <a:r>
              <a:rPr lang="en-US" b="1" dirty="0">
                <a:solidFill>
                  <a:srgbClr val="C00000"/>
                </a:solidFill>
                <a:effectLst>
                  <a:outerShdw blurRad="38100" dist="38100" dir="2700000" algn="tl">
                    <a:srgbClr val="000000">
                      <a:alpha val="43137"/>
                    </a:srgbClr>
                  </a:outerShdw>
                </a:effectLst>
              </a:rPr>
              <a:t>Task 6 — For Loop and Range</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5FE505C9-D9EF-3111-B934-5F304904E9F7}"/>
              </a:ext>
            </a:extLst>
          </p:cNvPr>
          <p:cNvSpPr>
            <a:spLocks noGrp="1"/>
          </p:cNvSpPr>
          <p:nvPr>
            <p:ph idx="1"/>
          </p:nvPr>
        </p:nvSpPr>
        <p:spPr/>
        <p:txBody>
          <a:bodyPr/>
          <a:lstStyle/>
          <a:p>
            <a:pPr marL="0" indent="0" algn="ctr">
              <a:buNone/>
            </a:pPr>
            <a:endParaRPr lang="en-US" b="1" dirty="0">
              <a:effectLst>
                <a:outerShdw blurRad="38100" dist="38100" dir="2700000" algn="tl">
                  <a:srgbClr val="000000">
                    <a:alpha val="43137"/>
                  </a:srgbClr>
                </a:outerShdw>
              </a:effectLst>
            </a:endParaRPr>
          </a:p>
          <a:p>
            <a:pPr marL="0" indent="0" algn="ctr">
              <a:buNone/>
            </a:pPr>
            <a:endParaRPr lang="en-US" b="1" dirty="0">
              <a:effectLst>
                <a:outerShdw blurRad="38100" dist="38100" dir="2700000" algn="tl">
                  <a:srgbClr val="000000">
                    <a:alpha val="43137"/>
                  </a:srgbClr>
                </a:outerShdw>
              </a:effectLst>
            </a:endParaRPr>
          </a:p>
          <a:p>
            <a:pPr marL="0" indent="0" algn="ctr">
              <a:buNone/>
            </a:pPr>
            <a:r>
              <a:rPr lang="en-US" b="1" dirty="0">
                <a:effectLst>
                  <a:outerShdw blurRad="38100" dist="38100" dir="2700000" algn="tl">
                    <a:srgbClr val="000000">
                      <a:alpha val="43137"/>
                    </a:srgbClr>
                  </a:outerShdw>
                </a:effectLst>
              </a:rPr>
              <a:t>Assignment</a:t>
            </a:r>
          </a:p>
          <a:p>
            <a:pPr marL="0" indent="0" algn="ctr">
              <a:buNone/>
            </a:pPr>
            <a:endParaRPr lang="en-US" dirty="0"/>
          </a:p>
          <a:p>
            <a:pPr marL="0" indent="0" algn="ctr">
              <a:buNone/>
            </a:pPr>
            <a:r>
              <a:rPr lang="en-US" dirty="0"/>
              <a:t>Display numbers from 1 to 10 using a loop.</a:t>
            </a:r>
            <a:endParaRPr lang="en-GB" dirty="0"/>
          </a:p>
        </p:txBody>
      </p:sp>
    </p:spTree>
    <p:extLst>
      <p:ext uri="{BB962C8B-B14F-4D97-AF65-F5344CB8AC3E}">
        <p14:creationId xmlns:p14="http://schemas.microsoft.com/office/powerpoint/2010/main" val="91324735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625EF-E4A3-6138-1ECC-A8031BAF78A6}"/>
              </a:ext>
            </a:extLst>
          </p:cNvPr>
          <p:cNvSpPr>
            <a:spLocks noGrp="1"/>
          </p:cNvSpPr>
          <p:nvPr>
            <p:ph type="title"/>
          </p:nvPr>
        </p:nvSpPr>
        <p:spPr/>
        <p:txBody>
          <a:bodyPr>
            <a:normAutofit/>
          </a:bodyPr>
          <a:lstStyle/>
          <a:p>
            <a:r>
              <a:rPr lang="en-US" sz="1800" dirty="0"/>
              <a:t>A ‘for’ loop allows you to repeat a block of code multiple times without writing the same line over and over.</a:t>
            </a:r>
            <a:br>
              <a:rPr lang="en-US" sz="1800" dirty="0"/>
            </a:br>
            <a:r>
              <a:rPr lang="en-US" sz="1800" dirty="0"/>
              <a:t>In Python, the for loop is almost always paired with the range() function. This is where most students get tripped up, so pay close attention to the "stop" value!</a:t>
            </a:r>
            <a:br>
              <a:rPr lang="en-US" sz="1800" dirty="0"/>
            </a:br>
            <a:endParaRPr lang="en-GB" sz="1800" dirty="0"/>
          </a:p>
        </p:txBody>
      </p:sp>
      <p:pic>
        <p:nvPicPr>
          <p:cNvPr id="5" name="Content Placeholder 4">
            <a:extLst>
              <a:ext uri="{FF2B5EF4-FFF2-40B4-BE49-F238E27FC236}">
                <a16:creationId xmlns:a16="http://schemas.microsoft.com/office/drawing/2014/main" id="{C0A8CB92-93F7-8DB4-3532-60E59793E0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9052" y="2600764"/>
            <a:ext cx="10515600" cy="3670827"/>
          </a:xfrm>
        </p:spPr>
      </p:pic>
    </p:spTree>
    <p:extLst>
      <p:ext uri="{BB962C8B-B14F-4D97-AF65-F5344CB8AC3E}">
        <p14:creationId xmlns:p14="http://schemas.microsoft.com/office/powerpoint/2010/main" val="7359481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377AF-FA57-35D4-B856-7F079E5BA7A6}"/>
              </a:ext>
            </a:extLst>
          </p:cNvPr>
          <p:cNvSpPr>
            <a:spLocks noGrp="1"/>
          </p:cNvSpPr>
          <p:nvPr>
            <p:ph type="title"/>
          </p:nvPr>
        </p:nvSpPr>
        <p:spPr>
          <a:xfrm>
            <a:off x="1172816" y="365125"/>
            <a:ext cx="10180983" cy="430005"/>
          </a:xfrm>
        </p:spPr>
        <p:txBody>
          <a:bodyPr>
            <a:normAutofit fontScale="90000"/>
          </a:bodyPr>
          <a:lstStyle/>
          <a:p>
            <a:r>
              <a:rPr lang="en-US" b="1" dirty="0"/>
              <a:t>Understanding the "Range" Mystery</a:t>
            </a:r>
            <a:br>
              <a:rPr lang="en-US" b="1" dirty="0"/>
            </a:br>
            <a:endParaRPr lang="en-GB" dirty="0"/>
          </a:p>
        </p:txBody>
      </p:sp>
      <p:sp>
        <p:nvSpPr>
          <p:cNvPr id="3" name="Content Placeholder 2">
            <a:extLst>
              <a:ext uri="{FF2B5EF4-FFF2-40B4-BE49-F238E27FC236}">
                <a16:creationId xmlns:a16="http://schemas.microsoft.com/office/drawing/2014/main" id="{74262CAE-5880-87E6-CE6A-2D0E54EDAFEA}"/>
              </a:ext>
            </a:extLst>
          </p:cNvPr>
          <p:cNvSpPr>
            <a:spLocks noGrp="1"/>
          </p:cNvSpPr>
          <p:nvPr>
            <p:ph idx="1"/>
          </p:nvPr>
        </p:nvSpPr>
        <p:spPr/>
        <p:txBody>
          <a:bodyPr/>
          <a:lstStyle/>
          <a:p>
            <a:endParaRPr lang="en-US" b="1" dirty="0"/>
          </a:p>
          <a:p>
            <a:r>
              <a:rPr lang="en-US" b="1" dirty="0"/>
              <a:t>start (1):</a:t>
            </a:r>
            <a:r>
              <a:rPr lang="en-US" dirty="0"/>
              <a:t> This is where you begin.</a:t>
            </a:r>
          </a:p>
          <a:p>
            <a:r>
              <a:rPr lang="en-US" b="1" dirty="0"/>
              <a:t>stop (11):</a:t>
            </a:r>
            <a:r>
              <a:rPr lang="en-US" dirty="0"/>
              <a:t> This is where the loop </a:t>
            </a:r>
            <a:r>
              <a:rPr lang="en-US" b="1" dirty="0"/>
              <a:t>stops before</a:t>
            </a:r>
            <a:r>
              <a:rPr lang="en-US" dirty="0"/>
              <a:t> reaching the number</a:t>
            </a:r>
          </a:p>
          <a:p>
            <a:r>
              <a:rPr lang="en-US" dirty="0"/>
              <a:t>.</a:t>
            </a:r>
          </a:p>
          <a:p>
            <a:pPr lvl="1"/>
            <a:r>
              <a:rPr lang="en-US" dirty="0"/>
              <a:t>If you type range(1, 10), your output will stop at 9.</a:t>
            </a:r>
          </a:p>
          <a:p>
            <a:pPr lvl="1"/>
            <a:r>
              <a:rPr lang="en-US" dirty="0"/>
              <a:t>If you type range(1, 11), Python counts: 1, 2, 3, 4, 5, 6, 7, 8, 9, 10... and then it hits 11 and stops.</a:t>
            </a:r>
          </a:p>
          <a:p>
            <a:endParaRPr lang="en-GB" dirty="0"/>
          </a:p>
        </p:txBody>
      </p:sp>
    </p:spTree>
    <p:extLst>
      <p:ext uri="{BB962C8B-B14F-4D97-AF65-F5344CB8AC3E}">
        <p14:creationId xmlns:p14="http://schemas.microsoft.com/office/powerpoint/2010/main" val="8039599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134C2-B7D0-CACB-3DE1-4EFE5EB2F220}"/>
              </a:ext>
            </a:extLst>
          </p:cNvPr>
          <p:cNvSpPr>
            <a:spLocks noGrp="1"/>
          </p:cNvSpPr>
          <p:nvPr>
            <p:ph type="title"/>
          </p:nvPr>
        </p:nvSpPr>
        <p:spPr/>
        <p:txBody>
          <a:bodyPr/>
          <a:lstStyle/>
          <a:p>
            <a:pPr algn="ctr"/>
            <a:r>
              <a:rPr lang="en-US" b="1" dirty="0">
                <a:solidFill>
                  <a:srgbClr val="C00000"/>
                </a:solidFill>
                <a:effectLst>
                  <a:outerShdw blurRad="38100" dist="38100" dir="2700000" algn="tl">
                    <a:srgbClr val="000000">
                      <a:alpha val="43137"/>
                    </a:srgbClr>
                  </a:outerShdw>
                </a:effectLst>
              </a:rPr>
              <a:t>Task 7 — While Loop</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6022BC4F-FBC0-E054-8F8B-1BF5D3D7CDAF}"/>
              </a:ext>
            </a:extLst>
          </p:cNvPr>
          <p:cNvSpPr>
            <a:spLocks noGrp="1"/>
          </p:cNvSpPr>
          <p:nvPr>
            <p:ph idx="1"/>
          </p:nvPr>
        </p:nvSpPr>
        <p:spPr/>
        <p:txBody>
          <a:bodyPr/>
          <a:lstStyle/>
          <a:p>
            <a:pPr marL="0" indent="0" algn="ctr">
              <a:buNone/>
            </a:pPr>
            <a:r>
              <a:rPr lang="en-US" b="1"/>
              <a:t>while </a:t>
            </a:r>
            <a:r>
              <a:rPr lang="en-US" b="1" dirty="0"/>
              <a:t>loop</a:t>
            </a:r>
          </a:p>
          <a:p>
            <a:pPr marL="0" indent="0">
              <a:buNone/>
            </a:pPr>
            <a:endParaRPr lang="en-US" dirty="0"/>
          </a:p>
          <a:p>
            <a:pPr marL="0" indent="0" algn="ctr">
              <a:buNone/>
            </a:pPr>
            <a:r>
              <a:rPr lang="en-US" b="1" i="1" dirty="0">
                <a:effectLst>
                  <a:outerShdw blurRad="38100" dist="38100" dir="2700000" algn="tl">
                    <a:srgbClr val="000000">
                      <a:alpha val="43137"/>
                    </a:srgbClr>
                  </a:outerShdw>
                </a:effectLst>
              </a:rPr>
              <a:t>Assignment</a:t>
            </a:r>
          </a:p>
          <a:p>
            <a:pPr marL="0" indent="0" algn="ctr">
              <a:buNone/>
            </a:pPr>
            <a:endParaRPr lang="en-US" dirty="0"/>
          </a:p>
          <a:p>
            <a:pPr marL="0" indent="0" algn="ctr">
              <a:buNone/>
            </a:pPr>
            <a:r>
              <a:rPr lang="en-US" dirty="0"/>
              <a:t>Display numbers from 1 to 5 using a while loop.</a:t>
            </a:r>
            <a:endParaRPr lang="en-GB" dirty="0"/>
          </a:p>
        </p:txBody>
      </p:sp>
    </p:spTree>
    <p:extLst>
      <p:ext uri="{BB962C8B-B14F-4D97-AF65-F5344CB8AC3E}">
        <p14:creationId xmlns:p14="http://schemas.microsoft.com/office/powerpoint/2010/main" val="40332271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ED723-05CE-38D2-2967-25ED08C5209A}"/>
              </a:ext>
            </a:extLst>
          </p:cNvPr>
          <p:cNvSpPr>
            <a:spLocks noGrp="1"/>
          </p:cNvSpPr>
          <p:nvPr>
            <p:ph type="title"/>
          </p:nvPr>
        </p:nvSpPr>
        <p:spPr>
          <a:xfrm>
            <a:off x="695739" y="149087"/>
            <a:ext cx="11340548" cy="1848678"/>
          </a:xfrm>
        </p:spPr>
        <p:txBody>
          <a:bodyPr>
            <a:noAutofit/>
          </a:bodyPr>
          <a:lstStyle/>
          <a:p>
            <a:r>
              <a:rPr lang="en-US" sz="1600" dirty="0"/>
              <a:t>To ensure your while loop works perfectly every time, always check for these three specific parts:</a:t>
            </a:r>
            <a:br>
              <a:rPr lang="en-US" sz="1600" dirty="0"/>
            </a:br>
            <a:r>
              <a:rPr lang="en-US" sz="1600" b="1" dirty="0"/>
              <a:t>Initialization (count = 1):</a:t>
            </a:r>
            <a:r>
              <a:rPr lang="en-US" sz="1600" dirty="0"/>
              <a:t> You must define your starting point </a:t>
            </a:r>
            <a:r>
              <a:rPr lang="en-US" sz="1600" i="1" dirty="0"/>
              <a:t>before</a:t>
            </a:r>
            <a:r>
              <a:rPr lang="en-US" sz="1600" dirty="0"/>
              <a:t> the loop begins.</a:t>
            </a:r>
            <a:br>
              <a:rPr lang="en-US" sz="1600" dirty="0"/>
            </a:br>
            <a:r>
              <a:rPr lang="en-US" sz="1600" b="1" dirty="0"/>
              <a:t>The Condition (count &lt;= 5):</a:t>
            </a:r>
            <a:r>
              <a:rPr lang="en-US" sz="1600" dirty="0"/>
              <a:t> This acts as the gatekeeper. The loop checks this every time it loops back to the top. If the condition evaluates to False, the loop stops immediately.</a:t>
            </a:r>
            <a:br>
              <a:rPr lang="en-US" sz="1600" dirty="0"/>
            </a:br>
            <a:r>
              <a:rPr lang="en-US" sz="1600" b="1" dirty="0"/>
              <a:t>The Increment (count += 1):</a:t>
            </a:r>
            <a:r>
              <a:rPr lang="en-US" sz="1600" dirty="0"/>
              <a:t> You must provide a way for the condition to eventually become False. By adding 1 to count each time, we eventually hit 6, which makes the condition count &lt;= 5 False—and that is what cleanly breaks the loop.</a:t>
            </a:r>
            <a:br>
              <a:rPr lang="en-US" sz="1600" dirty="0"/>
            </a:br>
            <a:endParaRPr lang="en-GB" sz="1600" dirty="0"/>
          </a:p>
        </p:txBody>
      </p:sp>
      <p:pic>
        <p:nvPicPr>
          <p:cNvPr id="5" name="Content Placeholder 4">
            <a:extLst>
              <a:ext uri="{FF2B5EF4-FFF2-40B4-BE49-F238E27FC236}">
                <a16:creationId xmlns:a16="http://schemas.microsoft.com/office/drawing/2014/main" id="{8879284F-CE33-A02C-C5BF-959A550640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8113" y="2246243"/>
            <a:ext cx="11658600" cy="4462670"/>
          </a:xfrm>
        </p:spPr>
      </p:pic>
    </p:spTree>
    <p:extLst>
      <p:ext uri="{BB962C8B-B14F-4D97-AF65-F5344CB8AC3E}">
        <p14:creationId xmlns:p14="http://schemas.microsoft.com/office/powerpoint/2010/main" val="250842863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BE808-C124-9499-FBAC-943535A99DA3}"/>
              </a:ext>
            </a:extLst>
          </p:cNvPr>
          <p:cNvSpPr>
            <a:spLocks noGrp="1"/>
          </p:cNvSpPr>
          <p:nvPr>
            <p:ph type="title"/>
          </p:nvPr>
        </p:nvSpPr>
        <p:spPr/>
        <p:txBody>
          <a:bodyPr/>
          <a:lstStyle/>
          <a:p>
            <a:pPr algn="ctr"/>
            <a:r>
              <a:rPr lang="en-US" b="1" dirty="0">
                <a:solidFill>
                  <a:srgbClr val="C00000"/>
                </a:solidFill>
                <a:effectLst>
                  <a:outerShdw blurRad="38100" dist="38100" dir="2700000" algn="tl">
                    <a:srgbClr val="000000">
                      <a:alpha val="43137"/>
                    </a:srgbClr>
                  </a:outerShdw>
                </a:effectLst>
              </a:rPr>
              <a:t>Task 8 — Break Statement</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60D9507A-F3A1-6CCA-E3FC-58DF818D4F79}"/>
              </a:ext>
            </a:extLst>
          </p:cNvPr>
          <p:cNvSpPr>
            <a:spLocks noGrp="1"/>
          </p:cNvSpPr>
          <p:nvPr>
            <p:ph idx="1"/>
          </p:nvPr>
        </p:nvSpPr>
        <p:spPr/>
        <p:txBody>
          <a:bodyPr/>
          <a:lstStyle/>
          <a:p>
            <a:pPr algn="ctr"/>
            <a:r>
              <a:rPr lang="en-US" b="1" i="1" dirty="0">
                <a:effectLst>
                  <a:outerShdw blurRad="38100" dist="38100" dir="2700000" algn="tl">
                    <a:srgbClr val="000000">
                      <a:alpha val="43137"/>
                    </a:srgbClr>
                  </a:outerShdw>
                </a:effectLst>
              </a:rPr>
              <a:t>Assignment</a:t>
            </a:r>
          </a:p>
          <a:p>
            <a:pPr algn="ctr"/>
            <a:endParaRPr lang="en-US" dirty="0"/>
          </a:p>
          <a:p>
            <a:pPr algn="ctr"/>
            <a:r>
              <a:rPr lang="en-US" dirty="0"/>
              <a:t>Stop a loop when a specific condition is met.</a:t>
            </a:r>
            <a:endParaRPr lang="en-GB" dirty="0"/>
          </a:p>
        </p:txBody>
      </p:sp>
    </p:spTree>
    <p:extLst>
      <p:ext uri="{BB962C8B-B14F-4D97-AF65-F5344CB8AC3E}">
        <p14:creationId xmlns:p14="http://schemas.microsoft.com/office/powerpoint/2010/main" val="333287280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94C8C-D9E1-EFD6-B6B3-2D6E787CDE90}"/>
              </a:ext>
            </a:extLst>
          </p:cNvPr>
          <p:cNvSpPr>
            <a:spLocks noGrp="1"/>
          </p:cNvSpPr>
          <p:nvPr>
            <p:ph type="title"/>
          </p:nvPr>
        </p:nvSpPr>
        <p:spPr/>
        <p:txBody>
          <a:bodyPr>
            <a:noAutofit/>
          </a:bodyPr>
          <a:lstStyle/>
          <a:p>
            <a:r>
              <a:rPr lang="en-US" sz="1800" dirty="0"/>
              <a:t>The break statement is your "emergency exit" button for loops. When Python hits a break command, it immediately stops the loop, throws away any remaining iterations, and moves on to the next section of your code.</a:t>
            </a:r>
            <a:br>
              <a:rPr lang="en-US" sz="1800" dirty="0"/>
            </a:br>
            <a:r>
              <a:rPr lang="en-US" sz="1800" dirty="0"/>
              <a:t>Think of it as a circuit breaker—the moment a specific condition is met, the power is cut to the loop completely.</a:t>
            </a:r>
            <a:br>
              <a:rPr lang="en-US" sz="1800" dirty="0"/>
            </a:br>
            <a:endParaRPr lang="en-GB" sz="1800" dirty="0"/>
          </a:p>
        </p:txBody>
      </p:sp>
      <p:pic>
        <p:nvPicPr>
          <p:cNvPr id="5" name="Content Placeholder 4">
            <a:extLst>
              <a:ext uri="{FF2B5EF4-FFF2-40B4-BE49-F238E27FC236}">
                <a16:creationId xmlns:a16="http://schemas.microsoft.com/office/drawing/2014/main" id="{D619CE58-A60E-A1FF-A09A-325BCE9E99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5497" y="2034346"/>
            <a:ext cx="9805990" cy="4351338"/>
          </a:xfrm>
        </p:spPr>
      </p:pic>
    </p:spTree>
    <p:extLst>
      <p:ext uri="{BB962C8B-B14F-4D97-AF65-F5344CB8AC3E}">
        <p14:creationId xmlns:p14="http://schemas.microsoft.com/office/powerpoint/2010/main" val="337495315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DB66C-8D81-EA20-51CD-EE5C843F19C4}"/>
              </a:ext>
            </a:extLst>
          </p:cNvPr>
          <p:cNvSpPr>
            <a:spLocks noGrp="1"/>
          </p:cNvSpPr>
          <p:nvPr>
            <p:ph type="title"/>
          </p:nvPr>
        </p:nvSpPr>
        <p:spPr/>
        <p:txBody>
          <a:bodyPr/>
          <a:lstStyle/>
          <a:p>
            <a:pPr algn="ctr"/>
            <a:r>
              <a:rPr lang="en-GB" b="1" dirty="0">
                <a:solidFill>
                  <a:srgbClr val="C00000"/>
                </a:solidFill>
                <a:effectLst>
                  <a:outerShdw blurRad="38100" dist="38100" dir="2700000" algn="tl">
                    <a:srgbClr val="000000">
                      <a:alpha val="43137"/>
                    </a:srgbClr>
                  </a:outerShdw>
                </a:effectLst>
              </a:rPr>
              <a:t>Task 9 — Infinite Loop</a:t>
            </a:r>
          </a:p>
        </p:txBody>
      </p:sp>
      <p:sp>
        <p:nvSpPr>
          <p:cNvPr id="3" name="Content Placeholder 2">
            <a:extLst>
              <a:ext uri="{FF2B5EF4-FFF2-40B4-BE49-F238E27FC236}">
                <a16:creationId xmlns:a16="http://schemas.microsoft.com/office/drawing/2014/main" id="{6A7346DF-A3C9-E847-415E-0C2F369537FA}"/>
              </a:ext>
            </a:extLst>
          </p:cNvPr>
          <p:cNvSpPr>
            <a:spLocks noGrp="1"/>
          </p:cNvSpPr>
          <p:nvPr>
            <p:ph idx="1"/>
          </p:nvPr>
        </p:nvSpPr>
        <p:spPr/>
        <p:txBody>
          <a:bodyPr/>
          <a:lstStyle/>
          <a:p>
            <a:pPr algn="ctr"/>
            <a:r>
              <a:rPr lang="en-GB" b="1" i="1" dirty="0">
                <a:effectLst>
                  <a:outerShdw blurRad="38100" dist="38100" dir="2700000" algn="tl">
                    <a:srgbClr val="000000">
                      <a:alpha val="43137"/>
                    </a:srgbClr>
                  </a:outerShdw>
                </a:effectLst>
              </a:rPr>
              <a:t>Assignment</a:t>
            </a:r>
          </a:p>
          <a:p>
            <a:pPr algn="ctr"/>
            <a:endParaRPr lang="en-GB" dirty="0"/>
          </a:p>
          <a:p>
            <a:pPr algn="ctr"/>
            <a:r>
              <a:rPr lang="en-GB" dirty="0"/>
              <a:t>Create a simple infinite loop.</a:t>
            </a:r>
          </a:p>
        </p:txBody>
      </p:sp>
    </p:spTree>
    <p:extLst>
      <p:ext uri="{BB962C8B-B14F-4D97-AF65-F5344CB8AC3E}">
        <p14:creationId xmlns:p14="http://schemas.microsoft.com/office/powerpoint/2010/main" val="426361098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7D01-F82C-DDA4-1F37-620D65058B87}"/>
              </a:ext>
            </a:extLst>
          </p:cNvPr>
          <p:cNvSpPr>
            <a:spLocks noGrp="1"/>
          </p:cNvSpPr>
          <p:nvPr>
            <p:ph type="title"/>
          </p:nvPr>
        </p:nvSpPr>
        <p:spPr/>
        <p:txBody>
          <a:bodyPr>
            <a:normAutofit fontScale="90000"/>
          </a:bodyPr>
          <a:lstStyle/>
          <a:p>
            <a:r>
              <a:rPr lang="en-US" sz="2400" dirty="0"/>
              <a:t>An infinite loop occurs when the condition in a while statement </a:t>
            </a:r>
            <a:r>
              <a:rPr lang="en-US" sz="2400" i="1" dirty="0"/>
              <a:t>never</a:t>
            </a:r>
            <a:r>
              <a:rPr lang="en-US" sz="2400" dirty="0"/>
              <a:t> becomes false. It is the coding equivalent of a hamster on a wheel—it will keep running and running until the computer runs out of memory or you manually force it to stop.</a:t>
            </a:r>
            <a:br>
              <a:rPr lang="en-US" sz="2400" dirty="0"/>
            </a:br>
            <a:br>
              <a:rPr lang="en-US" sz="2400" dirty="0"/>
            </a:br>
            <a:r>
              <a:rPr lang="en-US" sz="2200" b="1" dirty="0"/>
              <a:t>To stop an infinite loop:</a:t>
            </a:r>
            <a:r>
              <a:rPr lang="en-US" sz="2200" dirty="0"/>
              <a:t> Press </a:t>
            </a:r>
            <a:r>
              <a:rPr lang="en-US" sz="2200" b="1" dirty="0"/>
              <a:t>Ctrl + C</a:t>
            </a:r>
            <a:r>
              <a:rPr lang="en-US" sz="2200" dirty="0"/>
              <a:t> on your keyboard. This sends a </a:t>
            </a:r>
            <a:r>
              <a:rPr lang="en-US" sz="2200" dirty="0" err="1"/>
              <a:t>KeyboardInterrupt</a:t>
            </a:r>
            <a:r>
              <a:rPr lang="en-US" sz="2200" dirty="0"/>
              <a:t> signal to Python, forcing it to kill the process immediately.</a:t>
            </a:r>
            <a:endParaRPr lang="en-GB" sz="2200" dirty="0"/>
          </a:p>
        </p:txBody>
      </p:sp>
      <p:pic>
        <p:nvPicPr>
          <p:cNvPr id="5" name="Content Placeholder 4">
            <a:extLst>
              <a:ext uri="{FF2B5EF4-FFF2-40B4-BE49-F238E27FC236}">
                <a16:creationId xmlns:a16="http://schemas.microsoft.com/office/drawing/2014/main" id="{A110E9F8-D989-D593-3C43-9EE4A08930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51845"/>
            <a:ext cx="10515600" cy="3298897"/>
          </a:xfrm>
        </p:spPr>
      </p:pic>
    </p:spTree>
    <p:extLst>
      <p:ext uri="{BB962C8B-B14F-4D97-AF65-F5344CB8AC3E}">
        <p14:creationId xmlns:p14="http://schemas.microsoft.com/office/powerpoint/2010/main" val="394393918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EF592-7BEE-F051-0A33-48921CD0186F}"/>
              </a:ext>
            </a:extLst>
          </p:cNvPr>
          <p:cNvSpPr>
            <a:spLocks noGrp="1"/>
          </p:cNvSpPr>
          <p:nvPr>
            <p:ph type="title"/>
          </p:nvPr>
        </p:nvSpPr>
        <p:spPr/>
        <p:txBody>
          <a:bodyPr>
            <a:normAutofit fontScale="90000"/>
          </a:bodyPr>
          <a:lstStyle/>
          <a:p>
            <a:pPr algn="ctr"/>
            <a:br>
              <a:rPr lang="en-US" sz="5300" b="1" u="sng" dirty="0">
                <a:solidFill>
                  <a:schemeClr val="tx2"/>
                </a:solidFill>
              </a:rPr>
            </a:br>
            <a:r>
              <a:rPr lang="en-US" sz="5300" b="1" u="sng" dirty="0">
                <a:solidFill>
                  <a:schemeClr val="tx2"/>
                </a:solidFill>
              </a:rPr>
              <a:t>PART D — FUNCTIONS</a:t>
            </a:r>
            <a:br>
              <a:rPr lang="en-US" dirty="0"/>
            </a:br>
            <a:br>
              <a:rPr lang="en-US" dirty="0"/>
            </a:br>
            <a:r>
              <a:rPr lang="en-US" b="1" dirty="0">
                <a:solidFill>
                  <a:srgbClr val="C00000"/>
                </a:solidFill>
                <a:effectLst>
                  <a:outerShdw blurRad="38100" dist="38100" dir="2700000" algn="tl">
                    <a:srgbClr val="000000">
                      <a:alpha val="43137"/>
                    </a:srgbClr>
                  </a:outerShdw>
                </a:effectLst>
              </a:rPr>
              <a:t>Task 10 — Functions</a:t>
            </a:r>
            <a:br>
              <a:rPr lang="en-US" dirty="0"/>
            </a:br>
            <a:endParaRPr lang="en-GB" dirty="0"/>
          </a:p>
        </p:txBody>
      </p:sp>
      <p:sp>
        <p:nvSpPr>
          <p:cNvPr id="3" name="Content Placeholder 2">
            <a:extLst>
              <a:ext uri="{FF2B5EF4-FFF2-40B4-BE49-F238E27FC236}">
                <a16:creationId xmlns:a16="http://schemas.microsoft.com/office/drawing/2014/main" id="{BA70B0C8-A756-9B10-8786-FD43C7531410}"/>
              </a:ext>
            </a:extLst>
          </p:cNvPr>
          <p:cNvSpPr>
            <a:spLocks noGrp="1"/>
          </p:cNvSpPr>
          <p:nvPr>
            <p:ph idx="1"/>
          </p:nvPr>
        </p:nvSpPr>
        <p:spPr/>
        <p:txBody>
          <a:bodyPr/>
          <a:lstStyle/>
          <a:p>
            <a:pPr algn="ctr"/>
            <a:endParaRPr lang="en-US" b="1" dirty="0">
              <a:effectLst>
                <a:outerShdw blurRad="38100" dist="38100" dir="2700000" algn="tl">
                  <a:srgbClr val="000000">
                    <a:alpha val="43137"/>
                  </a:srgbClr>
                </a:outerShdw>
              </a:effectLst>
            </a:endParaRPr>
          </a:p>
          <a:p>
            <a:pPr algn="ctr"/>
            <a:endParaRPr lang="en-US" b="1" dirty="0">
              <a:effectLst>
                <a:outerShdw blurRad="38100" dist="38100" dir="2700000" algn="tl">
                  <a:srgbClr val="000000">
                    <a:alpha val="43137"/>
                  </a:srgbClr>
                </a:outerShdw>
              </a:effectLst>
            </a:endParaRPr>
          </a:p>
          <a:p>
            <a:pPr algn="ctr"/>
            <a:r>
              <a:rPr lang="en-US" b="1" dirty="0">
                <a:effectLst>
                  <a:outerShdw blurRad="38100" dist="38100" dir="2700000" algn="tl">
                    <a:srgbClr val="000000">
                      <a:alpha val="43137"/>
                    </a:srgbClr>
                  </a:outerShdw>
                </a:effectLst>
              </a:rPr>
              <a:t>Assignment</a:t>
            </a:r>
          </a:p>
          <a:p>
            <a:pPr algn="ctr"/>
            <a:endParaRPr lang="en-US" dirty="0"/>
          </a:p>
          <a:p>
            <a:pPr algn="ctr"/>
            <a:r>
              <a:rPr lang="en-US" dirty="0"/>
              <a:t>Create a function that displays a welcome message.</a:t>
            </a:r>
            <a:endParaRPr lang="en-GB" dirty="0"/>
          </a:p>
        </p:txBody>
      </p:sp>
    </p:spTree>
    <p:extLst>
      <p:ext uri="{BB962C8B-B14F-4D97-AF65-F5344CB8AC3E}">
        <p14:creationId xmlns:p14="http://schemas.microsoft.com/office/powerpoint/2010/main" val="167925654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566C0-E0FA-FC01-BCD4-1DF17AD5BA2D}"/>
              </a:ext>
            </a:extLst>
          </p:cNvPr>
          <p:cNvSpPr>
            <a:spLocks noGrp="1"/>
          </p:cNvSpPr>
          <p:nvPr>
            <p:ph type="title"/>
          </p:nvPr>
        </p:nvSpPr>
        <p:spPr/>
        <p:txBody>
          <a:bodyPr>
            <a:normAutofit/>
          </a:bodyPr>
          <a:lstStyle/>
          <a:p>
            <a:r>
              <a:rPr lang="en-US" sz="1800" dirty="0"/>
              <a:t>Functions are the building blocks of professional programming. Instead of writing the same code over and over again, you wrap that code inside a "container" called a function. Whenever you need that code to run, you just call the function by its name.</a:t>
            </a:r>
            <a:endParaRPr lang="en-GB" sz="1800" dirty="0"/>
          </a:p>
        </p:txBody>
      </p:sp>
      <p:pic>
        <p:nvPicPr>
          <p:cNvPr id="5" name="Content Placeholder 4">
            <a:extLst>
              <a:ext uri="{FF2B5EF4-FFF2-40B4-BE49-F238E27FC236}">
                <a16:creationId xmlns:a16="http://schemas.microsoft.com/office/drawing/2014/main" id="{360C1847-76DC-9C2B-7FD0-BB3C88390C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9539" y="2074804"/>
            <a:ext cx="9092146" cy="2489880"/>
          </a:xfrm>
        </p:spPr>
      </p:pic>
    </p:spTree>
    <p:extLst>
      <p:ext uri="{BB962C8B-B14F-4D97-AF65-F5344CB8AC3E}">
        <p14:creationId xmlns:p14="http://schemas.microsoft.com/office/powerpoint/2010/main" val="167779010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451F3-953C-6C5F-A3B8-ACF823F4F66B}"/>
              </a:ext>
            </a:extLst>
          </p:cNvPr>
          <p:cNvSpPr>
            <a:spLocks noGrp="1"/>
          </p:cNvSpPr>
          <p:nvPr>
            <p:ph type="title"/>
          </p:nvPr>
        </p:nvSpPr>
        <p:spPr/>
        <p:txBody>
          <a:bodyPr/>
          <a:lstStyle/>
          <a:p>
            <a:r>
              <a:rPr lang="en-US" b="1" dirty="0">
                <a:solidFill>
                  <a:srgbClr val="C00000"/>
                </a:solidFill>
                <a:effectLst>
                  <a:outerShdw blurRad="38100" dist="38100" dir="2700000" algn="tl">
                    <a:srgbClr val="000000">
                      <a:alpha val="43137"/>
                    </a:srgbClr>
                  </a:outerShdw>
                </a:effectLst>
              </a:rPr>
              <a:t>Task 11 — Arguments and Return Statement</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BB4F6910-67D7-19B0-54D5-6954CF9589FD}"/>
              </a:ext>
            </a:extLst>
          </p:cNvPr>
          <p:cNvSpPr>
            <a:spLocks noGrp="1"/>
          </p:cNvSpPr>
          <p:nvPr>
            <p:ph idx="1"/>
          </p:nvPr>
        </p:nvSpPr>
        <p:spPr/>
        <p:txBody>
          <a:bodyPr/>
          <a:lstStyle/>
          <a:p>
            <a:pPr marL="0" indent="0" algn="ctr">
              <a:buNone/>
            </a:pPr>
            <a:r>
              <a:rPr lang="en-US" b="1" i="1" dirty="0"/>
              <a:t>Assignment</a:t>
            </a:r>
          </a:p>
          <a:p>
            <a:pPr marL="0" indent="0" algn="ctr">
              <a:buNone/>
            </a:pPr>
            <a:endParaRPr lang="en-US" dirty="0"/>
          </a:p>
          <a:p>
            <a:pPr marL="0" indent="0" algn="ctr">
              <a:buNone/>
            </a:pPr>
            <a:r>
              <a:rPr lang="en-US" dirty="0"/>
              <a:t>Create a function that accepts two numbers and returns the result.</a:t>
            </a:r>
            <a:endParaRPr lang="en-GB" dirty="0"/>
          </a:p>
        </p:txBody>
      </p:sp>
    </p:spTree>
    <p:extLst>
      <p:ext uri="{BB962C8B-B14F-4D97-AF65-F5344CB8AC3E}">
        <p14:creationId xmlns:p14="http://schemas.microsoft.com/office/powerpoint/2010/main" val="208436810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0F1C125-89B1-06F2-B3E8-CDA4794E369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69475" y="2542432"/>
            <a:ext cx="8783276" cy="4229690"/>
          </a:xfrm>
        </p:spPr>
      </p:pic>
      <p:sp>
        <p:nvSpPr>
          <p:cNvPr id="6" name="Rectangle 1">
            <a:extLst>
              <a:ext uri="{FF2B5EF4-FFF2-40B4-BE49-F238E27FC236}">
                <a16:creationId xmlns:a16="http://schemas.microsoft.com/office/drawing/2014/main" id="{E50A236B-A9E7-EC11-CEF4-45B82CC4CD52}"/>
              </a:ext>
            </a:extLst>
          </p:cNvPr>
          <p:cNvSpPr>
            <a:spLocks noGrp="1" noChangeArrowheads="1"/>
          </p:cNvSpPr>
          <p:nvPr>
            <p:ph type="title"/>
          </p:nvPr>
        </p:nvSpPr>
        <p:spPr bwMode="auto">
          <a:xfrm>
            <a:off x="636104" y="-125957"/>
            <a:ext cx="11211339"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Using a </a:t>
            </a:r>
            <a:r>
              <a:rPr kumimoji="0" lang="en-US" altLang="en-US" sz="1600" b="0" i="0" u="none" strike="noStrike" cap="none" normalizeH="0" baseline="0" dirty="0">
                <a:ln>
                  <a:noFill/>
                </a:ln>
                <a:solidFill>
                  <a:schemeClr val="tx1"/>
                </a:solidFill>
                <a:effectLst/>
                <a:latin typeface="Google Sans Text"/>
              </a:rPr>
              <a:t>return</a:t>
            </a:r>
            <a:r>
              <a:rPr kumimoji="0" lang="en-US" altLang="en-US" sz="1600" b="0" i="0" u="none" strike="noStrike" cap="none" normalizeH="0" baseline="0" dirty="0">
                <a:ln>
                  <a:noFill/>
                </a:ln>
                <a:solidFill>
                  <a:schemeClr val="tx1"/>
                </a:solidFill>
                <a:effectLst/>
              </a:rPr>
              <a:t> statement makes your function </a:t>
            </a:r>
            <a:r>
              <a:rPr kumimoji="0" lang="en-US" altLang="en-US" sz="1600" b="1" i="0" u="none" strike="noStrike" cap="none" normalizeH="0" baseline="0" dirty="0">
                <a:ln>
                  <a:noFill/>
                </a:ln>
                <a:solidFill>
                  <a:schemeClr val="tx1"/>
                </a:solidFill>
                <a:effectLst/>
                <a:latin typeface="Google Sans Text"/>
              </a:rPr>
              <a:t>useful</a:t>
            </a:r>
            <a:r>
              <a:rPr kumimoji="0" lang="en-US" altLang="en-US" sz="1600" b="0" i="0" u="none" strike="noStrike" cap="none" normalizeH="0" baseline="0" dirty="0">
                <a:ln>
                  <a:noFill/>
                </a:ln>
                <a:solidFill>
                  <a:schemeClr val="tx1"/>
                </a:solidFill>
                <a:effectLst/>
              </a:rPr>
              <a:t> because it allows the function to "hand back" a value that you can use later in your code.</a:t>
            </a:r>
            <a:br>
              <a:rPr kumimoji="0" lang="en-US" altLang="en-US" sz="1600" b="0" i="0" u="none" strike="noStrike" cap="none" normalizeH="0" baseline="0" dirty="0">
                <a:ln>
                  <a:noFill/>
                </a:ln>
                <a:solidFill>
                  <a:schemeClr val="tx1"/>
                </a:solidFill>
                <a:effectLst/>
              </a:rPr>
            </a:br>
            <a:br>
              <a:rPr kumimoji="0" lang="en-US" altLang="en-US" sz="1600" b="0" i="0" u="none" strike="noStrike" cap="none" normalizeH="0" baseline="0" dirty="0">
                <a:ln>
                  <a:noFill/>
                </a:ln>
                <a:solidFill>
                  <a:schemeClr val="tx1"/>
                </a:solidFill>
                <a:effectLst/>
              </a:rPr>
            </a:br>
            <a:r>
              <a:rPr lang="en-US" sz="1800" b="1" dirty="0"/>
              <a:t>The Big Difference: print vs. return</a:t>
            </a:r>
            <a:br>
              <a:rPr lang="en-US" sz="1800" b="1" dirty="0"/>
            </a:br>
            <a:br>
              <a:rPr lang="en-US" sz="1800" dirty="0"/>
            </a:br>
            <a:r>
              <a:rPr lang="en-US" sz="1800" b="1" dirty="0"/>
              <a:t>print()</a:t>
            </a:r>
            <a:r>
              <a:rPr lang="en-US" sz="1800" dirty="0"/>
              <a:t> is just for humans. It puts text on the screen so you (the user) can see what's happening. The program itself cannot "capture" the data printed to the screen.</a:t>
            </a:r>
            <a:br>
              <a:rPr lang="en-US" sz="1800" dirty="0"/>
            </a:br>
            <a:r>
              <a:rPr lang="en-US" sz="1800" b="1" dirty="0"/>
              <a:t>return</a:t>
            </a:r>
            <a:r>
              <a:rPr lang="en-US" sz="1800" dirty="0"/>
              <a:t> is for the computer. It takes the output of the function and makes it available to be used in calculations, stored in variables, or passed into other functions.</a:t>
            </a:r>
            <a:br>
              <a:rPr lang="en-US" sz="1800" dirty="0"/>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5794203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B17DE-E19A-1BC0-E456-7AA98278251E}"/>
              </a:ext>
            </a:extLst>
          </p:cNvPr>
          <p:cNvSpPr>
            <a:spLocks noGrp="1"/>
          </p:cNvSpPr>
          <p:nvPr>
            <p:ph type="title"/>
          </p:nvPr>
        </p:nvSpPr>
        <p:spPr>
          <a:xfrm>
            <a:off x="2196548" y="248479"/>
            <a:ext cx="9157252" cy="1442210"/>
          </a:xfrm>
        </p:spPr>
        <p:txBody>
          <a:bodyPr>
            <a:normAutofit fontScale="90000"/>
          </a:bodyPr>
          <a:lstStyle/>
          <a:p>
            <a:r>
              <a:rPr lang="en-US" b="1" i="1" u="sng" dirty="0">
                <a:solidFill>
                  <a:schemeClr val="accent1"/>
                </a:solidFill>
                <a:effectLst>
                  <a:outerShdw blurRad="38100" dist="38100" dir="2700000" algn="tl">
                    <a:srgbClr val="000000">
                      <a:alpha val="43137"/>
                    </a:srgbClr>
                  </a:outerShdw>
                </a:effectLst>
              </a:rPr>
              <a:t>PART E — REGULAR EXPRESSIONS</a:t>
            </a:r>
            <a:br>
              <a:rPr lang="en-US" dirty="0"/>
            </a:br>
            <a:br>
              <a:rPr lang="en-US" dirty="0"/>
            </a:br>
            <a:r>
              <a:rPr lang="en-US" dirty="0"/>
              <a:t> </a:t>
            </a:r>
            <a:r>
              <a:rPr lang="en-US" sz="4000" b="1" dirty="0">
                <a:solidFill>
                  <a:srgbClr val="C00000"/>
                </a:solidFill>
                <a:effectLst>
                  <a:outerShdw blurRad="38100" dist="38100" dir="2700000" algn="tl">
                    <a:srgbClr val="000000">
                      <a:alpha val="43137"/>
                    </a:srgbClr>
                  </a:outerShdw>
                </a:effectLst>
              </a:rPr>
              <a:t>Task 12 — Regular Expression Search</a:t>
            </a:r>
            <a:endParaRPr lang="en-GB" sz="4000"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09B7B1A4-AEEF-BC34-1740-9BAB93CAB61D}"/>
              </a:ext>
            </a:extLst>
          </p:cNvPr>
          <p:cNvSpPr>
            <a:spLocks noGrp="1"/>
          </p:cNvSpPr>
          <p:nvPr>
            <p:ph idx="1"/>
          </p:nvPr>
        </p:nvSpPr>
        <p:spPr/>
        <p:txBody>
          <a:bodyPr/>
          <a:lstStyle/>
          <a:p>
            <a:pPr marL="0" indent="0" algn="ctr">
              <a:buNone/>
            </a:pPr>
            <a:endParaRPr lang="en-US" b="1" i="1" dirty="0">
              <a:effectLst>
                <a:outerShdw blurRad="38100" dist="38100" dir="2700000" algn="tl">
                  <a:srgbClr val="000000">
                    <a:alpha val="43137"/>
                  </a:srgbClr>
                </a:outerShdw>
              </a:effectLst>
            </a:endParaRPr>
          </a:p>
          <a:p>
            <a:pPr marL="0" indent="0" algn="ctr">
              <a:buNone/>
            </a:pPr>
            <a:r>
              <a:rPr lang="en-US" b="1" i="1" dirty="0">
                <a:effectLst>
                  <a:outerShdw blurRad="38100" dist="38100" dir="2700000" algn="tl">
                    <a:srgbClr val="000000">
                      <a:alpha val="43137"/>
                    </a:srgbClr>
                  </a:outerShdw>
                </a:effectLst>
              </a:rPr>
              <a:t>Assignment</a:t>
            </a:r>
          </a:p>
          <a:p>
            <a:pPr marL="0" indent="0" algn="ctr">
              <a:buNone/>
            </a:pPr>
            <a:endParaRPr lang="en-US" dirty="0"/>
          </a:p>
          <a:p>
            <a:pPr marL="0" indent="0" algn="ctr">
              <a:buNone/>
            </a:pPr>
            <a:r>
              <a:rPr lang="en-US" dirty="0"/>
              <a:t>Search for a word inside a sentence using regular expressions.</a:t>
            </a:r>
            <a:endParaRPr lang="en-GB" dirty="0"/>
          </a:p>
        </p:txBody>
      </p:sp>
    </p:spTree>
    <p:extLst>
      <p:ext uri="{BB962C8B-B14F-4D97-AF65-F5344CB8AC3E}">
        <p14:creationId xmlns:p14="http://schemas.microsoft.com/office/powerpoint/2010/main" val="344803605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19EA9-FB19-E0F1-EFCD-DDBCEAE6B884}"/>
              </a:ext>
            </a:extLst>
          </p:cNvPr>
          <p:cNvSpPr>
            <a:spLocks noGrp="1"/>
          </p:cNvSpPr>
          <p:nvPr>
            <p:ph type="title"/>
          </p:nvPr>
        </p:nvSpPr>
        <p:spPr>
          <a:xfrm>
            <a:off x="838200" y="318053"/>
            <a:ext cx="10515600" cy="1331843"/>
          </a:xfrm>
        </p:spPr>
        <p:txBody>
          <a:bodyPr>
            <a:normAutofit/>
          </a:bodyPr>
          <a:lstStyle/>
          <a:p>
            <a:r>
              <a:rPr lang="en-US" sz="2000" dirty="0"/>
              <a:t>To search for a word, we use </a:t>
            </a:r>
            <a:r>
              <a:rPr lang="en-US" sz="2000" dirty="0" err="1"/>
              <a:t>re.search</a:t>
            </a:r>
            <a:r>
              <a:rPr lang="en-US" sz="2000" dirty="0"/>
              <a:t>(). This function scans through the string and returns a </a:t>
            </a:r>
            <a:r>
              <a:rPr lang="en-US" sz="2000" b="1" dirty="0"/>
              <a:t>match object</a:t>
            </a:r>
            <a:r>
              <a:rPr lang="en-US" sz="2000" dirty="0"/>
              <a:t> if the pattern is found, or None if it isn't.</a:t>
            </a:r>
            <a:endParaRPr lang="en-GB" sz="2000" dirty="0"/>
          </a:p>
        </p:txBody>
      </p:sp>
      <p:pic>
        <p:nvPicPr>
          <p:cNvPr id="5" name="Content Placeholder 4">
            <a:extLst>
              <a:ext uri="{FF2B5EF4-FFF2-40B4-BE49-F238E27FC236}">
                <a16:creationId xmlns:a16="http://schemas.microsoft.com/office/drawing/2014/main" id="{F7EC1774-6EAC-D8B9-9ED8-D4DA45DBA9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6655" y="1649413"/>
            <a:ext cx="9338666" cy="4751387"/>
          </a:xfrm>
        </p:spPr>
      </p:pic>
    </p:spTree>
    <p:extLst>
      <p:ext uri="{BB962C8B-B14F-4D97-AF65-F5344CB8AC3E}">
        <p14:creationId xmlns:p14="http://schemas.microsoft.com/office/powerpoint/2010/main" val="373765605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3638B-F4B1-416C-55A6-657DAC96259C}"/>
              </a:ext>
            </a:extLst>
          </p:cNvPr>
          <p:cNvSpPr>
            <a:spLocks noGrp="1"/>
          </p:cNvSpPr>
          <p:nvPr>
            <p:ph type="title"/>
          </p:nvPr>
        </p:nvSpPr>
        <p:spPr/>
        <p:txBody>
          <a:bodyPr/>
          <a:lstStyle/>
          <a:p>
            <a:r>
              <a:rPr lang="en-US" b="1" dirty="0"/>
              <a:t>Why it equals 82:</a:t>
            </a:r>
            <a:br>
              <a:rPr lang="en-US" b="1" dirty="0"/>
            </a:br>
            <a:endParaRPr lang="en-GB" dirty="0"/>
          </a:p>
        </p:txBody>
      </p:sp>
      <p:sp>
        <p:nvSpPr>
          <p:cNvPr id="3" name="Content Placeholder 2">
            <a:extLst>
              <a:ext uri="{FF2B5EF4-FFF2-40B4-BE49-F238E27FC236}">
                <a16:creationId xmlns:a16="http://schemas.microsoft.com/office/drawing/2014/main" id="{D0DE6428-D79A-C966-0494-D95E7EB96685}"/>
              </a:ext>
            </a:extLst>
          </p:cNvPr>
          <p:cNvSpPr>
            <a:spLocks noGrp="1"/>
          </p:cNvSpPr>
          <p:nvPr>
            <p:ph idx="1"/>
          </p:nvPr>
        </p:nvSpPr>
        <p:spPr/>
        <p:txBody>
          <a:bodyPr/>
          <a:lstStyle/>
          <a:p>
            <a:r>
              <a:rPr lang="en-US" dirty="0"/>
              <a:t>The letter </a:t>
            </a:r>
            <a:r>
              <a:rPr lang="en-US" b="1" dirty="0"/>
              <a:t>'I'</a:t>
            </a:r>
            <a:r>
              <a:rPr lang="en-US" dirty="0"/>
              <a:t> is at position </a:t>
            </a:r>
            <a:r>
              <a:rPr lang="en-US" b="1" dirty="0"/>
              <a:t>0</a:t>
            </a:r>
            <a:r>
              <a:rPr lang="en-US" dirty="0"/>
              <a:t>.</a:t>
            </a:r>
          </a:p>
          <a:p>
            <a:r>
              <a:rPr lang="en-US" dirty="0"/>
              <a:t>The first space is position </a:t>
            </a:r>
            <a:r>
              <a:rPr lang="en-US" b="1" dirty="0"/>
              <a:t>1</a:t>
            </a:r>
            <a:r>
              <a:rPr lang="en-US" dirty="0"/>
              <a:t>.</a:t>
            </a:r>
          </a:p>
          <a:p>
            <a:r>
              <a:rPr lang="en-US" dirty="0"/>
              <a:t>The letter </a:t>
            </a:r>
            <a:r>
              <a:rPr lang="en-US" b="1" dirty="0"/>
              <a:t>'a'</a:t>
            </a:r>
            <a:r>
              <a:rPr lang="en-US" dirty="0"/>
              <a:t> is at position </a:t>
            </a:r>
            <a:r>
              <a:rPr lang="en-US" b="1" dirty="0"/>
              <a:t>2</a:t>
            </a:r>
            <a:r>
              <a:rPr lang="en-US" dirty="0"/>
              <a:t>.</a:t>
            </a:r>
          </a:p>
          <a:p>
            <a:r>
              <a:rPr lang="en-US" dirty="0"/>
              <a:t>...and if you keep counting, including every space and punctuation mark as a character, you will land on the </a:t>
            </a:r>
            <a:r>
              <a:rPr lang="en-US" b="1" dirty="0"/>
              <a:t>‘B'</a:t>
            </a:r>
            <a:r>
              <a:rPr lang="en-US" dirty="0"/>
              <a:t> of “Big-</a:t>
            </a:r>
            <a:r>
              <a:rPr lang="en-US" dirty="0" err="1"/>
              <a:t>wosh</a:t>
            </a:r>
            <a:r>
              <a:rPr lang="en-US" dirty="0"/>
              <a:t>" at index 8</a:t>
            </a:r>
            <a:r>
              <a:rPr lang="en-US" b="1" dirty="0"/>
              <a:t>2</a:t>
            </a:r>
            <a:r>
              <a:rPr lang="en-US" dirty="0"/>
              <a:t>.</a:t>
            </a:r>
          </a:p>
          <a:p>
            <a:endParaRPr lang="en-GB" dirty="0"/>
          </a:p>
        </p:txBody>
      </p:sp>
    </p:spTree>
    <p:extLst>
      <p:ext uri="{BB962C8B-B14F-4D97-AF65-F5344CB8AC3E}">
        <p14:creationId xmlns:p14="http://schemas.microsoft.com/office/powerpoint/2010/main" val="32722518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F75F2-40E4-30E0-5B5E-1E614D169B87}"/>
              </a:ext>
            </a:extLst>
          </p:cNvPr>
          <p:cNvSpPr>
            <a:spLocks noGrp="1"/>
          </p:cNvSpPr>
          <p:nvPr>
            <p:ph type="title"/>
          </p:nvPr>
        </p:nvSpPr>
        <p:spPr/>
        <p:txBody>
          <a:bodyPr/>
          <a:lstStyle/>
          <a:p>
            <a:pPr algn="ctr"/>
            <a:r>
              <a:rPr lang="en-US" b="1" dirty="0">
                <a:solidFill>
                  <a:srgbClr val="C00000"/>
                </a:solidFill>
                <a:effectLst>
                  <a:outerShdw blurRad="38100" dist="38100" dir="2700000" algn="tl">
                    <a:srgbClr val="000000">
                      <a:alpha val="43137"/>
                    </a:srgbClr>
                  </a:outerShdw>
                </a:effectLst>
              </a:rPr>
              <a:t>Task 14 — Character Type Symbols</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D9B51856-23A9-728A-03BE-D53671981762}"/>
              </a:ext>
            </a:extLst>
          </p:cNvPr>
          <p:cNvSpPr>
            <a:spLocks noGrp="1"/>
          </p:cNvSpPr>
          <p:nvPr>
            <p:ph idx="1"/>
          </p:nvPr>
        </p:nvSpPr>
        <p:spPr/>
        <p:txBody>
          <a:bodyPr/>
          <a:lstStyle/>
          <a:p>
            <a:pPr marL="0" indent="0" algn="ctr">
              <a:buNone/>
            </a:pPr>
            <a:r>
              <a:rPr lang="en-US" dirty="0"/>
              <a:t> </a:t>
            </a:r>
            <a:r>
              <a:rPr lang="en-US" b="1" i="1" dirty="0">
                <a:effectLst>
                  <a:outerShdw blurRad="38100" dist="38100" dir="2700000" algn="tl">
                    <a:srgbClr val="000000">
                      <a:alpha val="43137"/>
                    </a:srgbClr>
                  </a:outerShdw>
                </a:effectLst>
              </a:rPr>
              <a:t>Assignment</a:t>
            </a:r>
          </a:p>
          <a:p>
            <a:pPr marL="0" indent="0" algn="ctr">
              <a:buNone/>
            </a:pPr>
            <a:endParaRPr lang="en-US" dirty="0"/>
          </a:p>
          <a:p>
            <a:pPr marL="514350" indent="-514350" algn="ctr">
              <a:buAutoNum type="arabicPeriod"/>
            </a:pPr>
            <a:r>
              <a:rPr lang="en-US" dirty="0"/>
              <a:t>Find all digits inside a sentence.</a:t>
            </a:r>
          </a:p>
          <a:p>
            <a:pPr marL="0" indent="0" algn="ctr">
              <a:buNone/>
            </a:pPr>
            <a:r>
              <a:rPr lang="en-US" dirty="0"/>
              <a:t>2. Find all words inside a sentence.</a:t>
            </a:r>
            <a:endParaRPr lang="en-GB" dirty="0"/>
          </a:p>
        </p:txBody>
      </p:sp>
    </p:spTree>
    <p:extLst>
      <p:ext uri="{BB962C8B-B14F-4D97-AF65-F5344CB8AC3E}">
        <p14:creationId xmlns:p14="http://schemas.microsoft.com/office/powerpoint/2010/main" val="153402506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38F9-4BCF-680C-44FC-B3CE19C960AE}"/>
              </a:ext>
            </a:extLst>
          </p:cNvPr>
          <p:cNvSpPr>
            <a:spLocks noGrp="1"/>
          </p:cNvSpPr>
          <p:nvPr>
            <p:ph type="title"/>
          </p:nvPr>
        </p:nvSpPr>
        <p:spPr/>
        <p:txBody>
          <a:bodyPr>
            <a:noAutofit/>
          </a:bodyPr>
          <a:lstStyle/>
          <a:p>
            <a:r>
              <a:rPr lang="en-US" sz="2400" dirty="0"/>
              <a:t>To find </a:t>
            </a:r>
            <a:r>
              <a:rPr lang="en-US" sz="2400" b="1" dirty="0"/>
              <a:t>all</a:t>
            </a:r>
            <a:r>
              <a:rPr lang="en-US" sz="2400" dirty="0"/>
              <a:t> occurrences of a pattern, we move from </a:t>
            </a:r>
            <a:r>
              <a:rPr lang="en-US" sz="2400" dirty="0" err="1"/>
              <a:t>re.search</a:t>
            </a:r>
            <a:r>
              <a:rPr lang="en-US" sz="2400" dirty="0"/>
              <a:t>() to </a:t>
            </a:r>
            <a:r>
              <a:rPr lang="en-US" sz="2400" dirty="0" err="1"/>
              <a:t>re.findall</a:t>
            </a:r>
            <a:r>
              <a:rPr lang="en-US" sz="2400" dirty="0"/>
              <a:t>(). This function scans the entire string and returns a list containing every match it finds.</a:t>
            </a:r>
            <a:br>
              <a:rPr lang="en-US" sz="2400" dirty="0"/>
            </a:br>
            <a:r>
              <a:rPr lang="en-US" sz="2400" dirty="0"/>
              <a:t>To perform these tasks, we need to introduce </a:t>
            </a:r>
            <a:r>
              <a:rPr lang="en-US" sz="2400" b="1" dirty="0"/>
              <a:t>Regex Metacharacters</a:t>
            </a:r>
            <a:r>
              <a:rPr lang="en-US" sz="2400" dirty="0"/>
              <a:t>—special symbols that represent types of characters rather than literal text.</a:t>
            </a:r>
            <a:br>
              <a:rPr lang="en-US" sz="2400" dirty="0"/>
            </a:br>
            <a:endParaRPr lang="en-GB" sz="2400" dirty="0"/>
          </a:p>
        </p:txBody>
      </p:sp>
      <p:pic>
        <p:nvPicPr>
          <p:cNvPr id="5" name="Content Placeholder 4">
            <a:extLst>
              <a:ext uri="{FF2B5EF4-FFF2-40B4-BE49-F238E27FC236}">
                <a16:creationId xmlns:a16="http://schemas.microsoft.com/office/drawing/2014/main" id="{E1761D23-DCF7-726B-3F20-1B5F22028F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2106" y="1825625"/>
            <a:ext cx="9947787" cy="4351338"/>
          </a:xfrm>
        </p:spPr>
      </p:pic>
    </p:spTree>
    <p:extLst>
      <p:ext uri="{BB962C8B-B14F-4D97-AF65-F5344CB8AC3E}">
        <p14:creationId xmlns:p14="http://schemas.microsoft.com/office/powerpoint/2010/main" val="30369172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FF735-7B28-C690-ACD6-015414FED674}"/>
              </a:ext>
            </a:extLst>
          </p:cNvPr>
          <p:cNvSpPr>
            <a:spLocks noGrp="1"/>
          </p:cNvSpPr>
          <p:nvPr>
            <p:ph type="title"/>
          </p:nvPr>
        </p:nvSpPr>
        <p:spPr/>
        <p:txBody>
          <a:bodyPr/>
          <a:lstStyle/>
          <a:p>
            <a:r>
              <a:rPr lang="en-US" b="1" dirty="0"/>
              <a:t>Breaking Down the Symbols</a:t>
            </a:r>
            <a:br>
              <a:rPr lang="en-US" b="1" dirty="0"/>
            </a:br>
            <a:endParaRPr lang="en-GB" dirty="0"/>
          </a:p>
        </p:txBody>
      </p:sp>
      <p:sp>
        <p:nvSpPr>
          <p:cNvPr id="3" name="Content Placeholder 2">
            <a:extLst>
              <a:ext uri="{FF2B5EF4-FFF2-40B4-BE49-F238E27FC236}">
                <a16:creationId xmlns:a16="http://schemas.microsoft.com/office/drawing/2014/main" id="{773037D7-E973-4570-7C08-38FD2CB53E7C}"/>
              </a:ext>
            </a:extLst>
          </p:cNvPr>
          <p:cNvSpPr>
            <a:spLocks noGrp="1"/>
          </p:cNvSpPr>
          <p:nvPr>
            <p:ph idx="1"/>
          </p:nvPr>
        </p:nvSpPr>
        <p:spPr/>
        <p:txBody>
          <a:bodyPr>
            <a:normAutofit fontScale="77500" lnSpcReduction="20000"/>
          </a:bodyPr>
          <a:lstStyle/>
          <a:p>
            <a:pPr marL="0" indent="0">
              <a:buNone/>
            </a:pPr>
            <a:r>
              <a:rPr lang="en-US" dirty="0"/>
              <a:t>The r before the quote (e.g., r'\d+') stands for "raw string." It tells Python to treat backslashes as literal characters, which is standard practice in Regex to avoid confusion.</a:t>
            </a:r>
          </a:p>
          <a:p>
            <a:pPr marL="0" indent="0">
              <a:buNone/>
            </a:pPr>
            <a:endParaRPr lang="en-US" dirty="0"/>
          </a:p>
          <a:p>
            <a:pPr marL="0" indent="0">
              <a:buNone/>
            </a:pPr>
            <a:r>
              <a:rPr lang="en-US" b="1" dirty="0"/>
              <a:t>\d (Digit):</a:t>
            </a:r>
            <a:r>
              <a:rPr lang="en-US" dirty="0"/>
              <a:t> Matches any single number from 0 to 9.</a:t>
            </a:r>
          </a:p>
          <a:p>
            <a:pPr marL="0" indent="0">
              <a:buNone/>
            </a:pPr>
            <a:endParaRPr lang="en-US" dirty="0"/>
          </a:p>
          <a:p>
            <a:pPr marL="0" indent="0">
              <a:buNone/>
            </a:pPr>
            <a:r>
              <a:rPr lang="en-US" b="1" dirty="0"/>
              <a:t>\w (Word character):</a:t>
            </a:r>
            <a:r>
              <a:rPr lang="en-US" dirty="0"/>
              <a:t> Matches any letter (a-z, A-Z), any digit (0-9), or the</a:t>
            </a:r>
          </a:p>
          <a:p>
            <a:pPr marL="0" indent="0">
              <a:buNone/>
            </a:pPr>
            <a:r>
              <a:rPr lang="en-US" dirty="0"/>
              <a:t> underscore (_).</a:t>
            </a:r>
          </a:p>
          <a:p>
            <a:pPr marL="0" indent="0">
              <a:buNone/>
            </a:pPr>
            <a:endParaRPr lang="en-US" dirty="0"/>
          </a:p>
          <a:p>
            <a:pPr marL="0" indent="0">
              <a:buNone/>
            </a:pPr>
            <a:r>
              <a:rPr lang="en-US" b="1" dirty="0"/>
              <a:t>+ (Quantifier):</a:t>
            </a:r>
            <a:r>
              <a:rPr lang="en-US" dirty="0"/>
              <a:t> This is the "greedy" part.</a:t>
            </a:r>
          </a:p>
          <a:p>
            <a:pPr marL="457200" lvl="1" indent="0">
              <a:buNone/>
            </a:pPr>
            <a:r>
              <a:rPr lang="en-US" dirty="0"/>
              <a:t>If you searched for \d without the +, Python would return ['2', '0', '2', '6', '1', '2'...] (every single digit separately).</a:t>
            </a:r>
          </a:p>
          <a:p>
            <a:pPr marL="457200" lvl="1" indent="0">
              <a:buNone/>
            </a:pPr>
            <a:endParaRPr lang="en-US" dirty="0"/>
          </a:p>
          <a:p>
            <a:pPr marL="457200" lvl="1" indent="0">
              <a:buNone/>
            </a:pPr>
            <a:r>
              <a:rPr lang="en-US" dirty="0"/>
              <a:t>With the +, Python grabs </a:t>
            </a:r>
            <a:r>
              <a:rPr lang="en-US" b="1" dirty="0"/>
              <a:t>all consecutive</a:t>
            </a:r>
            <a:r>
              <a:rPr lang="en-US" dirty="0"/>
              <a:t> characters that fit the criteria. So, it grabs "2026" as a single block instead of four separate numbers.</a:t>
            </a:r>
          </a:p>
          <a:p>
            <a:endParaRPr lang="en-GB" dirty="0"/>
          </a:p>
        </p:txBody>
      </p:sp>
    </p:spTree>
    <p:extLst>
      <p:ext uri="{BB962C8B-B14F-4D97-AF65-F5344CB8AC3E}">
        <p14:creationId xmlns:p14="http://schemas.microsoft.com/office/powerpoint/2010/main" val="34564061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DCF9-01AC-4A81-1FB7-25F78B4CABB9}"/>
              </a:ext>
            </a:extLst>
          </p:cNvPr>
          <p:cNvSpPr>
            <a:spLocks noGrp="1"/>
          </p:cNvSpPr>
          <p:nvPr>
            <p:ph type="title"/>
          </p:nvPr>
        </p:nvSpPr>
        <p:spPr/>
        <p:txBody>
          <a:bodyPr/>
          <a:lstStyle/>
          <a:p>
            <a:r>
              <a:rPr lang="en-US" dirty="0"/>
              <a:t>NB:</a:t>
            </a:r>
            <a:endParaRPr lang="en-GB" dirty="0"/>
          </a:p>
        </p:txBody>
      </p:sp>
      <p:sp>
        <p:nvSpPr>
          <p:cNvPr id="4" name="Rectangle 1">
            <a:extLst>
              <a:ext uri="{FF2B5EF4-FFF2-40B4-BE49-F238E27FC236}">
                <a16:creationId xmlns:a16="http://schemas.microsoft.com/office/drawing/2014/main" id="{EE012199-6E2A-F4A7-CE5A-618378AED11F}"/>
              </a:ext>
            </a:extLst>
          </p:cNvPr>
          <p:cNvSpPr>
            <a:spLocks noGrp="1" noChangeArrowheads="1"/>
          </p:cNvSpPr>
          <p:nvPr>
            <p:ph idx="1"/>
          </p:nvPr>
        </p:nvSpPr>
        <p:spPr bwMode="auto">
          <a:xfrm>
            <a:off x="1101135" y="1859644"/>
            <a:ext cx="791588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Unicode MS"/>
              </a:rPr>
              <a:t>[a-</a:t>
            </a:r>
            <a:r>
              <a:rPr kumimoji="0" lang="en-US" altLang="en-US" sz="2000" b="1" i="0" u="none" strike="noStrike" cap="none" normalizeH="0" baseline="0" dirty="0" err="1">
                <a:ln>
                  <a:noFill/>
                </a:ln>
                <a:solidFill>
                  <a:schemeClr val="tx1"/>
                </a:solidFill>
                <a:effectLst/>
                <a:latin typeface="Arial Unicode MS"/>
              </a:rPr>
              <a:t>zA</a:t>
            </a:r>
            <a:r>
              <a:rPr kumimoji="0" lang="en-US" altLang="en-US" sz="2000" b="1" i="0" u="none" strike="noStrike" cap="none" normalizeH="0" baseline="0" dirty="0">
                <a:ln>
                  <a:noFill/>
                </a:ln>
                <a:solidFill>
                  <a:schemeClr val="tx1"/>
                </a:solidFill>
                <a:effectLst/>
                <a:latin typeface="Arial Unicode MS"/>
              </a:rPr>
              <a:t>-Z]</a:t>
            </a:r>
            <a:r>
              <a:rPr kumimoji="0" lang="en-US" altLang="en-US" sz="2000" b="0" i="0" u="none" strike="noStrike" cap="none" normalizeH="0" baseline="0" dirty="0">
                <a:ln>
                  <a:noFill/>
                </a:ln>
                <a:solidFill>
                  <a:schemeClr val="tx1"/>
                </a:solidFill>
                <a:effectLst/>
              </a:rPr>
              <a:t>: This is a specific instruction. You are explicitly telling the engine: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 "Only give me characters that fall between 'a' and 'z' or 'A' and 'Z'."</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It ignores </a:t>
            </a:r>
            <a:r>
              <a:rPr kumimoji="0" lang="en-US" altLang="en-US" sz="2000" b="0" i="0" u="none" strike="noStrike" cap="none" normalizeH="0" baseline="0" dirty="0">
                <a:ln>
                  <a:noFill/>
                </a:ln>
                <a:solidFill>
                  <a:schemeClr val="tx1"/>
                </a:solidFill>
                <a:effectLst/>
                <a:latin typeface="Arial Unicode MS"/>
              </a:rPr>
              <a:t>0-9</a:t>
            </a:r>
            <a:r>
              <a:rPr kumimoji="0" lang="en-US" altLang="en-US" sz="2000" b="0" i="0" u="none" strike="noStrike" cap="none" normalizeH="0" baseline="0" dirty="0">
                <a:ln>
                  <a:noFill/>
                </a:ln>
                <a:solidFill>
                  <a:schemeClr val="tx1"/>
                </a:solidFill>
                <a:effectLst/>
              </a:rPr>
              <a:t> because they are not inside those brackets.</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695AEFC9-1A3D-8774-2E04-E7507FCCC486}"/>
              </a:ext>
            </a:extLst>
          </p:cNvPr>
          <p:cNvGraphicFramePr>
            <a:graphicFrameLocks noGrp="1"/>
          </p:cNvGraphicFramePr>
          <p:nvPr>
            <p:extLst>
              <p:ext uri="{D42A27DB-BD31-4B8C-83A1-F6EECF244321}">
                <p14:modId xmlns:p14="http://schemas.microsoft.com/office/powerpoint/2010/main" val="3465253763"/>
              </p:ext>
            </p:extLst>
          </p:nvPr>
        </p:nvGraphicFramePr>
        <p:xfrm>
          <a:off x="993762" y="4182748"/>
          <a:ext cx="10515600" cy="1859280"/>
        </p:xfrm>
        <a:graphic>
          <a:graphicData uri="http://schemas.openxmlformats.org/drawingml/2006/table">
            <a:tbl>
              <a:tblPr/>
              <a:tblGrid>
                <a:gridCol w="5257800">
                  <a:extLst>
                    <a:ext uri="{9D8B030D-6E8A-4147-A177-3AD203B41FA5}">
                      <a16:colId xmlns:a16="http://schemas.microsoft.com/office/drawing/2014/main" val="2954631875"/>
                    </a:ext>
                  </a:extLst>
                </a:gridCol>
                <a:gridCol w="5257800">
                  <a:extLst>
                    <a:ext uri="{9D8B030D-6E8A-4147-A177-3AD203B41FA5}">
                      <a16:colId xmlns:a16="http://schemas.microsoft.com/office/drawing/2014/main" val="926020837"/>
                    </a:ext>
                  </a:extLst>
                </a:gridCol>
              </a:tblGrid>
              <a:tr h="0">
                <a:tc>
                  <a:txBody>
                    <a:bodyPr/>
                    <a:lstStyle/>
                    <a:p>
                      <a:pPr>
                        <a:buNone/>
                      </a:pPr>
                      <a:r>
                        <a:rPr lang="en-GB" b="1" dirty="0">
                          <a:effectLst/>
                          <a:latin typeface="Google Sans Text"/>
                        </a:rPr>
                        <a:t>Pattern</a:t>
                      </a:r>
                      <a:endParaRPr lang="en-GB" dirty="0">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GB" b="1">
                          <a:effectLst/>
                          <a:latin typeface="Google Sans Text"/>
                        </a:rPr>
                        <a:t>What it matches</a:t>
                      </a:r>
                      <a:endParaRPr lang="en-GB">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463453504"/>
                  </a:ext>
                </a:extLst>
              </a:tr>
              <a:tr h="0">
                <a:tc>
                  <a:txBody>
                    <a:bodyPr/>
                    <a:lstStyle/>
                    <a:p>
                      <a:pPr>
                        <a:buNone/>
                      </a:pPr>
                      <a:r>
                        <a:rPr lang="en-GB">
                          <a:effectLst/>
                          <a:latin typeface="Google Sans Text"/>
                        </a:rPr>
                        <a:t>\w</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US">
                          <a:effectLst/>
                          <a:latin typeface="Google Sans Text"/>
                        </a:rPr>
                        <a:t>Alphanumeric (Letters, Numbers, Underscore) — </a:t>
                      </a:r>
                      <a:r>
                        <a:rPr lang="en-US" i="1">
                          <a:effectLst/>
                          <a:latin typeface="Google Sans Text"/>
                        </a:rPr>
                        <a:t>Broad</a:t>
                      </a:r>
                      <a:endParaRPr lang="en-US">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469772260"/>
                  </a:ext>
                </a:extLst>
              </a:tr>
              <a:tr h="0">
                <a:tc>
                  <a:txBody>
                    <a:bodyPr/>
                    <a:lstStyle/>
                    <a:p>
                      <a:pPr>
                        <a:buNone/>
                      </a:pPr>
                      <a:r>
                        <a:rPr lang="en-GB">
                          <a:effectLst/>
                          <a:latin typeface="Google Sans Text"/>
                        </a:rPr>
                        <a:t>[a-zA-Z]</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US">
                          <a:effectLst/>
                          <a:latin typeface="Google Sans Text"/>
                        </a:rPr>
                        <a:t>Only Alphabetic (Letters only) — </a:t>
                      </a:r>
                      <a:r>
                        <a:rPr lang="en-US" i="1">
                          <a:effectLst/>
                          <a:latin typeface="Google Sans Text"/>
                        </a:rPr>
                        <a:t>Precise</a:t>
                      </a:r>
                      <a:endParaRPr lang="en-US">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551176641"/>
                  </a:ext>
                </a:extLst>
              </a:tr>
              <a:tr h="0">
                <a:tc>
                  <a:txBody>
                    <a:bodyPr/>
                    <a:lstStyle/>
                    <a:p>
                      <a:pPr>
                        <a:buNone/>
                      </a:pPr>
                      <a:r>
                        <a:rPr lang="en-GB">
                          <a:effectLst/>
                          <a:latin typeface="Google Sans Text"/>
                        </a:rPr>
                        <a:t>[0-9]</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US" dirty="0">
                          <a:effectLst/>
                          <a:latin typeface="Google Sans Text"/>
                        </a:rPr>
                        <a:t>Same as \d (Numbers only)</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743928804"/>
                  </a:ext>
                </a:extLst>
              </a:tr>
            </a:tbl>
          </a:graphicData>
        </a:graphic>
      </p:graphicFrame>
      <p:sp>
        <p:nvSpPr>
          <p:cNvPr id="6" name="Rectangle 2">
            <a:extLst>
              <a:ext uri="{FF2B5EF4-FFF2-40B4-BE49-F238E27FC236}">
                <a16:creationId xmlns:a16="http://schemas.microsoft.com/office/drawing/2014/main" id="{C5A8D1CB-D797-57E5-8215-19E0776F5BB5}"/>
              </a:ext>
            </a:extLst>
          </p:cNvPr>
          <p:cNvSpPr>
            <a:spLocks noChangeArrowheads="1"/>
          </p:cNvSpPr>
          <p:nvPr/>
        </p:nvSpPr>
        <p:spPr bwMode="auto">
          <a:xfrm>
            <a:off x="3435625" y="3513638"/>
            <a:ext cx="446936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Google Sans"/>
              </a:rPr>
              <a:t>A Quick Reference for your notes: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1493674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09A68-6CA9-F807-EE65-4F1F53C3C285}"/>
              </a:ext>
            </a:extLst>
          </p:cNvPr>
          <p:cNvSpPr>
            <a:spLocks noGrp="1"/>
          </p:cNvSpPr>
          <p:nvPr>
            <p:ph type="title"/>
          </p:nvPr>
        </p:nvSpPr>
        <p:spPr/>
        <p:txBody>
          <a:bodyPr>
            <a:normAutofit fontScale="90000"/>
          </a:bodyPr>
          <a:lstStyle/>
          <a:p>
            <a:r>
              <a:rPr lang="en-US" dirty="0"/>
              <a:t>BONUS CHALLENGE</a:t>
            </a:r>
            <a:br>
              <a:rPr lang="en-US" dirty="0"/>
            </a:br>
            <a:r>
              <a:rPr lang="en-US" dirty="0"/>
              <a:t>QUESTION 1:</a:t>
            </a:r>
            <a:br>
              <a:rPr lang="en-US" dirty="0"/>
            </a:br>
            <a:endParaRPr lang="en-GB" dirty="0"/>
          </a:p>
        </p:txBody>
      </p:sp>
      <p:sp>
        <p:nvSpPr>
          <p:cNvPr id="3" name="Content Placeholder 2">
            <a:extLst>
              <a:ext uri="{FF2B5EF4-FFF2-40B4-BE49-F238E27FC236}">
                <a16:creationId xmlns:a16="http://schemas.microsoft.com/office/drawing/2014/main" id="{31061E1D-4760-8FF9-9466-F28F6E4F7C04}"/>
              </a:ext>
            </a:extLst>
          </p:cNvPr>
          <p:cNvSpPr>
            <a:spLocks noGrp="1"/>
          </p:cNvSpPr>
          <p:nvPr>
            <p:ph idx="1"/>
          </p:nvPr>
        </p:nvSpPr>
        <p:spPr>
          <a:xfrm>
            <a:off x="497840" y="1371600"/>
            <a:ext cx="11399520" cy="5577840"/>
          </a:xfrm>
        </p:spPr>
        <p:txBody>
          <a:bodyPr>
            <a:normAutofit fontScale="62500" lnSpcReduction="20000"/>
          </a:bodyPr>
          <a:lstStyle/>
          <a:p>
            <a:pPr marL="0" indent="0">
              <a:buNone/>
            </a:pPr>
            <a:r>
              <a:rPr lang="en-US" dirty="0"/>
              <a:t>You are a security analyst investigating whether sensitive information is being transmitted in plaintext on a network.</a:t>
            </a:r>
          </a:p>
          <a:p>
            <a:pPr marL="0" indent="0">
              <a:buNone/>
            </a:pPr>
            <a:r>
              <a:rPr lang="en-US" dirty="0"/>
              <a:t>Show how plaintext protocols transmit data across a network and how packet analysis tools can observe that traffic.</a:t>
            </a:r>
          </a:p>
          <a:p>
            <a:pPr marL="0" indent="0">
              <a:buNone/>
            </a:pPr>
            <a:endParaRPr lang="en-US" dirty="0"/>
          </a:p>
          <a:p>
            <a:pPr marL="0" indent="0">
              <a:buNone/>
            </a:pPr>
            <a:r>
              <a:rPr lang="en-US" b="1" dirty="0"/>
              <a:t>Tools </a:t>
            </a:r>
            <a:r>
              <a:rPr lang="en-US" b="1" dirty="0" err="1"/>
              <a:t>requred:Netcat</a:t>
            </a:r>
            <a:r>
              <a:rPr lang="en-US" b="1" dirty="0"/>
              <a:t> (</a:t>
            </a:r>
            <a:r>
              <a:rPr lang="en-US" b="1" dirty="0" err="1"/>
              <a:t>nc</a:t>
            </a:r>
            <a:r>
              <a:rPr lang="en-US" b="1" dirty="0"/>
              <a:t>), Telnet, and Wireshark</a:t>
            </a:r>
          </a:p>
          <a:p>
            <a:pPr marL="0" indent="0">
              <a:buNone/>
            </a:pPr>
            <a:r>
              <a:rPr lang="en-US" b="1" u="sng" dirty="0"/>
              <a:t>EXPECTATION</a:t>
            </a:r>
            <a:r>
              <a:rPr lang="en-US" dirty="0"/>
              <a:t>:</a:t>
            </a:r>
          </a:p>
          <a:p>
            <a:pPr marL="0" indent="0">
              <a:buNone/>
            </a:pPr>
            <a:r>
              <a:rPr lang="en-US" dirty="0"/>
              <a:t>1. Screenshot of </a:t>
            </a:r>
            <a:r>
              <a:rPr lang="en-US" dirty="0" err="1"/>
              <a:t>Netcat</a:t>
            </a:r>
            <a:r>
              <a:rPr lang="en-US" dirty="0"/>
              <a:t> listener</a:t>
            </a:r>
          </a:p>
          <a:p>
            <a:pPr marL="0" indent="0">
              <a:buNone/>
            </a:pPr>
            <a:r>
              <a:rPr lang="en-US" dirty="0"/>
              <a:t>2. Screenshot of Telnet connection</a:t>
            </a:r>
          </a:p>
          <a:p>
            <a:pPr marL="0" indent="0">
              <a:buNone/>
            </a:pPr>
            <a:r>
              <a:rPr lang="en-US" dirty="0"/>
              <a:t>3. Screenshot of Wireshark Follow TCP Stream</a:t>
            </a:r>
          </a:p>
          <a:p>
            <a:pPr marL="0" indent="0">
              <a:buNone/>
            </a:pPr>
            <a:endParaRPr lang="en-US" dirty="0"/>
          </a:p>
          <a:p>
            <a:pPr marL="0" indent="0">
              <a:buNone/>
            </a:pPr>
            <a:r>
              <a:rPr lang="en-US" b="1" dirty="0">
                <a:solidFill>
                  <a:srgbClr val="C00000"/>
                </a:solidFill>
              </a:rPr>
              <a:t>One-page explanation of findings</a:t>
            </a:r>
          </a:p>
          <a:p>
            <a:pPr marL="0" indent="0">
              <a:buNone/>
            </a:pPr>
            <a:r>
              <a:rPr lang="en-US" b="1" u="sng" dirty="0"/>
              <a:t>EXPLAIN: </a:t>
            </a:r>
          </a:p>
          <a:p>
            <a:pPr marL="0" indent="0">
              <a:buNone/>
            </a:pPr>
            <a:r>
              <a:rPr lang="en-US" dirty="0"/>
              <a:t>Why was the username visible? </a:t>
            </a:r>
          </a:p>
          <a:p>
            <a:pPr marL="0" indent="0">
              <a:buNone/>
            </a:pPr>
            <a:r>
              <a:rPr lang="en-US" dirty="0"/>
              <a:t>Why was the password visible?</a:t>
            </a:r>
          </a:p>
          <a:p>
            <a:pPr marL="0" indent="0">
              <a:buNone/>
            </a:pPr>
            <a:r>
              <a:rPr lang="en-US" dirty="0"/>
              <a:t>What makes Telnet insecure?</a:t>
            </a:r>
          </a:p>
          <a:p>
            <a:pPr marL="0" indent="0">
              <a:buNone/>
            </a:pPr>
            <a:r>
              <a:rPr lang="en-US" dirty="0"/>
              <a:t>Which protocol should be used instead of Telnet?</a:t>
            </a:r>
          </a:p>
          <a:p>
            <a:pPr marL="0" indent="0">
              <a:buNone/>
            </a:pPr>
            <a:r>
              <a:rPr lang="en-US" dirty="0"/>
              <a:t>How does encryption protect transmitted data?</a:t>
            </a:r>
            <a:endParaRPr lang="en-GB" dirty="0"/>
          </a:p>
        </p:txBody>
      </p:sp>
    </p:spTree>
    <p:extLst>
      <p:ext uri="{BB962C8B-B14F-4D97-AF65-F5344CB8AC3E}">
        <p14:creationId xmlns:p14="http://schemas.microsoft.com/office/powerpoint/2010/main" val="123456304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9FD5E-35E2-B79A-60CE-6D9F52D6A589}"/>
              </a:ext>
            </a:extLst>
          </p:cNvPr>
          <p:cNvSpPr>
            <a:spLocks noGrp="1"/>
          </p:cNvSpPr>
          <p:nvPr>
            <p:ph type="title"/>
          </p:nvPr>
        </p:nvSpPr>
        <p:spPr/>
        <p:txBody>
          <a:bodyPr/>
          <a:lstStyle/>
          <a:p>
            <a:r>
              <a:rPr lang="en-US" dirty="0"/>
              <a:t>Screenshot of </a:t>
            </a:r>
            <a:r>
              <a:rPr lang="en-US" dirty="0" err="1"/>
              <a:t>Netcat</a:t>
            </a:r>
            <a:r>
              <a:rPr lang="en-US" dirty="0"/>
              <a:t> listener &amp;</a:t>
            </a:r>
            <a:br>
              <a:rPr lang="en-US" dirty="0"/>
            </a:br>
            <a:r>
              <a:rPr lang="en-US" dirty="0"/>
              <a:t>Screenshot of Telnet connection</a:t>
            </a:r>
            <a:endParaRPr lang="en-GB" dirty="0"/>
          </a:p>
        </p:txBody>
      </p:sp>
      <p:pic>
        <p:nvPicPr>
          <p:cNvPr id="5" name="Content Placeholder 4">
            <a:extLst>
              <a:ext uri="{FF2B5EF4-FFF2-40B4-BE49-F238E27FC236}">
                <a16:creationId xmlns:a16="http://schemas.microsoft.com/office/drawing/2014/main" id="{1EA5CA76-80D9-0618-9E15-8384AD6A34C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2560" y="1812608"/>
            <a:ext cx="11440160" cy="4832591"/>
          </a:xfrm>
        </p:spPr>
      </p:pic>
    </p:spTree>
    <p:extLst>
      <p:ext uri="{BB962C8B-B14F-4D97-AF65-F5344CB8AC3E}">
        <p14:creationId xmlns:p14="http://schemas.microsoft.com/office/powerpoint/2010/main" val="281947305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48595-7A60-B078-8691-230ED873D739}"/>
              </a:ext>
            </a:extLst>
          </p:cNvPr>
          <p:cNvSpPr>
            <a:spLocks noGrp="1"/>
          </p:cNvSpPr>
          <p:nvPr>
            <p:ph type="title"/>
          </p:nvPr>
        </p:nvSpPr>
        <p:spPr/>
        <p:txBody>
          <a:bodyPr/>
          <a:lstStyle/>
          <a:p>
            <a:r>
              <a:rPr lang="en-US" dirty="0"/>
              <a:t>Screenshot of Wireshark Follow TCP Stream</a:t>
            </a:r>
            <a:endParaRPr lang="en-GB" dirty="0"/>
          </a:p>
        </p:txBody>
      </p:sp>
      <p:pic>
        <p:nvPicPr>
          <p:cNvPr id="9" name="Content Placeholder 8">
            <a:extLst>
              <a:ext uri="{FF2B5EF4-FFF2-40B4-BE49-F238E27FC236}">
                <a16:creationId xmlns:a16="http://schemas.microsoft.com/office/drawing/2014/main" id="{F580AE21-4DCF-67BD-1A9B-CCED5C378B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6640" y="1825625"/>
            <a:ext cx="10180319" cy="4351338"/>
          </a:xfrm>
        </p:spPr>
      </p:pic>
    </p:spTree>
    <p:extLst>
      <p:ext uri="{BB962C8B-B14F-4D97-AF65-F5344CB8AC3E}">
        <p14:creationId xmlns:p14="http://schemas.microsoft.com/office/powerpoint/2010/main" val="422243181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ABE9E-A236-7FFE-A193-95B0A9041AAC}"/>
              </a:ext>
            </a:extLst>
          </p:cNvPr>
          <p:cNvSpPr>
            <a:spLocks noGrp="1"/>
          </p:cNvSpPr>
          <p:nvPr>
            <p:ph type="title"/>
          </p:nvPr>
        </p:nvSpPr>
        <p:spPr/>
        <p:txBody>
          <a:bodyPr/>
          <a:lstStyle/>
          <a:p>
            <a:r>
              <a:rPr lang="en-US" b="1" dirty="0">
                <a:solidFill>
                  <a:srgbClr val="C00000"/>
                </a:solidFill>
              </a:rPr>
              <a:t>One page explanation</a:t>
            </a:r>
            <a:endParaRPr lang="en-GB" b="1" dirty="0">
              <a:solidFill>
                <a:srgbClr val="C00000"/>
              </a:solidFill>
            </a:endParaRPr>
          </a:p>
        </p:txBody>
      </p:sp>
      <p:sp>
        <p:nvSpPr>
          <p:cNvPr id="3" name="Content Placeholder 2">
            <a:extLst>
              <a:ext uri="{FF2B5EF4-FFF2-40B4-BE49-F238E27FC236}">
                <a16:creationId xmlns:a16="http://schemas.microsoft.com/office/drawing/2014/main" id="{A374070F-A75F-AEE6-DBF6-DC21D312B6B1}"/>
              </a:ext>
            </a:extLst>
          </p:cNvPr>
          <p:cNvSpPr>
            <a:spLocks noGrp="1"/>
          </p:cNvSpPr>
          <p:nvPr>
            <p:ph idx="1"/>
          </p:nvPr>
        </p:nvSpPr>
        <p:spPr/>
        <p:txBody>
          <a:bodyPr/>
          <a:lstStyle/>
          <a:p>
            <a:r>
              <a:rPr lang="en-US" b="1" dirty="0"/>
              <a:t>1. Why were the username and password visible?</a:t>
            </a:r>
          </a:p>
          <a:p>
            <a:r>
              <a:rPr lang="en-US" dirty="0"/>
              <a:t>Telnet is a </a:t>
            </a:r>
            <a:r>
              <a:rPr lang="en-US" b="1" dirty="0"/>
              <a:t>plaintext protocol</a:t>
            </a:r>
            <a:r>
              <a:rPr lang="en-US" dirty="0"/>
              <a:t>. It does not perform any data transformation before sending information over the network. When you type "admin," your computer breaks that word into binary bits and sends them exactly as they are. Because there is no layer of encryption (no scrambling of the data), any "sniffing" tool—like Wireshark—that sits between the client and the server can simply reassemble those bits into human-readable text.</a:t>
            </a:r>
          </a:p>
          <a:p>
            <a:endParaRPr lang="en-GB" dirty="0"/>
          </a:p>
        </p:txBody>
      </p:sp>
    </p:spTree>
    <p:extLst>
      <p:ext uri="{BB962C8B-B14F-4D97-AF65-F5344CB8AC3E}">
        <p14:creationId xmlns:p14="http://schemas.microsoft.com/office/powerpoint/2010/main" val="320451439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F6E7F-4A54-005E-DB57-24065C0BA9CA}"/>
              </a:ext>
            </a:extLst>
          </p:cNvPr>
          <p:cNvSpPr>
            <a:spLocks noGrp="1"/>
          </p:cNvSpPr>
          <p:nvPr>
            <p:ph type="title"/>
          </p:nvPr>
        </p:nvSpPr>
        <p:spPr/>
        <p:txBody>
          <a:bodyPr/>
          <a:lstStyle/>
          <a:p>
            <a:r>
              <a:rPr lang="en-US" b="1" dirty="0"/>
              <a:t>2. What makes Telnet insecure?</a:t>
            </a:r>
            <a:br>
              <a:rPr lang="en-US" b="1" dirty="0"/>
            </a:br>
            <a:endParaRPr lang="en-GB" dirty="0"/>
          </a:p>
        </p:txBody>
      </p:sp>
      <p:sp>
        <p:nvSpPr>
          <p:cNvPr id="3" name="Content Placeholder 2">
            <a:extLst>
              <a:ext uri="{FF2B5EF4-FFF2-40B4-BE49-F238E27FC236}">
                <a16:creationId xmlns:a16="http://schemas.microsoft.com/office/drawing/2014/main" id="{71EE913E-3121-2FD6-A38E-8CE66DB47DD1}"/>
              </a:ext>
            </a:extLst>
          </p:cNvPr>
          <p:cNvSpPr>
            <a:spLocks noGrp="1"/>
          </p:cNvSpPr>
          <p:nvPr>
            <p:ph idx="1"/>
          </p:nvPr>
        </p:nvSpPr>
        <p:spPr/>
        <p:txBody>
          <a:bodyPr>
            <a:normAutofit/>
          </a:bodyPr>
          <a:lstStyle/>
          <a:p>
            <a:r>
              <a:rPr lang="en-US" dirty="0"/>
              <a:t>Telnet is considered "insecure by design" for three primary reasons:</a:t>
            </a:r>
          </a:p>
          <a:p>
            <a:r>
              <a:rPr lang="en-US" b="1" dirty="0"/>
              <a:t>Lack of Confidentiality:</a:t>
            </a:r>
            <a:r>
              <a:rPr lang="en-US" dirty="0"/>
              <a:t> All data (including credentials and commands) is sent in cleartext. Anyone on the same network segment can view it.</a:t>
            </a:r>
          </a:p>
          <a:p>
            <a:r>
              <a:rPr lang="en-US" b="1" dirty="0"/>
              <a:t>Lack of Integrity:</a:t>
            </a:r>
            <a:r>
              <a:rPr lang="en-US" dirty="0"/>
              <a:t> There is no mechanism to ensure that the data hasn't been modified in transit. A Man-in-the-Middle (MitM) attacker could inject commands into your session.</a:t>
            </a:r>
          </a:p>
          <a:p>
            <a:r>
              <a:rPr lang="en-US" b="1" dirty="0"/>
              <a:t>Lack of Authentication:</a:t>
            </a:r>
            <a:r>
              <a:rPr lang="en-US" dirty="0"/>
              <a:t> Telnet does not verify that the server you are connecting to is actually the one you intended to reach, making it vulnerable to spoofing.</a:t>
            </a:r>
          </a:p>
          <a:p>
            <a:endParaRPr lang="en-GB" dirty="0"/>
          </a:p>
        </p:txBody>
      </p:sp>
    </p:spTree>
    <p:extLst>
      <p:ext uri="{BB962C8B-B14F-4D97-AF65-F5344CB8AC3E}">
        <p14:creationId xmlns:p14="http://schemas.microsoft.com/office/powerpoint/2010/main" val="194484753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8B4EE-9049-990D-EC54-1F840D41592D}"/>
              </a:ext>
            </a:extLst>
          </p:cNvPr>
          <p:cNvSpPr>
            <a:spLocks noGrp="1"/>
          </p:cNvSpPr>
          <p:nvPr>
            <p:ph type="title"/>
          </p:nvPr>
        </p:nvSpPr>
        <p:spPr/>
        <p:txBody>
          <a:bodyPr/>
          <a:lstStyle/>
          <a:p>
            <a:r>
              <a:rPr lang="en-US" b="1" dirty="0"/>
              <a:t>3. Which protocol should be used instead?</a:t>
            </a:r>
            <a:br>
              <a:rPr lang="en-US" b="1" dirty="0"/>
            </a:br>
            <a:endParaRPr lang="en-GB" dirty="0"/>
          </a:p>
        </p:txBody>
      </p:sp>
      <p:sp>
        <p:nvSpPr>
          <p:cNvPr id="3" name="Content Placeholder 2">
            <a:extLst>
              <a:ext uri="{FF2B5EF4-FFF2-40B4-BE49-F238E27FC236}">
                <a16:creationId xmlns:a16="http://schemas.microsoft.com/office/drawing/2014/main" id="{8A6423EF-3D59-8414-AC19-E5EF10FBAE7D}"/>
              </a:ext>
            </a:extLst>
          </p:cNvPr>
          <p:cNvSpPr>
            <a:spLocks noGrp="1"/>
          </p:cNvSpPr>
          <p:nvPr>
            <p:ph idx="1"/>
          </p:nvPr>
        </p:nvSpPr>
        <p:spPr/>
        <p:txBody>
          <a:bodyPr/>
          <a:lstStyle/>
          <a:p>
            <a:r>
              <a:rPr lang="en-US" b="1" dirty="0"/>
              <a:t>SSH (Secure Shell)</a:t>
            </a:r>
            <a:r>
              <a:rPr lang="en-US" dirty="0"/>
              <a:t> is the industry standard replacement for Telnet.</a:t>
            </a:r>
          </a:p>
          <a:p>
            <a:r>
              <a:rPr lang="en-US" dirty="0"/>
              <a:t>SSH provides the same terminal access functionality as Telnet but wraps the entire connection inside an </a:t>
            </a:r>
            <a:r>
              <a:rPr lang="en-US" b="1" dirty="0"/>
              <a:t>encrypted tunnel</a:t>
            </a:r>
            <a:r>
              <a:rPr lang="en-US" dirty="0"/>
              <a:t>.</a:t>
            </a:r>
          </a:p>
          <a:p>
            <a:r>
              <a:rPr lang="en-US" dirty="0"/>
              <a:t>A packet capture of a properly established SSH session should not reveal the session's plaintext commands or password; the captured payload is protected by encryption.</a:t>
            </a:r>
          </a:p>
          <a:p>
            <a:endParaRPr lang="en-GB" dirty="0"/>
          </a:p>
        </p:txBody>
      </p:sp>
    </p:spTree>
    <p:extLst>
      <p:ext uri="{BB962C8B-B14F-4D97-AF65-F5344CB8AC3E}">
        <p14:creationId xmlns:p14="http://schemas.microsoft.com/office/powerpoint/2010/main" val="76361670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43AFD-3512-AF24-AABD-68080DD8EC29}"/>
              </a:ext>
            </a:extLst>
          </p:cNvPr>
          <p:cNvSpPr>
            <a:spLocks noGrp="1"/>
          </p:cNvSpPr>
          <p:nvPr>
            <p:ph type="title"/>
          </p:nvPr>
        </p:nvSpPr>
        <p:spPr/>
        <p:txBody>
          <a:bodyPr>
            <a:normAutofit fontScale="90000"/>
          </a:bodyPr>
          <a:lstStyle/>
          <a:p>
            <a:r>
              <a:rPr lang="en-US" b="1" dirty="0"/>
              <a:t>4. How does encryption protect transmitted data?</a:t>
            </a:r>
            <a:br>
              <a:rPr lang="en-US" b="1" dirty="0"/>
            </a:br>
            <a:endParaRPr lang="en-GB" dirty="0"/>
          </a:p>
        </p:txBody>
      </p:sp>
      <p:sp>
        <p:nvSpPr>
          <p:cNvPr id="3" name="Content Placeholder 2">
            <a:extLst>
              <a:ext uri="{FF2B5EF4-FFF2-40B4-BE49-F238E27FC236}">
                <a16:creationId xmlns:a16="http://schemas.microsoft.com/office/drawing/2014/main" id="{374DC96F-DB78-4711-3209-C0E92EB7F373}"/>
              </a:ext>
            </a:extLst>
          </p:cNvPr>
          <p:cNvSpPr>
            <a:spLocks noGrp="1"/>
          </p:cNvSpPr>
          <p:nvPr>
            <p:ph idx="1"/>
          </p:nvPr>
        </p:nvSpPr>
        <p:spPr/>
        <p:txBody>
          <a:bodyPr>
            <a:normAutofit fontScale="92500"/>
          </a:bodyPr>
          <a:lstStyle/>
          <a:p>
            <a:pPr marL="0" indent="0">
              <a:buNone/>
            </a:pPr>
            <a:r>
              <a:rPr lang="en-US" dirty="0"/>
              <a:t>Encryption uses mathematical algorithms to scramble data using a "key."</a:t>
            </a:r>
          </a:p>
          <a:p>
            <a:pPr marL="0" indent="0">
              <a:buNone/>
            </a:pPr>
            <a:r>
              <a:rPr lang="en-US" b="1" dirty="0"/>
              <a:t>The Process:</a:t>
            </a:r>
            <a:r>
              <a:rPr lang="en-US" dirty="0"/>
              <a:t> With SSH, the client and server negotiate cryptographic algorithms and establish session keys as part of SSH's own protocol handshake. SSH does not generally use TLS/SSL as its underlying transport.</a:t>
            </a:r>
          </a:p>
          <a:p>
            <a:pPr marL="0" indent="0">
              <a:buNone/>
            </a:pPr>
            <a:r>
              <a:rPr lang="en-US" b="1" dirty="0"/>
              <a:t>The Result:</a:t>
            </a:r>
            <a:r>
              <a:rPr lang="en-US" dirty="0"/>
              <a:t> Before the data leaves your network card, it is encrypted. During transit, it is unreadable. Only the recipient, who possesses the matching key, can "unlock" the data and turn it back into readable plaintext.</a:t>
            </a:r>
          </a:p>
          <a:p>
            <a:pPr marL="0" indent="0">
              <a:buNone/>
            </a:pPr>
            <a:r>
              <a:rPr lang="en-US" b="1" dirty="0"/>
              <a:t>The Analogy:</a:t>
            </a:r>
            <a:r>
              <a:rPr lang="en-US" dirty="0"/>
              <a:t> If Telnet is like sending a postcard (anyone can read the back), SSH is like sending a letter inside a steel safe. Even if the mailman steals the safe, they cannot read the contents without the key.</a:t>
            </a:r>
          </a:p>
          <a:p>
            <a:endParaRPr lang="en-GB" dirty="0"/>
          </a:p>
        </p:txBody>
      </p:sp>
    </p:spTree>
    <p:extLst>
      <p:ext uri="{BB962C8B-B14F-4D97-AF65-F5344CB8AC3E}">
        <p14:creationId xmlns:p14="http://schemas.microsoft.com/office/powerpoint/2010/main" val="383184340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81F50-8E4F-4D71-5A85-38C4C2796903}"/>
              </a:ext>
            </a:extLst>
          </p:cNvPr>
          <p:cNvSpPr>
            <a:spLocks noGrp="1"/>
          </p:cNvSpPr>
          <p:nvPr>
            <p:ph type="title"/>
          </p:nvPr>
        </p:nvSpPr>
        <p:spPr/>
        <p:txBody>
          <a:bodyPr/>
          <a:lstStyle/>
          <a:p>
            <a:pPr algn="ctr"/>
            <a:r>
              <a:rPr lang="en-US" b="1" dirty="0">
                <a:solidFill>
                  <a:srgbClr val="C00000"/>
                </a:solidFill>
                <a:effectLst>
                  <a:outerShdw blurRad="38100" dist="38100" dir="2700000" algn="tl">
                    <a:srgbClr val="000000">
                      <a:alpha val="43137"/>
                    </a:srgbClr>
                  </a:outerShdw>
                </a:effectLst>
              </a:rPr>
              <a:t>QUESTION 2A:</a:t>
            </a:r>
            <a:endParaRPr lang="en-GB" b="1" dirty="0">
              <a:solidFill>
                <a:srgbClr val="C0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EC34770C-6CD6-4B80-E78D-B68BCB756CA3}"/>
              </a:ext>
            </a:extLst>
          </p:cNvPr>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r>
              <a:rPr lang="en-US" dirty="0"/>
              <a:t>Create a function that determines whether a number is positive, negative, or zero.</a:t>
            </a:r>
            <a:endParaRPr lang="en-GB" dirty="0"/>
          </a:p>
        </p:txBody>
      </p:sp>
    </p:spTree>
    <p:extLst>
      <p:ext uri="{BB962C8B-B14F-4D97-AF65-F5344CB8AC3E}">
        <p14:creationId xmlns:p14="http://schemas.microsoft.com/office/powerpoint/2010/main" val="226014378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24497-085A-9D2D-19E0-9DAC60F0AAD5}"/>
              </a:ext>
            </a:extLst>
          </p:cNvPr>
          <p:cNvSpPr>
            <a:spLocks noGrp="1"/>
          </p:cNvSpPr>
          <p:nvPr>
            <p:ph type="title"/>
          </p:nvPr>
        </p:nvSpPr>
        <p:spPr/>
        <p:txBody>
          <a:bodyPr>
            <a:normAutofit fontScale="90000"/>
          </a:bodyPr>
          <a:lstStyle/>
          <a:p>
            <a:r>
              <a:rPr lang="en-US" sz="2800" dirty="0"/>
              <a:t>This function uses simple conditional logic to evaluate the number and return the appropriate classification.</a:t>
            </a:r>
            <a:br>
              <a:rPr lang="en-US" sz="2800" dirty="0"/>
            </a:br>
            <a:br>
              <a:rPr lang="en-US" sz="2800" dirty="0"/>
            </a:br>
            <a:r>
              <a:rPr lang="en-US" sz="2800" b="1" dirty="0"/>
              <a:t>This one below is where I tried the number -1 and it showed that it is negative because it is less than 0.</a:t>
            </a:r>
            <a:endParaRPr lang="en-GB" sz="2800" dirty="0"/>
          </a:p>
        </p:txBody>
      </p:sp>
      <p:pic>
        <p:nvPicPr>
          <p:cNvPr id="5" name="Content Placeholder 4">
            <a:extLst>
              <a:ext uri="{FF2B5EF4-FFF2-40B4-BE49-F238E27FC236}">
                <a16:creationId xmlns:a16="http://schemas.microsoft.com/office/drawing/2014/main" id="{4C5FBB80-FCC7-70E4-4C29-BBAFB64785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5600" y="2311574"/>
            <a:ext cx="7309901" cy="4334480"/>
          </a:xfrm>
        </p:spPr>
      </p:pic>
    </p:spTree>
    <p:extLst>
      <p:ext uri="{BB962C8B-B14F-4D97-AF65-F5344CB8AC3E}">
        <p14:creationId xmlns:p14="http://schemas.microsoft.com/office/powerpoint/2010/main" val="286298592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3C045-11BC-E123-295F-B4BC351B83D6}"/>
              </a:ext>
            </a:extLst>
          </p:cNvPr>
          <p:cNvSpPr>
            <a:spLocks noGrp="1"/>
          </p:cNvSpPr>
          <p:nvPr>
            <p:ph type="title"/>
          </p:nvPr>
        </p:nvSpPr>
        <p:spPr/>
        <p:txBody>
          <a:bodyPr>
            <a:normAutofit/>
          </a:bodyPr>
          <a:lstStyle/>
          <a:p>
            <a:r>
              <a:rPr lang="en-US" sz="2800" b="1" dirty="0"/>
              <a:t>This one below is where I tried the number 2, and it showed that it is positive because it is greater than 0.</a:t>
            </a:r>
            <a:endParaRPr lang="en-GB" sz="2800" b="1" dirty="0"/>
          </a:p>
        </p:txBody>
      </p:sp>
      <p:pic>
        <p:nvPicPr>
          <p:cNvPr id="5" name="Content Placeholder 4">
            <a:extLst>
              <a:ext uri="{FF2B5EF4-FFF2-40B4-BE49-F238E27FC236}">
                <a16:creationId xmlns:a16="http://schemas.microsoft.com/office/drawing/2014/main" id="{C890F3A4-FBFF-9156-3FDA-F47F62BAFB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42785" y="2029344"/>
            <a:ext cx="6306430" cy="3943900"/>
          </a:xfrm>
        </p:spPr>
      </p:pic>
    </p:spTree>
    <p:extLst>
      <p:ext uri="{BB962C8B-B14F-4D97-AF65-F5344CB8AC3E}">
        <p14:creationId xmlns:p14="http://schemas.microsoft.com/office/powerpoint/2010/main" val="273154932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A3988-E7BC-5DE5-25D0-254CC79FD0D5}"/>
              </a:ext>
            </a:extLst>
          </p:cNvPr>
          <p:cNvSpPr>
            <a:spLocks noGrp="1"/>
          </p:cNvSpPr>
          <p:nvPr>
            <p:ph type="title"/>
          </p:nvPr>
        </p:nvSpPr>
        <p:spPr/>
        <p:txBody>
          <a:bodyPr>
            <a:normAutofit/>
          </a:bodyPr>
          <a:lstStyle/>
          <a:p>
            <a:r>
              <a:rPr lang="en-US" sz="2800" b="1" dirty="0"/>
              <a:t>This one below is where I tried the number 0 and it showed that it is Zero because the number is to 0 itself</a:t>
            </a:r>
            <a:r>
              <a:rPr lang="en-US" sz="2800" dirty="0"/>
              <a:t>.</a:t>
            </a:r>
            <a:endParaRPr lang="en-GB" sz="2800" dirty="0"/>
          </a:p>
        </p:txBody>
      </p:sp>
      <p:pic>
        <p:nvPicPr>
          <p:cNvPr id="5" name="Content Placeholder 4">
            <a:extLst>
              <a:ext uri="{FF2B5EF4-FFF2-40B4-BE49-F238E27FC236}">
                <a16:creationId xmlns:a16="http://schemas.microsoft.com/office/drawing/2014/main" id="{B9B9FD54-E188-1319-A6A1-554B03AA28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2640" y="2078855"/>
            <a:ext cx="5993821" cy="4210638"/>
          </a:xfrm>
        </p:spPr>
      </p:pic>
    </p:spTree>
    <p:extLst>
      <p:ext uri="{BB962C8B-B14F-4D97-AF65-F5344CB8AC3E}">
        <p14:creationId xmlns:p14="http://schemas.microsoft.com/office/powerpoint/2010/main" val="238228102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F4309-7D71-62AF-929B-0BD2380F9B91}"/>
              </a:ext>
            </a:extLst>
          </p:cNvPr>
          <p:cNvSpPr>
            <a:spLocks noGrp="1"/>
          </p:cNvSpPr>
          <p:nvPr>
            <p:ph type="title"/>
          </p:nvPr>
        </p:nvSpPr>
        <p:spPr/>
        <p:txBody>
          <a:bodyPr>
            <a:normAutofit fontScale="90000"/>
          </a:bodyPr>
          <a:lstStyle/>
          <a:p>
            <a:r>
              <a:rPr lang="en-US" b="1" dirty="0"/>
              <a:t>This code uses Conditional Logic (the if-</a:t>
            </a:r>
            <a:r>
              <a:rPr lang="en-US" b="1" dirty="0" err="1"/>
              <a:t>elif</a:t>
            </a:r>
            <a:r>
              <a:rPr lang="en-US" b="1" dirty="0"/>
              <a:t>-else structure) to make a decision.</a:t>
            </a:r>
            <a:br>
              <a:rPr lang="en-US" dirty="0"/>
            </a:br>
            <a:endParaRPr lang="en-GB" dirty="0"/>
          </a:p>
        </p:txBody>
      </p:sp>
      <p:sp>
        <p:nvSpPr>
          <p:cNvPr id="3" name="Content Placeholder 2">
            <a:extLst>
              <a:ext uri="{FF2B5EF4-FFF2-40B4-BE49-F238E27FC236}">
                <a16:creationId xmlns:a16="http://schemas.microsoft.com/office/drawing/2014/main" id="{171F514D-0D91-19F2-7DDE-67862FEC1FF6}"/>
              </a:ext>
            </a:extLst>
          </p:cNvPr>
          <p:cNvSpPr>
            <a:spLocks noGrp="1"/>
          </p:cNvSpPr>
          <p:nvPr>
            <p:ph idx="1"/>
          </p:nvPr>
        </p:nvSpPr>
        <p:spPr/>
        <p:txBody>
          <a:bodyPr>
            <a:normAutofit fontScale="85000" lnSpcReduction="20000"/>
          </a:bodyPr>
          <a:lstStyle/>
          <a:p>
            <a:pPr marL="0" indent="0">
              <a:buNone/>
            </a:pPr>
            <a:r>
              <a:rPr lang="en-US" b="1" dirty="0"/>
              <a:t>Defining the Function (def </a:t>
            </a:r>
            <a:r>
              <a:rPr lang="en-US" b="1" dirty="0" err="1"/>
              <a:t>check_number</a:t>
            </a:r>
            <a:r>
              <a:rPr lang="en-US" b="1" dirty="0"/>
              <a:t>(n):):</a:t>
            </a:r>
            <a:r>
              <a:rPr lang="en-US" dirty="0"/>
              <a:t> You are creating a reusable tool called </a:t>
            </a:r>
            <a:r>
              <a:rPr lang="en-US" dirty="0" err="1"/>
              <a:t>check_number</a:t>
            </a:r>
            <a:r>
              <a:rPr lang="en-US" dirty="0"/>
              <a:t>. You feed it a value n, and it holds onto it until it's time to process it.</a:t>
            </a:r>
          </a:p>
          <a:p>
            <a:pPr marL="0" indent="0">
              <a:buNone/>
            </a:pPr>
            <a:endParaRPr lang="en-US" dirty="0"/>
          </a:p>
          <a:p>
            <a:pPr marL="0" indent="0">
              <a:buNone/>
            </a:pPr>
            <a:r>
              <a:rPr lang="en-US" b="1" dirty="0"/>
              <a:t>The First Check (if n &gt; 0:):</a:t>
            </a:r>
            <a:r>
              <a:rPr lang="en-US" dirty="0"/>
              <a:t> The computer checks if your number is greater than zero. If true, it stops everything else and returns "Positive.“</a:t>
            </a:r>
          </a:p>
          <a:p>
            <a:pPr marL="0" indent="0">
              <a:buNone/>
            </a:pPr>
            <a:endParaRPr lang="en-US" dirty="0"/>
          </a:p>
          <a:p>
            <a:pPr marL="0" indent="0">
              <a:buNone/>
            </a:pPr>
            <a:r>
              <a:rPr lang="en-US" b="1" dirty="0"/>
              <a:t>The Second Check (</a:t>
            </a:r>
            <a:r>
              <a:rPr lang="en-US" b="1" dirty="0" err="1"/>
              <a:t>elif</a:t>
            </a:r>
            <a:r>
              <a:rPr lang="en-US" b="1" dirty="0"/>
              <a:t> n &lt; 0:):</a:t>
            </a:r>
            <a:r>
              <a:rPr lang="en-US" dirty="0"/>
              <a:t> If the first check failed, it checks if the number is less than zero. If true, it returns "Negative.“</a:t>
            </a:r>
          </a:p>
          <a:p>
            <a:pPr marL="0" indent="0">
              <a:buNone/>
            </a:pPr>
            <a:endParaRPr lang="en-US" dirty="0"/>
          </a:p>
          <a:p>
            <a:pPr marL="0" indent="0">
              <a:buNone/>
            </a:pPr>
            <a:r>
              <a:rPr lang="en-US" b="1" dirty="0"/>
              <a:t>The "Default" Case (else:):</a:t>
            </a:r>
            <a:r>
              <a:rPr lang="en-US" dirty="0"/>
              <a:t> If the number is neither greater nor less than zero, the only mathematical option left is that it is </a:t>
            </a:r>
            <a:r>
              <a:rPr lang="en-US" b="1" dirty="0"/>
              <a:t>zero</a:t>
            </a:r>
            <a:r>
              <a:rPr lang="en-US" dirty="0"/>
              <a:t>. The else statement catches this automatically without needing to check it again.</a:t>
            </a:r>
          </a:p>
          <a:p>
            <a:endParaRPr lang="en-GB" dirty="0"/>
          </a:p>
        </p:txBody>
      </p:sp>
    </p:spTree>
    <p:extLst>
      <p:ext uri="{BB962C8B-B14F-4D97-AF65-F5344CB8AC3E}">
        <p14:creationId xmlns:p14="http://schemas.microsoft.com/office/powerpoint/2010/main" val="138840000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4B3E8-1EA7-3743-9E6A-CF1B12EE6545}"/>
              </a:ext>
            </a:extLst>
          </p:cNvPr>
          <p:cNvSpPr>
            <a:spLocks noGrp="1"/>
          </p:cNvSpPr>
          <p:nvPr>
            <p:ph type="title"/>
          </p:nvPr>
        </p:nvSpPr>
        <p:spPr/>
        <p:txBody>
          <a:bodyPr/>
          <a:lstStyle/>
          <a:p>
            <a:pPr algn="ctr"/>
            <a:r>
              <a:rPr lang="en-US" b="1" dirty="0">
                <a:solidFill>
                  <a:srgbClr val="C00000"/>
                </a:solidFill>
              </a:rPr>
              <a:t>QUESTION 2B</a:t>
            </a:r>
            <a:r>
              <a:rPr lang="en-US" dirty="0"/>
              <a:t>:</a:t>
            </a:r>
            <a:endParaRPr lang="en-GB" dirty="0"/>
          </a:p>
        </p:txBody>
      </p:sp>
      <p:sp>
        <p:nvSpPr>
          <p:cNvPr id="3" name="Content Placeholder 2">
            <a:extLst>
              <a:ext uri="{FF2B5EF4-FFF2-40B4-BE49-F238E27FC236}">
                <a16:creationId xmlns:a16="http://schemas.microsoft.com/office/drawing/2014/main" id="{8DF9C317-8BA7-370B-0304-6E8786D6F294}"/>
              </a:ext>
            </a:extLst>
          </p:cNvPr>
          <p:cNvSpPr>
            <a:spLocks noGrp="1"/>
          </p:cNvSpPr>
          <p:nvPr>
            <p:ph idx="1"/>
          </p:nvPr>
        </p:nvSpPr>
        <p:spPr/>
        <p:txBody>
          <a:bodyPr/>
          <a:lstStyle/>
          <a:p>
            <a:pPr marL="0" indent="0" algn="ctr">
              <a:buNone/>
            </a:pPr>
            <a:r>
              <a:rPr lang="en-US" dirty="0"/>
              <a:t> </a:t>
            </a:r>
          </a:p>
          <a:p>
            <a:pPr marL="0" indent="0" algn="ctr">
              <a:buNone/>
            </a:pPr>
            <a:r>
              <a:rPr lang="en-US" dirty="0"/>
              <a:t>Create a password checker.</a:t>
            </a:r>
          </a:p>
          <a:p>
            <a:pPr marL="0" indent="0" algn="ctr">
              <a:buNone/>
            </a:pPr>
            <a:endParaRPr lang="en-US" dirty="0"/>
          </a:p>
          <a:p>
            <a:pPr marL="0" indent="0" algn="ctr">
              <a:buNone/>
            </a:pPr>
            <a:r>
              <a:rPr lang="en-US" b="1" dirty="0"/>
              <a:t>Requirements:</a:t>
            </a:r>
          </a:p>
          <a:p>
            <a:pPr marL="0" indent="0" algn="ctr">
              <a:buNone/>
            </a:pPr>
            <a:endParaRPr lang="en-US" b="1" dirty="0"/>
          </a:p>
          <a:p>
            <a:pPr marL="0" indent="0" algn="ctr">
              <a:buNone/>
            </a:pPr>
            <a:r>
              <a:rPr lang="en-US" dirty="0"/>
              <a:t>Continue asking for a password until the correct password is entered.</a:t>
            </a:r>
          </a:p>
          <a:p>
            <a:pPr marL="0" indent="0" algn="ctr">
              <a:buNone/>
            </a:pPr>
            <a:endParaRPr lang="en-US" dirty="0"/>
          </a:p>
          <a:p>
            <a:pPr marL="0" indent="0" algn="ctr">
              <a:buNone/>
            </a:pPr>
            <a:r>
              <a:rPr lang="en-US" dirty="0"/>
              <a:t>Count the number of attempts.</a:t>
            </a:r>
            <a:endParaRPr lang="en-GB" dirty="0"/>
          </a:p>
        </p:txBody>
      </p:sp>
    </p:spTree>
    <p:extLst>
      <p:ext uri="{BB962C8B-B14F-4D97-AF65-F5344CB8AC3E}">
        <p14:creationId xmlns:p14="http://schemas.microsoft.com/office/powerpoint/2010/main" val="282454196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34FE8-CDF9-6BE1-1102-61EFA3BD1CD4}"/>
              </a:ext>
            </a:extLst>
          </p:cNvPr>
          <p:cNvSpPr>
            <a:spLocks noGrp="1"/>
          </p:cNvSpPr>
          <p:nvPr>
            <p:ph type="title"/>
          </p:nvPr>
        </p:nvSpPr>
        <p:spPr>
          <a:xfrm>
            <a:off x="701040" y="203200"/>
            <a:ext cx="11023600" cy="2303461"/>
          </a:xfrm>
        </p:spPr>
        <p:txBody>
          <a:bodyPr>
            <a:noAutofit/>
          </a:bodyPr>
          <a:lstStyle/>
          <a:p>
            <a:br>
              <a:rPr lang="en-US" sz="2800" b="1" dirty="0"/>
            </a:br>
            <a:r>
              <a:rPr lang="en-US" sz="2400" b="1" dirty="0"/>
              <a:t>Part B: Password Checker</a:t>
            </a:r>
            <a:br>
              <a:rPr lang="en-US" sz="2400" b="1" dirty="0"/>
            </a:br>
            <a:br>
              <a:rPr lang="en-US" sz="2400" b="1" dirty="0"/>
            </a:br>
            <a:r>
              <a:rPr lang="en-US" sz="2400" dirty="0"/>
              <a:t>This script uses a while loop to repeatedly prompt the user for input. The attempts counter increments each time the user fails to provide the correct password, ensuring they are tracked accurately.</a:t>
            </a:r>
            <a:br>
              <a:rPr lang="en-US" sz="2400" dirty="0"/>
            </a:br>
            <a:br>
              <a:rPr lang="en-US" sz="2400" dirty="0"/>
            </a:br>
            <a:r>
              <a:rPr lang="en-US" sz="2400" dirty="0"/>
              <a:t>Below is an example of a wrong password and the outcome.</a:t>
            </a:r>
            <a:br>
              <a:rPr lang="en-US" sz="2400" dirty="0"/>
            </a:br>
            <a:endParaRPr lang="en-GB" sz="2400" dirty="0"/>
          </a:p>
        </p:txBody>
      </p:sp>
      <p:pic>
        <p:nvPicPr>
          <p:cNvPr id="5" name="Content Placeholder 4">
            <a:extLst>
              <a:ext uri="{FF2B5EF4-FFF2-40B4-BE49-F238E27FC236}">
                <a16:creationId xmlns:a16="http://schemas.microsoft.com/office/drawing/2014/main" id="{262038BC-1DF7-DF48-82C2-74E180922F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9999" y="2538150"/>
            <a:ext cx="6222639" cy="4319849"/>
          </a:xfrm>
        </p:spPr>
      </p:pic>
    </p:spTree>
    <p:extLst>
      <p:ext uri="{BB962C8B-B14F-4D97-AF65-F5344CB8AC3E}">
        <p14:creationId xmlns:p14="http://schemas.microsoft.com/office/powerpoint/2010/main" val="59390985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353F-CE19-9504-1FD9-B2943CFB821B}"/>
              </a:ext>
            </a:extLst>
          </p:cNvPr>
          <p:cNvSpPr>
            <a:spLocks noGrp="1"/>
          </p:cNvSpPr>
          <p:nvPr>
            <p:ph type="title"/>
          </p:nvPr>
        </p:nvSpPr>
        <p:spPr>
          <a:xfrm>
            <a:off x="1143000" y="619125"/>
            <a:ext cx="10515600" cy="1325563"/>
          </a:xfrm>
        </p:spPr>
        <p:txBody>
          <a:bodyPr>
            <a:normAutofit fontScale="90000"/>
          </a:bodyPr>
          <a:lstStyle/>
          <a:p>
            <a:r>
              <a:rPr lang="en-US" sz="2800" dirty="0"/>
              <a:t>Here is another example, but as the password is correct, it displayed “Access Granted!” and also the number of times it was attempted.</a:t>
            </a:r>
            <a:br>
              <a:rPr lang="en-US" sz="2800" dirty="0"/>
            </a:br>
            <a:br>
              <a:rPr lang="en-US" sz="2800" dirty="0"/>
            </a:br>
            <a:endParaRPr lang="en-GB" sz="2800" dirty="0"/>
          </a:p>
        </p:txBody>
      </p:sp>
      <p:pic>
        <p:nvPicPr>
          <p:cNvPr id="5" name="Content Placeholder 4">
            <a:extLst>
              <a:ext uri="{FF2B5EF4-FFF2-40B4-BE49-F238E27FC236}">
                <a16:creationId xmlns:a16="http://schemas.microsoft.com/office/drawing/2014/main" id="{12D81E5B-932D-A64D-33AD-AF1A7A6C8D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2926" y="1399222"/>
            <a:ext cx="7418947" cy="4351338"/>
          </a:xfrm>
        </p:spPr>
      </p:pic>
      <p:sp>
        <p:nvSpPr>
          <p:cNvPr id="6" name="Rectangle 1">
            <a:extLst>
              <a:ext uri="{FF2B5EF4-FFF2-40B4-BE49-F238E27FC236}">
                <a16:creationId xmlns:a16="http://schemas.microsoft.com/office/drawing/2014/main" id="{C26D13F5-DED7-4EDC-2E77-3EDF952DFA99}"/>
              </a:ext>
            </a:extLst>
          </p:cNvPr>
          <p:cNvSpPr>
            <a:spLocks noChangeArrowheads="1"/>
          </p:cNvSpPr>
          <p:nvPr/>
        </p:nvSpPr>
        <p:spPr bwMode="auto">
          <a:xfrm>
            <a:off x="1143000" y="5953474"/>
            <a:ext cx="1063244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Unicode MS"/>
              </a:rPr>
              <a:t>attempts += 1</a:t>
            </a:r>
            <a:r>
              <a:rPr kumimoji="0" lang="en-US" altLang="en-US" sz="1600" b="0" i="0" u="none" strike="noStrike" cap="none" normalizeH="0" baseline="0" dirty="0">
                <a:ln>
                  <a:noFill/>
                </a:ln>
                <a:solidFill>
                  <a:schemeClr val="tx1"/>
                </a:solidFill>
                <a:effectLst/>
              </a:rPr>
              <a:t>: This updates your counter every time the loop runs.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Unicode MS"/>
              </a:rPr>
              <a:t>while True</a:t>
            </a:r>
            <a:r>
              <a:rPr kumimoji="0" lang="en-US" altLang="en-US" sz="1600" b="0" i="0" u="none" strike="noStrike" cap="none" normalizeH="0" baseline="0" dirty="0">
                <a:ln>
                  <a:noFill/>
                </a:ln>
                <a:solidFill>
                  <a:schemeClr val="tx1"/>
                </a:solidFill>
                <a:effectLst/>
              </a:rPr>
              <a:t>: This creates an infinite loop that continues until the </a:t>
            </a:r>
            <a:r>
              <a:rPr kumimoji="0" lang="en-US" altLang="en-US" sz="1600" b="0" i="0" u="none" strike="noStrike" cap="none" normalizeH="0" baseline="0" dirty="0">
                <a:ln>
                  <a:noFill/>
                </a:ln>
                <a:solidFill>
                  <a:schemeClr val="tx1"/>
                </a:solidFill>
                <a:effectLst/>
                <a:latin typeface="Arial Unicode MS"/>
              </a:rPr>
              <a:t>break</a:t>
            </a:r>
            <a:r>
              <a:rPr kumimoji="0" lang="en-US" altLang="en-US" sz="1600" b="0" i="0" u="none" strike="noStrike" cap="none" normalizeH="0" baseline="0" dirty="0">
                <a:ln>
                  <a:noFill/>
                </a:ln>
                <a:solidFill>
                  <a:schemeClr val="tx1"/>
                </a:solidFill>
                <a:effectLst/>
              </a:rPr>
              <a:t> command is triggered by the correct password.</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4914230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25DFD-2C33-DFF3-49A5-3F3187D8BE4F}"/>
              </a:ext>
            </a:extLst>
          </p:cNvPr>
          <p:cNvSpPr>
            <a:spLocks noGrp="1"/>
          </p:cNvSpPr>
          <p:nvPr>
            <p:ph type="title"/>
          </p:nvPr>
        </p:nvSpPr>
        <p:spPr/>
        <p:txBody>
          <a:bodyPr>
            <a:normAutofit fontScale="90000"/>
          </a:bodyPr>
          <a:lstStyle/>
          <a:p>
            <a:r>
              <a:rPr lang="en-US" dirty="0"/>
              <a:t>This code uses </a:t>
            </a:r>
            <a:r>
              <a:rPr lang="en-US" b="1" dirty="0"/>
              <a:t>Iterative Logic</a:t>
            </a:r>
            <a:r>
              <a:rPr lang="en-US" dirty="0"/>
              <a:t> (a loop) to repeat a task until a specific condition is met.</a:t>
            </a:r>
            <a:br>
              <a:rPr lang="en-US" dirty="0"/>
            </a:br>
            <a:endParaRPr lang="en-GB" dirty="0"/>
          </a:p>
        </p:txBody>
      </p:sp>
      <p:sp>
        <p:nvSpPr>
          <p:cNvPr id="3" name="Content Placeholder 2">
            <a:extLst>
              <a:ext uri="{FF2B5EF4-FFF2-40B4-BE49-F238E27FC236}">
                <a16:creationId xmlns:a16="http://schemas.microsoft.com/office/drawing/2014/main" id="{38B77B2E-A34E-0FE9-2412-775955A1DDB4}"/>
              </a:ext>
            </a:extLst>
          </p:cNvPr>
          <p:cNvSpPr>
            <a:spLocks noGrp="1"/>
          </p:cNvSpPr>
          <p:nvPr>
            <p:ph idx="1"/>
          </p:nvPr>
        </p:nvSpPr>
        <p:spPr/>
        <p:txBody>
          <a:bodyPr>
            <a:normAutofit fontScale="70000" lnSpcReduction="20000"/>
          </a:bodyPr>
          <a:lstStyle/>
          <a:p>
            <a:pPr marL="0" indent="0">
              <a:buNone/>
            </a:pPr>
            <a:r>
              <a:rPr lang="en-US" b="1" dirty="0"/>
              <a:t>Initialization (attempts = 0):</a:t>
            </a:r>
            <a:r>
              <a:rPr lang="en-US" dirty="0"/>
              <a:t> Before the loop starts, you must set your counter to zero. If you don't do this, the computer won't know where to start counting.</a:t>
            </a:r>
          </a:p>
          <a:p>
            <a:endParaRPr lang="en-US" dirty="0"/>
          </a:p>
          <a:p>
            <a:pPr marL="0" indent="0">
              <a:buNone/>
            </a:pPr>
            <a:r>
              <a:rPr lang="en-US" b="1" dirty="0"/>
              <a:t>The Infinite Loop (while True:):</a:t>
            </a:r>
            <a:r>
              <a:rPr lang="en-US" dirty="0"/>
              <a:t> This is the engine. It tells the computer: "Keep doing the code inside here forever, until I specifically tell you to break.“</a:t>
            </a:r>
          </a:p>
          <a:p>
            <a:endParaRPr lang="en-US" dirty="0"/>
          </a:p>
          <a:p>
            <a:pPr marL="0" indent="0">
              <a:buNone/>
            </a:pPr>
            <a:r>
              <a:rPr lang="en-US" b="1" dirty="0"/>
              <a:t>User Input:</a:t>
            </a:r>
            <a:r>
              <a:rPr lang="en-US" dirty="0"/>
              <a:t> The code pauses and waits for the user to type something.</a:t>
            </a:r>
          </a:p>
          <a:p>
            <a:endParaRPr lang="en-US" dirty="0"/>
          </a:p>
          <a:p>
            <a:pPr marL="0" indent="0">
              <a:buNone/>
            </a:pPr>
            <a:r>
              <a:rPr lang="en-US" b="1" dirty="0"/>
              <a:t>The Counter (attempts += 1):</a:t>
            </a:r>
            <a:r>
              <a:rPr lang="en-US" dirty="0"/>
              <a:t> This happens </a:t>
            </a:r>
            <a:r>
              <a:rPr lang="en-US" i="1" dirty="0"/>
              <a:t>after</a:t>
            </a:r>
            <a:r>
              <a:rPr lang="en-US" dirty="0"/>
              <a:t> the user types something. It adds 1 to the previous total. This is crucial for tracking how many times the user failed.</a:t>
            </a:r>
          </a:p>
          <a:p>
            <a:endParaRPr lang="en-US" dirty="0"/>
          </a:p>
          <a:p>
            <a:pPr marL="0" indent="0">
              <a:buNone/>
            </a:pPr>
            <a:r>
              <a:rPr lang="en-US" b="1" dirty="0"/>
              <a:t>The "Gatekeeper" (if </a:t>
            </a:r>
            <a:r>
              <a:rPr lang="en-US" b="1" dirty="0" err="1"/>
              <a:t>user_input</a:t>
            </a:r>
            <a:r>
              <a:rPr lang="en-US" b="1" dirty="0"/>
              <a:t> == </a:t>
            </a:r>
            <a:r>
              <a:rPr lang="en-US" b="1" dirty="0" err="1"/>
              <a:t>correct_password</a:t>
            </a:r>
            <a:r>
              <a:rPr lang="en-US" b="1" dirty="0"/>
              <a:t>:):</a:t>
            </a:r>
            <a:endParaRPr lang="en-US" dirty="0"/>
          </a:p>
          <a:p>
            <a:pPr lvl="1"/>
            <a:r>
              <a:rPr lang="en-US" b="1" dirty="0"/>
              <a:t>If correct:</a:t>
            </a:r>
            <a:r>
              <a:rPr lang="en-US" dirty="0"/>
              <a:t> The break command is triggered, which kills the while True loop immediately.</a:t>
            </a:r>
          </a:p>
          <a:p>
            <a:pPr lvl="1"/>
            <a:r>
              <a:rPr lang="en-US" b="1" dirty="0"/>
              <a:t>If incorrect:</a:t>
            </a:r>
            <a:r>
              <a:rPr lang="en-US" dirty="0"/>
              <a:t> The code prints an error and the loop restarts from the beginning (back to the input line).</a:t>
            </a:r>
          </a:p>
          <a:p>
            <a:endParaRPr lang="en-GB" dirty="0"/>
          </a:p>
        </p:txBody>
      </p:sp>
    </p:spTree>
    <p:extLst>
      <p:ext uri="{BB962C8B-B14F-4D97-AF65-F5344CB8AC3E}">
        <p14:creationId xmlns:p14="http://schemas.microsoft.com/office/powerpoint/2010/main" val="320117716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2BD81-C515-924B-52C9-FFA9CA94A7FA}"/>
              </a:ext>
            </a:extLst>
          </p:cNvPr>
          <p:cNvSpPr>
            <a:spLocks noGrp="1"/>
          </p:cNvSpPr>
          <p:nvPr>
            <p:ph type="title"/>
          </p:nvPr>
        </p:nvSpPr>
        <p:spPr/>
        <p:txBody>
          <a:bodyPr>
            <a:normAutofit fontScale="90000"/>
          </a:bodyPr>
          <a:lstStyle/>
          <a:p>
            <a:pPr algn="ctr"/>
            <a:r>
              <a:rPr lang="en-US" sz="6000" b="1" i="1" u="sng" dirty="0">
                <a:solidFill>
                  <a:schemeClr val="accent1"/>
                </a:solidFill>
                <a:effectLst>
                  <a:outerShdw blurRad="38100" dist="38100" dir="2700000" algn="tl">
                    <a:srgbClr val="000000">
                      <a:alpha val="43137"/>
                    </a:srgbClr>
                  </a:outerShdw>
                </a:effectLst>
              </a:rPr>
              <a:t>This is the End of my Project</a:t>
            </a:r>
            <a:br>
              <a:rPr lang="en-GB" dirty="0"/>
            </a:br>
            <a:endParaRPr lang="en-GB" dirty="0"/>
          </a:p>
        </p:txBody>
      </p:sp>
      <p:sp>
        <p:nvSpPr>
          <p:cNvPr id="3" name="Content Placeholder 2">
            <a:extLst>
              <a:ext uri="{FF2B5EF4-FFF2-40B4-BE49-F238E27FC236}">
                <a16:creationId xmlns:a16="http://schemas.microsoft.com/office/drawing/2014/main" id="{C8467B06-EC6F-348E-DD33-1A316EAB1D57}"/>
              </a:ext>
            </a:extLst>
          </p:cNvPr>
          <p:cNvSpPr>
            <a:spLocks noGrp="1"/>
          </p:cNvSpPr>
          <p:nvPr>
            <p:ph idx="1"/>
          </p:nvPr>
        </p:nvSpPr>
        <p:spPr/>
        <p:txBody>
          <a:bodyPr/>
          <a:lstStyle/>
          <a:p>
            <a:pPr algn="ctr"/>
            <a:endParaRPr lang="en-US" dirty="0"/>
          </a:p>
          <a:p>
            <a:pPr algn="ctr"/>
            <a:endParaRPr lang="en-US" dirty="0"/>
          </a:p>
          <a:p>
            <a:pPr algn="ctr"/>
            <a:endParaRPr lang="en-US" dirty="0"/>
          </a:p>
          <a:p>
            <a:pPr marL="0" indent="0" algn="ctr">
              <a:buNone/>
            </a:pPr>
            <a:r>
              <a:rPr lang="en-US" sz="4800" b="1" i="1" u="sng" dirty="0">
                <a:effectLst>
                  <a:outerShdw blurRad="38100" dist="38100" dir="2700000" algn="tl">
                    <a:srgbClr val="000000">
                      <a:alpha val="43137"/>
                    </a:srgbClr>
                  </a:outerShdw>
                </a:effectLst>
              </a:rPr>
              <a:t>Name: JOEL AGBOKE</a:t>
            </a:r>
            <a:endParaRPr lang="en-GB" sz="4800" b="1" i="1" u="sng"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202090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29318</TotalTime>
  <Words>5616</Words>
  <Application>Microsoft Office PowerPoint</Application>
  <PresentationFormat>Widescreen</PresentationFormat>
  <Paragraphs>480</Paragraphs>
  <Slides>129</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129</vt:i4>
      </vt:variant>
    </vt:vector>
  </HeadingPairs>
  <TitlesOfParts>
    <vt:vector size="137" baseType="lpstr">
      <vt:lpstr>Arial</vt:lpstr>
      <vt:lpstr>Arial Unicode MS</vt:lpstr>
      <vt:lpstr>Calibri</vt:lpstr>
      <vt:lpstr>Calibri Light</vt:lpstr>
      <vt:lpstr>Google Sans</vt:lpstr>
      <vt:lpstr>Google Sans Text</vt:lpstr>
      <vt:lpstr>Wingdings</vt:lpstr>
      <vt:lpstr>Office Theme</vt:lpstr>
      <vt:lpstr>CYBER SECURITY BASICS PROJECT</vt:lpstr>
      <vt:lpstr>SECTION 1 — LINUX PRACTICAL    Task 1 — User and Directory Information</vt:lpstr>
      <vt:lpstr>1,2&amp;3</vt:lpstr>
      <vt:lpstr>Task 2 — Directory Navigation    </vt:lpstr>
      <vt:lpstr>1,2,3&amp;4</vt:lpstr>
      <vt:lpstr>Task 3 — File and Folder Creation</vt:lpstr>
      <vt:lpstr>1,2,3&amp;4</vt:lpstr>
      <vt:lpstr>Task 4 — Viewing File Content</vt:lpstr>
      <vt:lpstr>1,2&amp;3</vt:lpstr>
      <vt:lpstr>4&amp;5</vt:lpstr>
      <vt:lpstr>6 using; nano assignment.txt</vt:lpstr>
      <vt:lpstr>NB: I used; cat &lt;&lt; 'EOF' &gt; assignment.txt</vt:lpstr>
      <vt:lpstr>Why use EOF? Can it be any word? Yes! EOF is just an industry-standard convention. Linux doesn't care what the word is, as long as the starting word matches the ending word perfectly. For example, this works exactly the same way: </vt:lpstr>
      <vt:lpstr>Task 5 — Searching Inside Files</vt:lpstr>
      <vt:lpstr>1</vt:lpstr>
      <vt:lpstr>nano multiple_usernames1.txt</vt:lpstr>
      <vt:lpstr>2. Search for a specific username  To search for a specific pattern inside a file, we use grep (globally search for a regular expression and print). Now, let’s look for “bigwosh": </vt:lpstr>
      <vt:lpstr>3. Combine commands (Piping) In Linux, "combining commands" almost always means using the pipe operator (|). it grabs the output of the first command and shoves it directly into the input of the second command.  Approach A: The Classic Pipeline (View and Filter) Instead of telling grep to read the file directly, you can use cat to output the text and pipe it into grep to filter for any username containing "admin": </vt:lpstr>
      <vt:lpstr>Approach B: The Pro Pipeline (Filter and Count) If you want to look even sharper, combine grep with wc -l (word count, lines flag) to count exactly how many system admins are in that file: </vt:lpstr>
      <vt:lpstr>Task 6 — Searching for Files and Directories</vt:lpstr>
      <vt:lpstr>1,2&amp;3</vt:lpstr>
      <vt:lpstr>Task 7 — Copying and Moving Files</vt:lpstr>
      <vt:lpstr>1 cp notes.txt backup/</vt:lpstr>
      <vt:lpstr> </vt:lpstr>
      <vt:lpstr>3. Move a file into another directory We use the exact same mv command to actually relocate a file into a completely different folder.  Again, specify the file first, then the target destination:  mv backup/main_notes.txt  archive/</vt:lpstr>
      <vt:lpstr>Task 8 — Removing Files and Folders</vt:lpstr>
      <vt:lpstr>1&amp;2</vt:lpstr>
      <vt:lpstr>Task 9 — File Editing</vt:lpstr>
      <vt:lpstr>Save the file Inside nano, you use keyboard shortcuts to save (also called "Writing Out" the file). Press Ctrl + O (the letter 'O'). Press Enter on your keyboard to confirm.   Exit the editor Now that your work is safely saved, you can leave the editor and return to your normal command prompt: Press Ctrl + X. The workspace will close instantly, and you'll be right back where you started. </vt:lpstr>
      <vt:lpstr>Task 10 — File Permissions</vt:lpstr>
      <vt:lpstr>Understanding file permissions trips up a lot of people because the output looks like a random string of dashes and letters. To make this task easy, we will use the chmod (change mode) command. Before we start, keep this visual reference in mind when looking at your terminal output: </vt:lpstr>
      <vt:lpstr>1,2,3&amp;4  chmod g+w filename.txt chmod g-r filename.txt chmod g-r filename.txt  # Add execute to the user, add write to the group, and strip all rights from others chmod u+x,g+w,o-rwx filename.txt  </vt:lpstr>
      <vt:lpstr>Task 11 — Manual Pages</vt:lpstr>
      <vt:lpstr>1. Open the manual page for ls  To view the official system manual and documentation for the list command, run: man ls press “q” to quit and it goes back to the previous page </vt:lpstr>
      <vt:lpstr>What man ls Is All About </vt:lpstr>
      <vt:lpstr>2. Open the manual page for grep  To view the comprehensive documentation for the global regular expression search tool, run: man grep  press “q” to quit and go backto the previous page </vt:lpstr>
      <vt:lpstr>What man grep is about.</vt:lpstr>
      <vt:lpstr>3. Identify at least one option from each command. The ls -h Option (Human-Readable Sizes)</vt:lpstr>
      <vt:lpstr>For grep: The grep -i Option (Ignore Case-Sensitivity)</vt:lpstr>
      <vt:lpstr>PowerPoint Presentation</vt:lpstr>
      <vt:lpstr>SECTION 2 — SQL PRACTICAL ASSIGNMENT   Task 1 — Display Records</vt:lpstr>
      <vt:lpstr>PowerPoint Presentation</vt:lpstr>
      <vt:lpstr>Task 2 — Display Specific Columns</vt:lpstr>
      <vt:lpstr>just the first_name, major, and gpa from uni_students table, leaving out the IDs and genders:</vt:lpstr>
      <vt:lpstr>Task 3 — Describe a Table</vt:lpstr>
      <vt:lpstr>DESCRIBE THE STRUCTURE  PRAGMA table_info(uni_students);</vt:lpstr>
      <vt:lpstr>Task 4 — Filtering Records</vt:lpstr>
      <vt:lpstr>1. Display records greater than a value (&gt;)  This query filters out anyone with a GPA lower than or equal to 4.00, showing only your top-performing students. </vt:lpstr>
      <vt:lpstr>2. Display records equal to a value (=)  This query looks for an exact match. Let's pull up the record for the exact GPA of 3.78. </vt:lpstr>
      <vt:lpstr>3. Display records less than a value (&lt;)  This query finds all students whose GPA falls below the 4.00 threshold. </vt:lpstr>
      <vt:lpstr>Task 5</vt:lpstr>
      <vt:lpstr>AND and OR</vt:lpstr>
      <vt:lpstr>Using the AND Operator  As you can see, the gender is ‘female’ and the gpa is  &gt;  3.00. So, it displayed the result upon running it.</vt:lpstr>
      <vt:lpstr>Using the AND Operator  No result showed because one is correct and the other isn’t, by using AND operator, both must be correct. There is a gender ‘female’ but, there is no gpa &lt; 3.07</vt:lpstr>
      <vt:lpstr>Using the AND Operator  Here, there is a match and it showed the result upon running it.</vt:lpstr>
      <vt:lpstr>Using the OR Operator  Here, if one is correct and the other isn’t is would work because of the OR operator. There is a gender ‘male’ but there is no gpa that is = 5.87. So, it worked and displayed the result.</vt:lpstr>
      <vt:lpstr>Using the OR Operator  Same thing here, it showed the result of the specified major and the specified ID found in the table.</vt:lpstr>
      <vt:lpstr>Task 6</vt:lpstr>
      <vt:lpstr>Display records matching either of two conditions.</vt:lpstr>
      <vt:lpstr>Using: SELECT * FROM uni_students WHERE gender = 'female' OR gpa &gt; 4.80;</vt:lpstr>
      <vt:lpstr>Task 7</vt:lpstr>
      <vt:lpstr>Not equal to</vt:lpstr>
      <vt:lpstr>Let's display all students except those who are majoring in 'Python’: using (!=)</vt:lpstr>
      <vt:lpstr>Using &lt;&gt; It exempted the student who has the gpa of 4.85</vt:lpstr>
      <vt:lpstr>Using NOT  It displayed all except the student with the ID = 3</vt:lpstr>
      <vt:lpstr>SECTION 3 — WIRESHARK PRACTICAL  Task 1</vt:lpstr>
      <vt:lpstr>Packet capturing</vt:lpstr>
      <vt:lpstr>Task 2 Ip address filtering</vt:lpstr>
      <vt:lpstr>Task 3 — Protocol Filtering</vt:lpstr>
      <vt:lpstr>1. Filter tcp traffic</vt:lpstr>
      <vt:lpstr>2. Filtering dns</vt:lpstr>
      <vt:lpstr>3. Filtering http</vt:lpstr>
      <vt:lpstr>Task 4 — MAC Address Filtering</vt:lpstr>
      <vt:lpstr>Task 4 — MAC Address Filtering</vt:lpstr>
      <vt:lpstr> SECTION 4 — TCPDUMP PRACTICAL  Task 1 — Packet Capture   </vt:lpstr>
      <vt:lpstr>Breakdown of the flags: sudo: Required to run tcpdump, as packet sniffing requires administrative privileges. -i &lt;interface_name&gt;: Specifies the network interface to listen on. -c 10: Limits the capture to 10 packets (so your terminal doesn't overflow). -n: Prevents the tool from trying to resolve IP addresses to domain names (which makes the capture faster and clearer). sudo tcpdump -i eth0 -c 10 -n</vt:lpstr>
      <vt:lpstr>Task 2 — Interface Capture</vt:lpstr>
      <vt:lpstr>The reason task 1 and task 2 feel like the same task is because, in a real-world scenario, you rarely capture packets without specifying an interface, so they are often taught back-to-back.  I decided not to capture only 10, and that is why I removed the from the code. Instead of  sudo tcpdump -i eth0 -c 10 –n , I used sudo tcpdump -i eth0 –n .  If I wnat toi save it ], I would use: sudo tcpdump -i eth0 -w lab_capture.pcap</vt:lpstr>
      <vt:lpstr>Task 3 — IP Address Filtering </vt:lpstr>
      <vt:lpstr>Capturing traffic from a specific IP address, and  saving the captured file. </vt:lpstr>
      <vt:lpstr>opening it using wireshark</vt:lpstr>
      <vt:lpstr>SECTION 5 — PYTHON PRACTICAL</vt:lpstr>
      <vt:lpstr>Creating variables</vt:lpstr>
      <vt:lpstr>Task 2 — Lists and Tuples</vt:lpstr>
      <vt:lpstr>1,2&amp;3</vt:lpstr>
      <vt:lpstr>Task 3 — Dictionary</vt:lpstr>
      <vt:lpstr>Creating a dictionary</vt:lpstr>
      <vt:lpstr>Accessing them individually</vt:lpstr>
      <vt:lpstr>PART B — CONDITIONAL STATEMENTS  Task 4 — If Statement</vt:lpstr>
      <vt:lpstr>Conditional statements are the "decision-makers" of your code. An if statement acts like a gatekeeper: it checks a condition, and if that condition is true, it lets the code inside the block run. If it’s false, it simply skips it. Here is the code to check if a number is positive: </vt:lpstr>
      <vt:lpstr>Task 5 — If, Elif and Else</vt:lpstr>
      <vt:lpstr> if-elif-else  if: The first check. elif: Short for "else if." It checks a new condition only if the previous conditions were False. else: The "catch-all." It runs if none of the previous conditions were met. </vt:lpstr>
      <vt:lpstr>PART C — LOOPS  Task 6 — For Loop and Range</vt:lpstr>
      <vt:lpstr>A ‘for’ loop allows you to repeat a block of code multiple times without writing the same line over and over. In Python, the for loop is almost always paired with the range() function. This is where most students get tripped up, so pay close attention to the "stop" value! </vt:lpstr>
      <vt:lpstr>Understanding the "Range" Mystery </vt:lpstr>
      <vt:lpstr>Task 7 — While Loop</vt:lpstr>
      <vt:lpstr>To ensure your while loop works perfectly every time, always check for these three specific parts: Initialization (count = 1): You must define your starting point before the loop begins. The Condition (count &lt;= 5): This acts as the gatekeeper. The loop checks this every time it loops back to the top. If the condition evaluates to False, the loop stops immediately. The Increment (count += 1): You must provide a way for the condition to eventually become False. By adding 1 to count each time, we eventually hit 6, which makes the condition count &lt;= 5 False—and that is what cleanly breaks the loop. </vt:lpstr>
      <vt:lpstr>Task 8 — Break Statement</vt:lpstr>
      <vt:lpstr>The break statement is your "emergency exit" button for loops. When Python hits a break command, it immediately stops the loop, throws away any remaining iterations, and moves on to the next section of your code. Think of it as a circuit breaker—the moment a specific condition is met, the power is cut to the loop completely. </vt:lpstr>
      <vt:lpstr>Task 9 — Infinite Loop</vt:lpstr>
      <vt:lpstr>An infinite loop occurs when the condition in a while statement never becomes false. It is the coding equivalent of a hamster on a wheel—it will keep running and running until the computer runs out of memory or you manually force it to stop.  To stop an infinite loop: Press Ctrl + C on your keyboard. This sends a KeyboardInterrupt signal to Python, forcing it to kill the process immediately.</vt:lpstr>
      <vt:lpstr> PART D — FUNCTIONS  Task 10 — Functions </vt:lpstr>
      <vt:lpstr>Functions are the building blocks of professional programming. Instead of writing the same code over and over again, you wrap that code inside a "container" called a function. Whenever you need that code to run, you just call the function by its name.</vt:lpstr>
      <vt:lpstr>Task 11 — Arguments and Return Statement</vt:lpstr>
      <vt:lpstr> Using a return statement makes your function useful because it allows the function to "hand back" a value that you can use later in your code.  The Big Difference: print vs. return  print() is just for humans. It puts text on the screen so you (the user) can see what's happening. The program itself cannot "capture" the data printed to the screen. return is for the computer. It takes the output of the function and makes it available to be used in calculations, stored in variables, or passed into other functions.  </vt:lpstr>
      <vt:lpstr>PART E — REGULAR EXPRESSIONS   Task 12 — Regular Expression Search</vt:lpstr>
      <vt:lpstr>To search for a word, we use re.search(). This function scans through the string and returns a match object if the pattern is found, or None if it isn't.</vt:lpstr>
      <vt:lpstr>Why it equals 82: </vt:lpstr>
      <vt:lpstr>Task 14 — Character Type Symbols</vt:lpstr>
      <vt:lpstr>To find all occurrences of a pattern, we move from re.search() to re.findall(). This function scans the entire string and returns a list containing every match it finds. To perform these tasks, we need to introduce Regex Metacharacters—special symbols that represent types of characters rather than literal text. </vt:lpstr>
      <vt:lpstr>Breaking Down the Symbols </vt:lpstr>
      <vt:lpstr>NB:</vt:lpstr>
      <vt:lpstr>BONUS CHALLENGE QUESTION 1: </vt:lpstr>
      <vt:lpstr>Screenshot of Netcat listener &amp; Screenshot of Telnet connection</vt:lpstr>
      <vt:lpstr>Screenshot of Wireshark Follow TCP Stream</vt:lpstr>
      <vt:lpstr>One page explanation</vt:lpstr>
      <vt:lpstr>2. What makes Telnet insecure? </vt:lpstr>
      <vt:lpstr>3. Which protocol should be used instead? </vt:lpstr>
      <vt:lpstr>4. How does encryption protect transmitted data? </vt:lpstr>
      <vt:lpstr>QUESTION 2A:</vt:lpstr>
      <vt:lpstr>This function uses simple conditional logic to evaluate the number and return the appropriate classification.  This one below is where I tried the number -1 and it showed that it is negative because it is less than 0.</vt:lpstr>
      <vt:lpstr>This one below is where I tried the number 2, and it showed that it is positive because it is greater than 0.</vt:lpstr>
      <vt:lpstr>This one below is where I tried the number 0 and it showed that it is Zero because the number is to 0 itself.</vt:lpstr>
      <vt:lpstr>This code uses Conditional Logic (the if-elif-else structure) to make a decision. </vt:lpstr>
      <vt:lpstr>QUESTION 2B:</vt:lpstr>
      <vt:lpstr> Part B: Password Checker  This script uses a while loop to repeatedly prompt the user for input. The attempts counter increments each time the user fails to provide the correct password, ensuring they are tracked accurately.  Below is an example of a wrong password and the outcome. </vt:lpstr>
      <vt:lpstr>Here is another example, but as the password is correct, it displayed “Access Granted!” and also the number of times it was attempted.  </vt:lpstr>
      <vt:lpstr>This code uses Iterative Logic (a loop) to repeat a task until a specific condition is met. </vt:lpstr>
      <vt:lpstr>This is the End of my Project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98</cp:revision>
  <dcterms:created xsi:type="dcterms:W3CDTF">2026-07-03T02:54:34Z</dcterms:created>
  <dcterms:modified xsi:type="dcterms:W3CDTF">2026-08-20T05:00:24Z</dcterms:modified>
</cp:coreProperties>
</file>